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76" r:id="rId1"/>
  </p:sldMasterIdLst>
  <p:notesMasterIdLst>
    <p:notesMasterId r:id="rId18"/>
  </p:notesMasterIdLst>
  <p:handoutMasterIdLst>
    <p:handoutMasterId r:id="rId19"/>
  </p:handoutMasterIdLst>
  <p:sldIdLst>
    <p:sldId id="256" r:id="rId2"/>
    <p:sldId id="6923" r:id="rId3"/>
    <p:sldId id="259" r:id="rId4"/>
    <p:sldId id="6924" r:id="rId5"/>
    <p:sldId id="6930" r:id="rId6"/>
    <p:sldId id="6925" r:id="rId7"/>
    <p:sldId id="6926" r:id="rId8"/>
    <p:sldId id="6927" r:id="rId9"/>
    <p:sldId id="6928" r:id="rId10"/>
    <p:sldId id="6929" r:id="rId11"/>
    <p:sldId id="6931" r:id="rId12"/>
    <p:sldId id="6932" r:id="rId13"/>
    <p:sldId id="6933" r:id="rId14"/>
    <p:sldId id="6934" r:id="rId15"/>
    <p:sldId id="6935" r:id="rId16"/>
    <p:sldId id="6936" r:id="rId17"/>
  </p:sldIdLst>
  <p:sldSz cx="9144000" cy="5143500" type="screen16x9"/>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2880">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C1D30"/>
    <a:srgbClr val="E0E0E2"/>
    <a:srgbClr val="FBD1D5"/>
    <a:srgbClr val="687379"/>
    <a:srgbClr val="F7E9E9"/>
    <a:srgbClr val="FFFFFF"/>
    <a:srgbClr val="B4C6E7"/>
    <a:srgbClr val="D9E1F2"/>
    <a:srgbClr val="5CB8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60" autoAdjust="0"/>
    <p:restoredTop sz="95811" autoAdjust="0"/>
  </p:normalViewPr>
  <p:slideViewPr>
    <p:cSldViewPr snapToGrid="0">
      <p:cViewPr varScale="1">
        <p:scale>
          <a:sx n="139" d="100"/>
          <a:sy n="139" d="100"/>
        </p:scale>
        <p:origin x="1074" y="120"/>
      </p:cViewPr>
      <p:guideLst>
        <p:guide orient="horz" pos="708"/>
        <p:guide pos="288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2480" y="168"/>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7850C4-CE0D-4E61-9EB2-725700627631}" type="doc">
      <dgm:prSet loTypeId="urn:microsoft.com/office/officeart/2005/8/layout/list1" loCatId="list" qsTypeId="urn:microsoft.com/office/officeart/2005/8/quickstyle/simple3" qsCatId="simple" csTypeId="urn:microsoft.com/office/officeart/2005/8/colors/accent2_1" csCatId="accent2" phldr="1"/>
      <dgm:spPr/>
      <dgm:t>
        <a:bodyPr/>
        <a:lstStyle/>
        <a:p>
          <a:endParaRPr lang="en-US"/>
        </a:p>
      </dgm:t>
    </dgm:pt>
    <dgm:pt modelId="{FAD19B51-51D7-421F-9085-0D5E59ECF4A4}">
      <dgm:prSet phldrT="[Text]" custT="1"/>
      <dgm:spPr>
        <a:xfrm>
          <a:off x="420156" y="0"/>
          <a:ext cx="5947860" cy="6494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US" sz="1200" b="1" dirty="0">
              <a:solidFill>
                <a:sysClr val="windowText" lastClr="000000">
                  <a:hueOff val="0"/>
                  <a:satOff val="0"/>
                  <a:lumOff val="0"/>
                  <a:alphaOff val="0"/>
                </a:sysClr>
              </a:solidFill>
              <a:latin typeface="Calibri"/>
              <a:ea typeface="+mn-ea"/>
              <a:cs typeface="+mn-cs"/>
            </a:rPr>
            <a:t>Preferential treatment</a:t>
          </a:r>
          <a:endParaRPr lang="en-US" sz="1200" dirty="0">
            <a:solidFill>
              <a:sysClr val="windowText" lastClr="000000">
                <a:hueOff val="0"/>
                <a:satOff val="0"/>
                <a:lumOff val="0"/>
                <a:alphaOff val="0"/>
              </a:sysClr>
            </a:solidFill>
            <a:latin typeface="Calibri"/>
            <a:ea typeface="+mn-ea"/>
            <a:cs typeface="+mn-cs"/>
          </a:endParaRPr>
        </a:p>
      </dgm:t>
    </dgm:pt>
    <dgm:pt modelId="{0079D44C-69A1-4CD9-AFC2-4028D29FBEF3}" type="parTrans" cxnId="{0DB6BAEF-864E-4811-AC55-C50246A917AE}">
      <dgm:prSet/>
      <dgm:spPr/>
      <dgm:t>
        <a:bodyPr/>
        <a:lstStyle/>
        <a:p>
          <a:endParaRPr lang="en-US" sz="1600"/>
        </a:p>
      </dgm:t>
    </dgm:pt>
    <dgm:pt modelId="{F242BCFD-794E-4043-B807-A0D3BFF15EEF}" type="sibTrans" cxnId="{0DB6BAEF-864E-4811-AC55-C50246A917AE}">
      <dgm:prSet/>
      <dgm:spPr/>
      <dgm:t>
        <a:bodyPr/>
        <a:lstStyle/>
        <a:p>
          <a:endParaRPr lang="en-US" sz="1600"/>
        </a:p>
      </dgm:t>
    </dgm:pt>
    <dgm:pt modelId="{2C301865-A1E6-436F-997E-3311323B4481}">
      <dgm:prSet phldrT="[Text]" custT="1"/>
      <dgm:spPr>
        <a:xfrm>
          <a:off x="0" y="270996"/>
          <a:ext cx="8496944" cy="11781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Font typeface="Arial" panose="020B0604020202020204" pitchFamily="34" charset="0"/>
            <a:buChar char="•"/>
          </a:pPr>
          <a:r>
            <a:rPr lang="en-US" sz="1200" dirty="0">
              <a:solidFill>
                <a:sysClr val="windowText" lastClr="000000">
                  <a:hueOff val="0"/>
                  <a:satOff val="0"/>
                  <a:lumOff val="0"/>
                  <a:alphaOff val="0"/>
                </a:sysClr>
              </a:solidFill>
              <a:latin typeface="Calibri"/>
              <a:ea typeface="+mn-ea"/>
              <a:cs typeface="+mn-cs"/>
            </a:rPr>
            <a:t>An employee in the Claims team approves a claim which should have been rejected due to pre-existing conditions. The approval was however granted because the claim was from a close friend. </a:t>
          </a:r>
        </a:p>
      </dgm:t>
    </dgm:pt>
    <dgm:pt modelId="{DEC87E8E-4849-4E48-AC10-5721CABBFA39}" type="parTrans" cxnId="{535AE951-87C6-4E6E-B374-65336E2AA33D}">
      <dgm:prSet/>
      <dgm:spPr/>
      <dgm:t>
        <a:bodyPr/>
        <a:lstStyle/>
        <a:p>
          <a:endParaRPr lang="en-US" sz="1600"/>
        </a:p>
      </dgm:t>
    </dgm:pt>
    <dgm:pt modelId="{0A2B9606-5E58-41E3-9012-15F78F034553}" type="sibTrans" cxnId="{535AE951-87C6-4E6E-B374-65336E2AA33D}">
      <dgm:prSet/>
      <dgm:spPr/>
      <dgm:t>
        <a:bodyPr/>
        <a:lstStyle/>
        <a:p>
          <a:endParaRPr lang="en-US" sz="1600"/>
        </a:p>
      </dgm:t>
    </dgm:pt>
    <dgm:pt modelId="{BD538389-AD0C-41EF-BB7A-88B613C121FC}">
      <dgm:prSet phldrT="[Text]" custT="1"/>
      <dgm:spPr>
        <a:xfrm>
          <a:off x="420156" y="1567898"/>
          <a:ext cx="5947860" cy="6494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US" sz="1200" b="1" dirty="0">
              <a:solidFill>
                <a:sysClr val="windowText" lastClr="000000">
                  <a:hueOff val="0"/>
                  <a:satOff val="0"/>
                  <a:lumOff val="0"/>
                  <a:alphaOff val="0"/>
                </a:sysClr>
              </a:solidFill>
              <a:latin typeface="Calibri"/>
              <a:ea typeface="+mn-ea"/>
              <a:cs typeface="+mn-cs"/>
            </a:rPr>
            <a:t>Performance management</a:t>
          </a:r>
        </a:p>
      </dgm:t>
    </dgm:pt>
    <dgm:pt modelId="{34282E50-4504-455C-A63E-A9B3539497F7}" type="parTrans" cxnId="{3C0710D9-0BB4-4C0E-9BA7-841B30EEA5D4}">
      <dgm:prSet/>
      <dgm:spPr/>
      <dgm:t>
        <a:bodyPr/>
        <a:lstStyle/>
        <a:p>
          <a:endParaRPr lang="en-US" sz="1600"/>
        </a:p>
      </dgm:t>
    </dgm:pt>
    <dgm:pt modelId="{8F8BFDC1-9B39-49C9-8BAA-A5FE5F177E31}" type="sibTrans" cxnId="{3C0710D9-0BB4-4C0E-9BA7-841B30EEA5D4}">
      <dgm:prSet/>
      <dgm:spPr/>
      <dgm:t>
        <a:bodyPr/>
        <a:lstStyle/>
        <a:p>
          <a:endParaRPr lang="en-US" sz="1600"/>
        </a:p>
      </dgm:t>
    </dgm:pt>
    <dgm:pt modelId="{8B7B208B-DCF4-4EB8-88AC-0E358198A6CD}">
      <dgm:prSet phldrT="[Text]" custT="1"/>
      <dgm:spPr>
        <a:xfrm>
          <a:off x="0" y="1892616"/>
          <a:ext cx="8496944" cy="19750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Char char="•"/>
          </a:pPr>
          <a:r>
            <a:rPr lang="en-US" sz="1200" dirty="0">
              <a:solidFill>
                <a:sysClr val="windowText" lastClr="000000">
                  <a:hueOff val="0"/>
                  <a:satOff val="0"/>
                  <a:lumOff val="0"/>
                  <a:alphaOff val="0"/>
                </a:sysClr>
              </a:solidFill>
              <a:latin typeface="Calibri"/>
              <a:ea typeface="+mn-ea"/>
              <a:cs typeface="+mn-cs"/>
            </a:rPr>
            <a:t>An employee supervises another employee whilst they are in a very close personal relationship (e.g. consensual romantic relationship). In this situation, there is a (perceived) conflict that the performance assessment of the supervised employee may be inappropriately influenced by this personal relationship.</a:t>
          </a:r>
        </a:p>
      </dgm:t>
    </dgm:pt>
    <dgm:pt modelId="{17B945A6-9E93-4537-A1E4-A1CAACBB9802}" type="parTrans" cxnId="{5B757FDD-F5B3-4FFD-9D46-2C8564F21388}">
      <dgm:prSet/>
      <dgm:spPr/>
      <dgm:t>
        <a:bodyPr/>
        <a:lstStyle/>
        <a:p>
          <a:endParaRPr lang="en-US" sz="1600"/>
        </a:p>
      </dgm:t>
    </dgm:pt>
    <dgm:pt modelId="{CF2BC781-DCEE-4070-8EA5-B105ABB3EE0D}" type="sibTrans" cxnId="{5B757FDD-F5B3-4FFD-9D46-2C8564F21388}">
      <dgm:prSet/>
      <dgm:spPr/>
      <dgm:t>
        <a:bodyPr/>
        <a:lstStyle/>
        <a:p>
          <a:endParaRPr lang="en-US" sz="1600"/>
        </a:p>
      </dgm:t>
    </dgm:pt>
    <dgm:pt modelId="{45D3E3AC-FA15-488A-86CF-F8E0C39A2059}">
      <dgm:prSet phldrT="[Text]" custT="1"/>
      <dgm:spPr>
        <a:xfrm>
          <a:off x="420156" y="3986468"/>
          <a:ext cx="5947860" cy="6494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US" sz="1200" b="1" dirty="0">
              <a:solidFill>
                <a:sysClr val="windowText" lastClr="000000">
                  <a:hueOff val="0"/>
                  <a:satOff val="0"/>
                  <a:lumOff val="0"/>
                  <a:alphaOff val="0"/>
                </a:sysClr>
              </a:solidFill>
              <a:latin typeface="Calibri"/>
              <a:ea typeface="+mn-ea"/>
              <a:cs typeface="+mn-cs"/>
            </a:rPr>
            <a:t>Recruitment</a:t>
          </a:r>
        </a:p>
      </dgm:t>
    </dgm:pt>
    <dgm:pt modelId="{5F8D60BF-8799-446B-871C-F2A06A81A818}" type="parTrans" cxnId="{9D2D0996-8B91-49F9-8224-91A09CA22440}">
      <dgm:prSet/>
      <dgm:spPr/>
      <dgm:t>
        <a:bodyPr/>
        <a:lstStyle/>
        <a:p>
          <a:endParaRPr lang="en-US" sz="1600"/>
        </a:p>
      </dgm:t>
    </dgm:pt>
    <dgm:pt modelId="{0D5F06E3-5C93-4A1D-8284-C9DDC55AC2CB}" type="sibTrans" cxnId="{9D2D0996-8B91-49F9-8224-91A09CA22440}">
      <dgm:prSet/>
      <dgm:spPr/>
      <dgm:t>
        <a:bodyPr/>
        <a:lstStyle/>
        <a:p>
          <a:endParaRPr lang="en-US" sz="1600"/>
        </a:p>
      </dgm:t>
    </dgm:pt>
    <dgm:pt modelId="{D1F6E29E-B2BB-4D5B-AAC7-93EA8A9016E6}">
      <dgm:prSet phldrT="[Text]" custT="1"/>
      <dgm:spPr>
        <a:xfrm>
          <a:off x="0" y="4370313"/>
          <a:ext cx="8496944" cy="952875"/>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Font typeface="Arial" panose="020B0604020202020204" pitchFamily="34" charset="0"/>
            <a:buChar char="•"/>
          </a:pPr>
          <a:r>
            <a:rPr lang="en-US" sz="1200" dirty="0">
              <a:solidFill>
                <a:sysClr val="windowText" lastClr="000000">
                  <a:hueOff val="0"/>
                  <a:satOff val="0"/>
                  <a:lumOff val="0"/>
                  <a:alphaOff val="0"/>
                </a:sysClr>
              </a:solidFill>
              <a:latin typeface="Calibri"/>
              <a:ea typeface="+mn-ea"/>
              <a:cs typeface="+mn-cs"/>
            </a:rPr>
            <a:t>A hiring manager is interviewing a candidate who is a relative or close friend. This personal relationship could be seen as having an inappropriate influence on the hiring decision. </a:t>
          </a:r>
        </a:p>
      </dgm:t>
    </dgm:pt>
    <dgm:pt modelId="{D6CCA31B-BE41-4FA2-B711-BF0314D12075}" type="parTrans" cxnId="{C506186C-7A0F-46D2-9A39-C75BC76E09E5}">
      <dgm:prSet/>
      <dgm:spPr/>
      <dgm:t>
        <a:bodyPr/>
        <a:lstStyle/>
        <a:p>
          <a:endParaRPr lang="en-US" sz="1600"/>
        </a:p>
      </dgm:t>
    </dgm:pt>
    <dgm:pt modelId="{7DD13244-380C-499F-843E-2FC892A5F5D5}" type="sibTrans" cxnId="{C506186C-7A0F-46D2-9A39-C75BC76E09E5}">
      <dgm:prSet/>
      <dgm:spPr/>
      <dgm:t>
        <a:bodyPr/>
        <a:lstStyle/>
        <a:p>
          <a:endParaRPr lang="en-US" sz="1600"/>
        </a:p>
      </dgm:t>
    </dgm:pt>
    <dgm:pt modelId="{7A88465C-4B83-41AE-90DB-CB2D475D3320}">
      <dgm:prSet phldrT="[Text]" custT="1"/>
      <dgm:spPr>
        <a:xfrm>
          <a:off x="0" y="1892616"/>
          <a:ext cx="8496944" cy="19750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Char char="•"/>
          </a:pPr>
          <a:r>
            <a:rPr lang="en-US" sz="1200" dirty="0">
              <a:solidFill>
                <a:sysClr val="windowText" lastClr="000000">
                  <a:hueOff val="0"/>
                  <a:satOff val="0"/>
                  <a:lumOff val="0"/>
                  <a:alphaOff val="0"/>
                </a:sysClr>
              </a:solidFill>
              <a:latin typeface="Calibri"/>
              <a:ea typeface="+mn-ea"/>
              <a:cs typeface="+mn-cs"/>
            </a:rPr>
            <a:t>A line manager takes a loan from the subordinate. Such a personal financial relationship may (be seen to) inappropriately influence the way the line manager manages this subordinate's performance.</a:t>
          </a:r>
        </a:p>
      </dgm:t>
    </dgm:pt>
    <dgm:pt modelId="{73CACAE2-B3CC-40CD-A661-F6BFDD0FC73B}" type="parTrans" cxnId="{42EDD64D-F501-4C3D-BC24-F6521D914E7C}">
      <dgm:prSet/>
      <dgm:spPr/>
      <dgm:t>
        <a:bodyPr/>
        <a:lstStyle/>
        <a:p>
          <a:endParaRPr lang="en-US" sz="1600"/>
        </a:p>
      </dgm:t>
    </dgm:pt>
    <dgm:pt modelId="{3D03E2FA-D85E-42CE-84B9-8B4834307C44}" type="sibTrans" cxnId="{42EDD64D-F501-4C3D-BC24-F6521D914E7C}">
      <dgm:prSet/>
      <dgm:spPr/>
      <dgm:t>
        <a:bodyPr/>
        <a:lstStyle/>
        <a:p>
          <a:endParaRPr lang="en-US" sz="1600"/>
        </a:p>
      </dgm:t>
    </dgm:pt>
    <dgm:pt modelId="{BD56E07D-B603-494F-89E1-59F0408E366B}" type="pres">
      <dgm:prSet presAssocID="{327850C4-CE0D-4E61-9EB2-725700627631}" presName="linear" presStyleCnt="0">
        <dgm:presLayoutVars>
          <dgm:dir/>
          <dgm:animLvl val="lvl"/>
          <dgm:resizeHandles val="exact"/>
        </dgm:presLayoutVars>
      </dgm:prSet>
      <dgm:spPr/>
    </dgm:pt>
    <dgm:pt modelId="{0044D17F-30B9-4853-8EA1-BEBCE164E3F2}" type="pres">
      <dgm:prSet presAssocID="{FAD19B51-51D7-421F-9085-0D5E59ECF4A4}" presName="parentLin" presStyleCnt="0"/>
      <dgm:spPr/>
    </dgm:pt>
    <dgm:pt modelId="{3393A9F2-90FF-4C5E-8F62-F4D6275BF88D}" type="pres">
      <dgm:prSet presAssocID="{FAD19B51-51D7-421F-9085-0D5E59ECF4A4}" presName="parentLeftMargin" presStyleLbl="node1" presStyleIdx="0" presStyleCnt="3"/>
      <dgm:spPr/>
    </dgm:pt>
    <dgm:pt modelId="{ABAB1ACD-F843-482F-A426-180FAE5FA1AF}" type="pres">
      <dgm:prSet presAssocID="{FAD19B51-51D7-421F-9085-0D5E59ECF4A4}" presName="parentText" presStyleLbl="node1" presStyleIdx="0" presStyleCnt="3" custLinFactNeighborX="-1104" custLinFactNeighborY="-9104">
        <dgm:presLayoutVars>
          <dgm:chMax val="0"/>
          <dgm:bulletEnabled val="1"/>
        </dgm:presLayoutVars>
      </dgm:prSet>
      <dgm:spPr/>
    </dgm:pt>
    <dgm:pt modelId="{F7BCF196-D098-440C-8CCF-B61E8DBDE8CD}" type="pres">
      <dgm:prSet presAssocID="{FAD19B51-51D7-421F-9085-0D5E59ECF4A4}" presName="negativeSpace" presStyleCnt="0"/>
      <dgm:spPr/>
    </dgm:pt>
    <dgm:pt modelId="{6EB90902-00BC-4A1F-9609-B4759D7E0380}" type="pres">
      <dgm:prSet presAssocID="{FAD19B51-51D7-421F-9085-0D5E59ECF4A4}" presName="childText" presStyleLbl="conFgAcc1" presStyleIdx="0" presStyleCnt="3" custLinFactNeighborX="-55" custLinFactNeighborY="-49770">
        <dgm:presLayoutVars>
          <dgm:bulletEnabled val="1"/>
        </dgm:presLayoutVars>
      </dgm:prSet>
      <dgm:spPr/>
    </dgm:pt>
    <dgm:pt modelId="{F25670EE-E283-475A-BF6C-F69ADFB6E776}" type="pres">
      <dgm:prSet presAssocID="{F242BCFD-794E-4043-B807-A0D3BFF15EEF}" presName="spaceBetweenRectangles" presStyleCnt="0"/>
      <dgm:spPr/>
    </dgm:pt>
    <dgm:pt modelId="{E8164FD2-F639-4466-875C-D191854E4433}" type="pres">
      <dgm:prSet presAssocID="{BD538389-AD0C-41EF-BB7A-88B613C121FC}" presName="parentLin" presStyleCnt="0"/>
      <dgm:spPr/>
    </dgm:pt>
    <dgm:pt modelId="{A5913018-9484-4A2C-B800-F197AB0C9868}" type="pres">
      <dgm:prSet presAssocID="{BD538389-AD0C-41EF-BB7A-88B613C121FC}" presName="parentLeftMargin" presStyleLbl="node1" presStyleIdx="0" presStyleCnt="3"/>
      <dgm:spPr/>
    </dgm:pt>
    <dgm:pt modelId="{136792E3-9622-45D6-91D5-EA47553DB967}" type="pres">
      <dgm:prSet presAssocID="{BD538389-AD0C-41EF-BB7A-88B613C121FC}" presName="parentText" presStyleLbl="node1" presStyleIdx="1" presStyleCnt="3" custLinFactNeighborX="-1104" custLinFactNeighborY="-9104">
        <dgm:presLayoutVars>
          <dgm:chMax val="0"/>
          <dgm:bulletEnabled val="1"/>
        </dgm:presLayoutVars>
      </dgm:prSet>
      <dgm:spPr/>
    </dgm:pt>
    <dgm:pt modelId="{F7A95C0C-8AF5-43F7-9416-AB12CF987810}" type="pres">
      <dgm:prSet presAssocID="{BD538389-AD0C-41EF-BB7A-88B613C121FC}" presName="negativeSpace" presStyleCnt="0"/>
      <dgm:spPr/>
    </dgm:pt>
    <dgm:pt modelId="{929A6837-0D15-4DC3-9D59-1F578EC236F3}" type="pres">
      <dgm:prSet presAssocID="{BD538389-AD0C-41EF-BB7A-88B613C121FC}" presName="childText" presStyleLbl="conFgAcc1" presStyleIdx="1" presStyleCnt="3" custLinFactNeighborX="-55" custLinFactNeighborY="-49770">
        <dgm:presLayoutVars>
          <dgm:bulletEnabled val="1"/>
        </dgm:presLayoutVars>
      </dgm:prSet>
      <dgm:spPr/>
    </dgm:pt>
    <dgm:pt modelId="{4CEA103E-8888-4128-B461-DDA558FD2141}" type="pres">
      <dgm:prSet presAssocID="{8F8BFDC1-9B39-49C9-8BAA-A5FE5F177E31}" presName="spaceBetweenRectangles" presStyleCnt="0"/>
      <dgm:spPr/>
    </dgm:pt>
    <dgm:pt modelId="{A10F8831-7556-41C3-A9A1-E75363E6A19E}" type="pres">
      <dgm:prSet presAssocID="{45D3E3AC-FA15-488A-86CF-F8E0C39A2059}" presName="parentLin" presStyleCnt="0"/>
      <dgm:spPr/>
    </dgm:pt>
    <dgm:pt modelId="{D8F4D0B7-02B9-440F-936F-6189910C2C90}" type="pres">
      <dgm:prSet presAssocID="{45D3E3AC-FA15-488A-86CF-F8E0C39A2059}" presName="parentLeftMargin" presStyleLbl="node1" presStyleIdx="1" presStyleCnt="3"/>
      <dgm:spPr/>
    </dgm:pt>
    <dgm:pt modelId="{C7D9CE52-8C09-4DAB-B52C-D09A307DBDDF}" type="pres">
      <dgm:prSet presAssocID="{45D3E3AC-FA15-488A-86CF-F8E0C39A2059}" presName="parentText" presStyleLbl="node1" presStyleIdx="2" presStyleCnt="3" custLinFactNeighborX="-1104" custLinFactNeighborY="-9104">
        <dgm:presLayoutVars>
          <dgm:chMax val="0"/>
          <dgm:bulletEnabled val="1"/>
        </dgm:presLayoutVars>
      </dgm:prSet>
      <dgm:spPr/>
    </dgm:pt>
    <dgm:pt modelId="{62C8D500-6E5D-4D1F-85CD-8D4629BB9D94}" type="pres">
      <dgm:prSet presAssocID="{45D3E3AC-FA15-488A-86CF-F8E0C39A2059}" presName="negativeSpace" presStyleCnt="0"/>
      <dgm:spPr/>
    </dgm:pt>
    <dgm:pt modelId="{42A077AB-66D6-449A-8B9F-8E9D1BD92018}" type="pres">
      <dgm:prSet presAssocID="{45D3E3AC-FA15-488A-86CF-F8E0C39A2059}" presName="childText" presStyleLbl="conFgAcc1" presStyleIdx="2" presStyleCnt="3">
        <dgm:presLayoutVars>
          <dgm:bulletEnabled val="1"/>
        </dgm:presLayoutVars>
      </dgm:prSet>
      <dgm:spPr/>
    </dgm:pt>
  </dgm:ptLst>
  <dgm:cxnLst>
    <dgm:cxn modelId="{B2DBDA06-A552-4EFC-949B-0496C49B6C49}" type="presOf" srcId="{8B7B208B-DCF4-4EB8-88AC-0E358198A6CD}" destId="{929A6837-0D15-4DC3-9D59-1F578EC236F3}" srcOrd="0" destOrd="0" presId="urn:microsoft.com/office/officeart/2005/8/layout/list1"/>
    <dgm:cxn modelId="{F588BB38-E2F9-4F9B-BF96-FE0F75102419}" type="presOf" srcId="{FAD19B51-51D7-421F-9085-0D5E59ECF4A4}" destId="{3393A9F2-90FF-4C5E-8F62-F4D6275BF88D}" srcOrd="0" destOrd="0" presId="urn:microsoft.com/office/officeart/2005/8/layout/list1"/>
    <dgm:cxn modelId="{B5D9413C-934F-445F-BEB4-96C739467BF9}" type="presOf" srcId="{45D3E3AC-FA15-488A-86CF-F8E0C39A2059}" destId="{D8F4D0B7-02B9-440F-936F-6189910C2C90}" srcOrd="0" destOrd="0" presId="urn:microsoft.com/office/officeart/2005/8/layout/list1"/>
    <dgm:cxn modelId="{F5E7F75F-D4CE-4FDB-9C4B-F04D558510F6}" type="presOf" srcId="{BD538389-AD0C-41EF-BB7A-88B613C121FC}" destId="{136792E3-9622-45D6-91D5-EA47553DB967}" srcOrd="1" destOrd="0" presId="urn:microsoft.com/office/officeart/2005/8/layout/list1"/>
    <dgm:cxn modelId="{F0F60044-E1E2-4187-950D-E772A1C76DB1}" type="presOf" srcId="{327850C4-CE0D-4E61-9EB2-725700627631}" destId="{BD56E07D-B603-494F-89E1-59F0408E366B}" srcOrd="0" destOrd="0" presId="urn:microsoft.com/office/officeart/2005/8/layout/list1"/>
    <dgm:cxn modelId="{B90BCD46-E093-4870-8A54-1C53E14BB95E}" type="presOf" srcId="{7A88465C-4B83-41AE-90DB-CB2D475D3320}" destId="{929A6837-0D15-4DC3-9D59-1F578EC236F3}" srcOrd="0" destOrd="1" presId="urn:microsoft.com/office/officeart/2005/8/layout/list1"/>
    <dgm:cxn modelId="{183BF848-12D2-4084-8E0D-BC47DDDD1898}" type="presOf" srcId="{45D3E3AC-FA15-488A-86CF-F8E0C39A2059}" destId="{C7D9CE52-8C09-4DAB-B52C-D09A307DBDDF}" srcOrd="1" destOrd="0" presId="urn:microsoft.com/office/officeart/2005/8/layout/list1"/>
    <dgm:cxn modelId="{C506186C-7A0F-46D2-9A39-C75BC76E09E5}" srcId="{45D3E3AC-FA15-488A-86CF-F8E0C39A2059}" destId="{D1F6E29E-B2BB-4D5B-AAC7-93EA8A9016E6}" srcOrd="0" destOrd="0" parTransId="{D6CCA31B-BE41-4FA2-B711-BF0314D12075}" sibTransId="{7DD13244-380C-499F-843E-2FC892A5F5D5}"/>
    <dgm:cxn modelId="{42EDD64D-F501-4C3D-BC24-F6521D914E7C}" srcId="{BD538389-AD0C-41EF-BB7A-88B613C121FC}" destId="{7A88465C-4B83-41AE-90DB-CB2D475D3320}" srcOrd="1" destOrd="0" parTransId="{73CACAE2-B3CC-40CD-A661-F6BFDD0FC73B}" sibTransId="{3D03E2FA-D85E-42CE-84B9-8B4834307C44}"/>
    <dgm:cxn modelId="{535AE951-87C6-4E6E-B374-65336E2AA33D}" srcId="{FAD19B51-51D7-421F-9085-0D5E59ECF4A4}" destId="{2C301865-A1E6-436F-997E-3311323B4481}" srcOrd="0" destOrd="0" parTransId="{DEC87E8E-4849-4E48-AC10-5721CABBFA39}" sibTransId="{0A2B9606-5E58-41E3-9012-15F78F034553}"/>
    <dgm:cxn modelId="{4B5FE87A-63F2-4160-BC56-459139F3C46E}" type="presOf" srcId="{BD538389-AD0C-41EF-BB7A-88B613C121FC}" destId="{A5913018-9484-4A2C-B800-F197AB0C9868}" srcOrd="0" destOrd="0" presId="urn:microsoft.com/office/officeart/2005/8/layout/list1"/>
    <dgm:cxn modelId="{E4EEA195-FF72-409C-8319-E46EC0C47567}" type="presOf" srcId="{D1F6E29E-B2BB-4D5B-AAC7-93EA8A9016E6}" destId="{42A077AB-66D6-449A-8B9F-8E9D1BD92018}" srcOrd="0" destOrd="0" presId="urn:microsoft.com/office/officeart/2005/8/layout/list1"/>
    <dgm:cxn modelId="{9D2D0996-8B91-49F9-8224-91A09CA22440}" srcId="{327850C4-CE0D-4E61-9EB2-725700627631}" destId="{45D3E3AC-FA15-488A-86CF-F8E0C39A2059}" srcOrd="2" destOrd="0" parTransId="{5F8D60BF-8799-446B-871C-F2A06A81A818}" sibTransId="{0D5F06E3-5C93-4A1D-8284-C9DDC55AC2CB}"/>
    <dgm:cxn modelId="{C52818BB-17E1-4386-B8C8-668E77EDA967}" type="presOf" srcId="{FAD19B51-51D7-421F-9085-0D5E59ECF4A4}" destId="{ABAB1ACD-F843-482F-A426-180FAE5FA1AF}" srcOrd="1" destOrd="0" presId="urn:microsoft.com/office/officeart/2005/8/layout/list1"/>
    <dgm:cxn modelId="{3C0710D9-0BB4-4C0E-9BA7-841B30EEA5D4}" srcId="{327850C4-CE0D-4E61-9EB2-725700627631}" destId="{BD538389-AD0C-41EF-BB7A-88B613C121FC}" srcOrd="1" destOrd="0" parTransId="{34282E50-4504-455C-A63E-A9B3539497F7}" sibTransId="{8F8BFDC1-9B39-49C9-8BAA-A5FE5F177E31}"/>
    <dgm:cxn modelId="{5B757FDD-F5B3-4FFD-9D46-2C8564F21388}" srcId="{BD538389-AD0C-41EF-BB7A-88B613C121FC}" destId="{8B7B208B-DCF4-4EB8-88AC-0E358198A6CD}" srcOrd="0" destOrd="0" parTransId="{17B945A6-9E93-4537-A1E4-A1CAACBB9802}" sibTransId="{CF2BC781-DCEE-4070-8EA5-B105ABB3EE0D}"/>
    <dgm:cxn modelId="{55CA52E1-0601-4BBC-8EE0-75D5044D522E}" type="presOf" srcId="{2C301865-A1E6-436F-997E-3311323B4481}" destId="{6EB90902-00BC-4A1F-9609-B4759D7E0380}" srcOrd="0" destOrd="0" presId="urn:microsoft.com/office/officeart/2005/8/layout/list1"/>
    <dgm:cxn modelId="{0DB6BAEF-864E-4811-AC55-C50246A917AE}" srcId="{327850C4-CE0D-4E61-9EB2-725700627631}" destId="{FAD19B51-51D7-421F-9085-0D5E59ECF4A4}" srcOrd="0" destOrd="0" parTransId="{0079D44C-69A1-4CD9-AFC2-4028D29FBEF3}" sibTransId="{F242BCFD-794E-4043-B807-A0D3BFF15EEF}"/>
    <dgm:cxn modelId="{5A241229-DCBE-4CC1-9B70-5EDECF3406F1}" type="presParOf" srcId="{BD56E07D-B603-494F-89E1-59F0408E366B}" destId="{0044D17F-30B9-4853-8EA1-BEBCE164E3F2}" srcOrd="0" destOrd="0" presId="urn:microsoft.com/office/officeart/2005/8/layout/list1"/>
    <dgm:cxn modelId="{892C0247-B511-466D-A9B3-E4C29750361E}" type="presParOf" srcId="{0044D17F-30B9-4853-8EA1-BEBCE164E3F2}" destId="{3393A9F2-90FF-4C5E-8F62-F4D6275BF88D}" srcOrd="0" destOrd="0" presId="urn:microsoft.com/office/officeart/2005/8/layout/list1"/>
    <dgm:cxn modelId="{CF6A30EC-E11F-46C8-970B-507FA17CCC37}" type="presParOf" srcId="{0044D17F-30B9-4853-8EA1-BEBCE164E3F2}" destId="{ABAB1ACD-F843-482F-A426-180FAE5FA1AF}" srcOrd="1" destOrd="0" presId="urn:microsoft.com/office/officeart/2005/8/layout/list1"/>
    <dgm:cxn modelId="{5354CC11-B36A-4B93-9A1C-D887BEBF71E6}" type="presParOf" srcId="{BD56E07D-B603-494F-89E1-59F0408E366B}" destId="{F7BCF196-D098-440C-8CCF-B61E8DBDE8CD}" srcOrd="1" destOrd="0" presId="urn:microsoft.com/office/officeart/2005/8/layout/list1"/>
    <dgm:cxn modelId="{09874E45-3ADB-4AA8-ADFB-49869E0D08C0}" type="presParOf" srcId="{BD56E07D-B603-494F-89E1-59F0408E366B}" destId="{6EB90902-00BC-4A1F-9609-B4759D7E0380}" srcOrd="2" destOrd="0" presId="urn:microsoft.com/office/officeart/2005/8/layout/list1"/>
    <dgm:cxn modelId="{E05D6795-54FA-4BFC-9A8D-9E97D9E516B3}" type="presParOf" srcId="{BD56E07D-B603-494F-89E1-59F0408E366B}" destId="{F25670EE-E283-475A-BF6C-F69ADFB6E776}" srcOrd="3" destOrd="0" presId="urn:microsoft.com/office/officeart/2005/8/layout/list1"/>
    <dgm:cxn modelId="{295146AF-E04F-4161-B43D-4A2AC64EEFA1}" type="presParOf" srcId="{BD56E07D-B603-494F-89E1-59F0408E366B}" destId="{E8164FD2-F639-4466-875C-D191854E4433}" srcOrd="4" destOrd="0" presId="urn:microsoft.com/office/officeart/2005/8/layout/list1"/>
    <dgm:cxn modelId="{CFC3222A-9C0F-4F37-864A-F4AFB75C5E3F}" type="presParOf" srcId="{E8164FD2-F639-4466-875C-D191854E4433}" destId="{A5913018-9484-4A2C-B800-F197AB0C9868}" srcOrd="0" destOrd="0" presId="urn:microsoft.com/office/officeart/2005/8/layout/list1"/>
    <dgm:cxn modelId="{2C8EA257-A0B8-4772-B7CC-319FBBD0CA65}" type="presParOf" srcId="{E8164FD2-F639-4466-875C-D191854E4433}" destId="{136792E3-9622-45D6-91D5-EA47553DB967}" srcOrd="1" destOrd="0" presId="urn:microsoft.com/office/officeart/2005/8/layout/list1"/>
    <dgm:cxn modelId="{FF2199A3-3B9B-4B74-A244-BE01FC9BFD94}" type="presParOf" srcId="{BD56E07D-B603-494F-89E1-59F0408E366B}" destId="{F7A95C0C-8AF5-43F7-9416-AB12CF987810}" srcOrd="5" destOrd="0" presId="urn:microsoft.com/office/officeart/2005/8/layout/list1"/>
    <dgm:cxn modelId="{3A120D85-F118-4E63-BBEF-A17CD338E763}" type="presParOf" srcId="{BD56E07D-B603-494F-89E1-59F0408E366B}" destId="{929A6837-0D15-4DC3-9D59-1F578EC236F3}" srcOrd="6" destOrd="0" presId="urn:microsoft.com/office/officeart/2005/8/layout/list1"/>
    <dgm:cxn modelId="{B91B0242-FBA9-47DA-995C-E1A525C7AEE3}" type="presParOf" srcId="{BD56E07D-B603-494F-89E1-59F0408E366B}" destId="{4CEA103E-8888-4128-B461-DDA558FD2141}" srcOrd="7" destOrd="0" presId="urn:microsoft.com/office/officeart/2005/8/layout/list1"/>
    <dgm:cxn modelId="{89BFDB75-D6EE-458A-8C9C-91819DF48BD9}" type="presParOf" srcId="{BD56E07D-B603-494F-89E1-59F0408E366B}" destId="{A10F8831-7556-41C3-A9A1-E75363E6A19E}" srcOrd="8" destOrd="0" presId="urn:microsoft.com/office/officeart/2005/8/layout/list1"/>
    <dgm:cxn modelId="{A82E2D09-5E68-40C0-A523-5F9FBF662443}" type="presParOf" srcId="{A10F8831-7556-41C3-A9A1-E75363E6A19E}" destId="{D8F4D0B7-02B9-440F-936F-6189910C2C90}" srcOrd="0" destOrd="0" presId="urn:microsoft.com/office/officeart/2005/8/layout/list1"/>
    <dgm:cxn modelId="{A998F526-5020-4A97-BC20-06A2BA3BEE9E}" type="presParOf" srcId="{A10F8831-7556-41C3-A9A1-E75363E6A19E}" destId="{C7D9CE52-8C09-4DAB-B52C-D09A307DBDDF}" srcOrd="1" destOrd="0" presId="urn:microsoft.com/office/officeart/2005/8/layout/list1"/>
    <dgm:cxn modelId="{3E391AE4-B473-4F57-899C-AD15B0846A31}" type="presParOf" srcId="{BD56E07D-B603-494F-89E1-59F0408E366B}" destId="{62C8D500-6E5D-4D1F-85CD-8D4629BB9D94}" srcOrd="9" destOrd="0" presId="urn:microsoft.com/office/officeart/2005/8/layout/list1"/>
    <dgm:cxn modelId="{FE6FFBB5-C50B-4E02-8DEB-255933A882EE}" type="presParOf" srcId="{BD56E07D-B603-494F-89E1-59F0408E366B}" destId="{42A077AB-66D6-449A-8B9F-8E9D1BD9201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7850C4-CE0D-4E61-9EB2-725700627631}" type="doc">
      <dgm:prSet loTypeId="urn:microsoft.com/office/officeart/2005/8/layout/list1" loCatId="list" qsTypeId="urn:microsoft.com/office/officeart/2005/8/quickstyle/simple3" qsCatId="simple" csTypeId="urn:microsoft.com/office/officeart/2005/8/colors/accent2_1" csCatId="accent2" phldr="1"/>
      <dgm:spPr/>
      <dgm:t>
        <a:bodyPr/>
        <a:lstStyle/>
        <a:p>
          <a:endParaRPr lang="en-US"/>
        </a:p>
      </dgm:t>
    </dgm:pt>
    <dgm:pt modelId="{FAD19B51-51D7-421F-9085-0D5E59ECF4A4}">
      <dgm:prSet phldrT="[Text]" custT="1"/>
      <dgm:spPr>
        <a:xfrm>
          <a:off x="428447" y="33443"/>
          <a:ext cx="5998267" cy="5904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US" sz="1400" b="1" dirty="0">
              <a:solidFill>
                <a:sysClr val="windowText" lastClr="000000">
                  <a:hueOff val="0"/>
                  <a:satOff val="0"/>
                  <a:lumOff val="0"/>
                  <a:alphaOff val="0"/>
                </a:sysClr>
              </a:solidFill>
              <a:latin typeface="Calibri"/>
              <a:ea typeface="+mn-ea"/>
              <a:cs typeface="+mn-cs"/>
            </a:rPr>
            <a:t>External vendor</a:t>
          </a:r>
          <a:endParaRPr lang="en-US" sz="1400" dirty="0">
            <a:solidFill>
              <a:sysClr val="windowText" lastClr="000000">
                <a:hueOff val="0"/>
                <a:satOff val="0"/>
                <a:lumOff val="0"/>
                <a:alphaOff val="0"/>
              </a:sysClr>
            </a:solidFill>
            <a:latin typeface="Calibri"/>
            <a:ea typeface="+mn-ea"/>
            <a:cs typeface="+mn-cs"/>
          </a:endParaRPr>
        </a:p>
      </dgm:t>
    </dgm:pt>
    <dgm:pt modelId="{0079D44C-69A1-4CD9-AFC2-4028D29FBEF3}" type="parTrans" cxnId="{0DB6BAEF-864E-4811-AC55-C50246A917AE}">
      <dgm:prSet/>
      <dgm:spPr/>
      <dgm:t>
        <a:bodyPr/>
        <a:lstStyle/>
        <a:p>
          <a:endParaRPr lang="en-US"/>
        </a:p>
      </dgm:t>
    </dgm:pt>
    <dgm:pt modelId="{F242BCFD-794E-4043-B807-A0D3BFF15EEF}" type="sibTrans" cxnId="{0DB6BAEF-864E-4811-AC55-C50246A917AE}">
      <dgm:prSet/>
      <dgm:spPr/>
      <dgm:t>
        <a:bodyPr/>
        <a:lstStyle/>
        <a:p>
          <a:endParaRPr lang="en-US"/>
        </a:p>
      </dgm:t>
    </dgm:pt>
    <dgm:pt modelId="{2C301865-A1E6-436F-997E-3311323B4481}">
      <dgm:prSet phldrT="[Text]" custT="1"/>
      <dgm:spPr>
        <a:xfrm>
          <a:off x="0" y="328643"/>
          <a:ext cx="8568953" cy="9135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Font typeface="Arial" panose="020B0604020202020204" pitchFamily="34" charset="0"/>
            <a:buChar char="•"/>
          </a:pPr>
          <a:r>
            <a:rPr lang="en-US" sz="1400" dirty="0">
              <a:solidFill>
                <a:sysClr val="windowText" lastClr="000000">
                  <a:hueOff val="0"/>
                  <a:satOff val="0"/>
                  <a:lumOff val="0"/>
                  <a:alphaOff val="0"/>
                </a:sysClr>
              </a:solidFill>
              <a:latin typeface="Calibri"/>
              <a:ea typeface="+mn-ea"/>
              <a:cs typeface="+mn-cs"/>
            </a:rPr>
            <a:t>An employee’s family owns a company that supplies goods or services to the LBU, and this employee is involved in evaluating the performance of this vendor. </a:t>
          </a:r>
        </a:p>
      </dgm:t>
    </dgm:pt>
    <dgm:pt modelId="{DEC87E8E-4849-4E48-AC10-5721CABBFA39}" type="parTrans" cxnId="{535AE951-87C6-4E6E-B374-65336E2AA33D}">
      <dgm:prSet/>
      <dgm:spPr/>
      <dgm:t>
        <a:bodyPr/>
        <a:lstStyle/>
        <a:p>
          <a:endParaRPr lang="en-US"/>
        </a:p>
      </dgm:t>
    </dgm:pt>
    <dgm:pt modelId="{0A2B9606-5E58-41E3-9012-15F78F034553}" type="sibTrans" cxnId="{535AE951-87C6-4E6E-B374-65336E2AA33D}">
      <dgm:prSet/>
      <dgm:spPr/>
      <dgm:t>
        <a:bodyPr/>
        <a:lstStyle/>
        <a:p>
          <a:endParaRPr lang="en-US"/>
        </a:p>
      </dgm:t>
    </dgm:pt>
    <dgm:pt modelId="{BD538389-AD0C-41EF-BB7A-88B613C121FC}">
      <dgm:prSet phldrT="[Text]" custT="1"/>
      <dgm:spPr>
        <a:xfrm>
          <a:off x="428447" y="1350144"/>
          <a:ext cx="5998267" cy="5904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a:lstStyle/>
        <a:p>
          <a:pPr>
            <a:buNone/>
          </a:pPr>
          <a:r>
            <a:rPr lang="en-US" sz="1400" b="1" dirty="0">
              <a:solidFill>
                <a:sysClr val="windowText" lastClr="000000">
                  <a:hueOff val="0"/>
                  <a:satOff val="0"/>
                  <a:lumOff val="0"/>
                  <a:alphaOff val="0"/>
                </a:sysClr>
              </a:solidFill>
              <a:latin typeface="Calibri"/>
              <a:ea typeface="+mn-ea"/>
              <a:cs typeface="+mn-cs"/>
            </a:rPr>
            <a:t>Working for a competitor</a:t>
          </a:r>
        </a:p>
      </dgm:t>
    </dgm:pt>
    <dgm:pt modelId="{34282E50-4504-455C-A63E-A9B3539497F7}" type="parTrans" cxnId="{3C0710D9-0BB4-4C0E-9BA7-841B30EEA5D4}">
      <dgm:prSet/>
      <dgm:spPr/>
      <dgm:t>
        <a:bodyPr/>
        <a:lstStyle/>
        <a:p>
          <a:endParaRPr lang="en-US"/>
        </a:p>
      </dgm:t>
    </dgm:pt>
    <dgm:pt modelId="{8F8BFDC1-9B39-49C9-8BAA-A5FE5F177E31}" type="sibTrans" cxnId="{3C0710D9-0BB4-4C0E-9BA7-841B30EEA5D4}">
      <dgm:prSet/>
      <dgm:spPr/>
      <dgm:t>
        <a:bodyPr/>
        <a:lstStyle/>
        <a:p>
          <a:endParaRPr lang="en-US"/>
        </a:p>
      </dgm:t>
    </dgm:pt>
    <dgm:pt modelId="{8B7B208B-DCF4-4EB8-88AC-0E358198A6CD}">
      <dgm:prSet phldrT="[Text]" custT="1"/>
      <dgm:spPr>
        <a:xfrm>
          <a:off x="0" y="1645344"/>
          <a:ext cx="8568953" cy="9135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Char char="•"/>
          </a:pPr>
          <a:r>
            <a:rPr lang="en-US" sz="1400" dirty="0">
              <a:solidFill>
                <a:sysClr val="windowText" lastClr="000000">
                  <a:hueOff val="0"/>
                  <a:satOff val="0"/>
                  <a:lumOff val="0"/>
                  <a:alphaOff val="0"/>
                </a:sysClr>
              </a:solidFill>
              <a:latin typeface="Calibri"/>
              <a:ea typeface="+mn-ea"/>
              <a:cs typeface="+mn-cs"/>
            </a:rPr>
            <a:t>An employee in the Marketing team gets a part-time marketing consulting job in a company that is one of the firm’s major competitors.</a:t>
          </a:r>
        </a:p>
      </dgm:t>
    </dgm:pt>
    <dgm:pt modelId="{17B945A6-9E93-4537-A1E4-A1CAACBB9802}" type="parTrans" cxnId="{5B757FDD-F5B3-4FFD-9D46-2C8564F21388}">
      <dgm:prSet/>
      <dgm:spPr/>
      <dgm:t>
        <a:bodyPr/>
        <a:lstStyle/>
        <a:p>
          <a:endParaRPr lang="en-US"/>
        </a:p>
      </dgm:t>
    </dgm:pt>
    <dgm:pt modelId="{CF2BC781-DCEE-4070-8EA5-B105ABB3EE0D}" type="sibTrans" cxnId="{5B757FDD-F5B3-4FFD-9D46-2C8564F21388}">
      <dgm:prSet/>
      <dgm:spPr/>
      <dgm:t>
        <a:bodyPr/>
        <a:lstStyle/>
        <a:p>
          <a:endParaRPr lang="en-US"/>
        </a:p>
      </dgm:t>
    </dgm:pt>
    <dgm:pt modelId="{2B354FCD-07D0-40BC-A78D-559703CF9739}">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a:buChar char="•"/>
          </a:pPr>
          <a:r>
            <a:rPr lang="en-US" sz="1400" b="1" dirty="0">
              <a:solidFill>
                <a:sysClr val="windowText" lastClr="000000">
                  <a:hueOff val="0"/>
                  <a:satOff val="0"/>
                  <a:lumOff val="0"/>
                  <a:alphaOff val="0"/>
                </a:sysClr>
              </a:solidFill>
              <a:latin typeface="Calibri"/>
              <a:ea typeface="+mn-ea"/>
              <a:cs typeface="+mn-cs"/>
            </a:rPr>
            <a:t>External Directorship</a:t>
          </a:r>
        </a:p>
      </dgm:t>
    </dgm:pt>
    <dgm:pt modelId="{9C37DDBD-0DEA-4C93-BA71-CF028E18E788}" type="parTrans" cxnId="{E5400415-6C96-43B9-9954-F4FD62EA1DDC}">
      <dgm:prSet/>
      <dgm:spPr/>
      <dgm:t>
        <a:bodyPr/>
        <a:lstStyle/>
        <a:p>
          <a:endParaRPr lang="en-HK"/>
        </a:p>
      </dgm:t>
    </dgm:pt>
    <dgm:pt modelId="{0DFBD553-C726-43AA-9CD7-C75C3DF25F96}" type="sibTrans" cxnId="{E5400415-6C96-43B9-9954-F4FD62EA1DDC}">
      <dgm:prSet/>
      <dgm:spPr/>
      <dgm:t>
        <a:bodyPr/>
        <a:lstStyle/>
        <a:p>
          <a:endParaRPr lang="en-HK"/>
        </a:p>
      </dgm:t>
    </dgm:pt>
    <dgm:pt modelId="{C22F7009-A95F-4C31-A5BF-5D66AF13EA0A}">
      <dgm:prSet phldrT="[Text]" custT="1"/>
      <dgm:spPr>
        <a:xfrm>
          <a:off x="0" y="1645344"/>
          <a:ext cx="8568953" cy="913500"/>
        </a:xfr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a:lstStyle/>
        <a:p>
          <a:pPr>
            <a:buChar char="•"/>
          </a:pPr>
          <a:r>
            <a:rPr lang="en-US" sz="1400" dirty="0">
              <a:solidFill>
                <a:sysClr val="windowText" lastClr="000000">
                  <a:hueOff val="0"/>
                  <a:satOff val="0"/>
                  <a:lumOff val="0"/>
                  <a:alphaOff val="0"/>
                </a:sysClr>
              </a:solidFill>
              <a:latin typeface="Calibri"/>
              <a:ea typeface="+mn-ea"/>
              <a:cs typeface="+mn-cs"/>
            </a:rPr>
            <a:t>An Employee in the Investment Team is nominated as an External Director on the Board of a small asset management company registered abroad.</a:t>
          </a:r>
        </a:p>
      </dgm:t>
    </dgm:pt>
    <dgm:pt modelId="{D103C2CA-7FFF-4339-BCA6-1FEE727EFE7C}" type="parTrans" cxnId="{9F46BBDB-A336-492F-9AB3-0EEFCB4AEC78}">
      <dgm:prSet/>
      <dgm:spPr/>
      <dgm:t>
        <a:bodyPr/>
        <a:lstStyle/>
        <a:p>
          <a:endParaRPr lang="en-HK"/>
        </a:p>
      </dgm:t>
    </dgm:pt>
    <dgm:pt modelId="{A9BC6B3A-7E05-4A8C-99A9-05766F6E120D}" type="sibTrans" cxnId="{9F46BBDB-A336-492F-9AB3-0EEFCB4AEC78}">
      <dgm:prSet/>
      <dgm:spPr/>
      <dgm:t>
        <a:bodyPr/>
        <a:lstStyle/>
        <a:p>
          <a:endParaRPr lang="en-HK"/>
        </a:p>
      </dgm:t>
    </dgm:pt>
    <dgm:pt modelId="{BD56E07D-B603-494F-89E1-59F0408E366B}" type="pres">
      <dgm:prSet presAssocID="{327850C4-CE0D-4E61-9EB2-725700627631}" presName="linear" presStyleCnt="0">
        <dgm:presLayoutVars>
          <dgm:dir/>
          <dgm:animLvl val="lvl"/>
          <dgm:resizeHandles val="exact"/>
        </dgm:presLayoutVars>
      </dgm:prSet>
      <dgm:spPr/>
    </dgm:pt>
    <dgm:pt modelId="{0044D17F-30B9-4853-8EA1-BEBCE164E3F2}" type="pres">
      <dgm:prSet presAssocID="{FAD19B51-51D7-421F-9085-0D5E59ECF4A4}" presName="parentLin" presStyleCnt="0"/>
      <dgm:spPr/>
    </dgm:pt>
    <dgm:pt modelId="{3393A9F2-90FF-4C5E-8F62-F4D6275BF88D}" type="pres">
      <dgm:prSet presAssocID="{FAD19B51-51D7-421F-9085-0D5E59ECF4A4}" presName="parentLeftMargin" presStyleLbl="node1" presStyleIdx="0" presStyleCnt="3"/>
      <dgm:spPr/>
    </dgm:pt>
    <dgm:pt modelId="{ABAB1ACD-F843-482F-A426-180FAE5FA1AF}" type="pres">
      <dgm:prSet presAssocID="{FAD19B51-51D7-421F-9085-0D5E59ECF4A4}" presName="parentText" presStyleLbl="node1" presStyleIdx="0" presStyleCnt="3">
        <dgm:presLayoutVars>
          <dgm:chMax val="0"/>
          <dgm:bulletEnabled val="1"/>
        </dgm:presLayoutVars>
      </dgm:prSet>
      <dgm:spPr/>
    </dgm:pt>
    <dgm:pt modelId="{F7BCF196-D098-440C-8CCF-B61E8DBDE8CD}" type="pres">
      <dgm:prSet presAssocID="{FAD19B51-51D7-421F-9085-0D5E59ECF4A4}" presName="negativeSpace" presStyleCnt="0"/>
      <dgm:spPr/>
    </dgm:pt>
    <dgm:pt modelId="{6EB90902-00BC-4A1F-9609-B4759D7E0380}" type="pres">
      <dgm:prSet presAssocID="{FAD19B51-51D7-421F-9085-0D5E59ECF4A4}" presName="childText" presStyleLbl="conFgAcc1" presStyleIdx="0" presStyleCnt="3">
        <dgm:presLayoutVars>
          <dgm:bulletEnabled val="1"/>
        </dgm:presLayoutVars>
      </dgm:prSet>
      <dgm:spPr/>
    </dgm:pt>
    <dgm:pt modelId="{F25670EE-E283-475A-BF6C-F69ADFB6E776}" type="pres">
      <dgm:prSet presAssocID="{F242BCFD-794E-4043-B807-A0D3BFF15EEF}" presName="spaceBetweenRectangles" presStyleCnt="0"/>
      <dgm:spPr/>
    </dgm:pt>
    <dgm:pt modelId="{E8164FD2-F639-4466-875C-D191854E4433}" type="pres">
      <dgm:prSet presAssocID="{BD538389-AD0C-41EF-BB7A-88B613C121FC}" presName="parentLin" presStyleCnt="0"/>
      <dgm:spPr/>
    </dgm:pt>
    <dgm:pt modelId="{A5913018-9484-4A2C-B800-F197AB0C9868}" type="pres">
      <dgm:prSet presAssocID="{BD538389-AD0C-41EF-BB7A-88B613C121FC}" presName="parentLeftMargin" presStyleLbl="node1" presStyleIdx="0" presStyleCnt="3"/>
      <dgm:spPr/>
    </dgm:pt>
    <dgm:pt modelId="{136792E3-9622-45D6-91D5-EA47553DB967}" type="pres">
      <dgm:prSet presAssocID="{BD538389-AD0C-41EF-BB7A-88B613C121FC}" presName="parentText" presStyleLbl="node1" presStyleIdx="1" presStyleCnt="3">
        <dgm:presLayoutVars>
          <dgm:chMax val="0"/>
          <dgm:bulletEnabled val="1"/>
        </dgm:presLayoutVars>
      </dgm:prSet>
      <dgm:spPr/>
    </dgm:pt>
    <dgm:pt modelId="{F7A95C0C-8AF5-43F7-9416-AB12CF987810}" type="pres">
      <dgm:prSet presAssocID="{BD538389-AD0C-41EF-BB7A-88B613C121FC}" presName="negativeSpace" presStyleCnt="0"/>
      <dgm:spPr/>
    </dgm:pt>
    <dgm:pt modelId="{929A6837-0D15-4DC3-9D59-1F578EC236F3}" type="pres">
      <dgm:prSet presAssocID="{BD538389-AD0C-41EF-BB7A-88B613C121FC}" presName="childText" presStyleLbl="conFgAcc1" presStyleIdx="1" presStyleCnt="3">
        <dgm:presLayoutVars>
          <dgm:bulletEnabled val="1"/>
        </dgm:presLayoutVars>
      </dgm:prSet>
      <dgm:spPr>
        <a:prstGeom prst="rect">
          <a:avLst/>
        </a:prstGeom>
      </dgm:spPr>
    </dgm:pt>
    <dgm:pt modelId="{136241EB-FD89-4701-B802-0D11295964DC}" type="pres">
      <dgm:prSet presAssocID="{8F8BFDC1-9B39-49C9-8BAA-A5FE5F177E31}" presName="spaceBetweenRectangles" presStyleCnt="0"/>
      <dgm:spPr/>
    </dgm:pt>
    <dgm:pt modelId="{179F9E88-4EFF-46F7-9A6C-438CB1C62780}" type="pres">
      <dgm:prSet presAssocID="{2B354FCD-07D0-40BC-A78D-559703CF9739}" presName="parentLin" presStyleCnt="0"/>
      <dgm:spPr/>
    </dgm:pt>
    <dgm:pt modelId="{B9FAA057-BC1A-40E6-829B-57AF8F29FA24}" type="pres">
      <dgm:prSet presAssocID="{2B354FCD-07D0-40BC-A78D-559703CF9739}" presName="parentLeftMargin" presStyleLbl="node1" presStyleIdx="1" presStyleCnt="3"/>
      <dgm:spPr/>
    </dgm:pt>
    <dgm:pt modelId="{E1CF0DFD-C9CE-472C-9B62-4257B25D8F19}" type="pres">
      <dgm:prSet presAssocID="{2B354FCD-07D0-40BC-A78D-559703CF9739}" presName="parentText" presStyleLbl="node1" presStyleIdx="2" presStyleCnt="3">
        <dgm:presLayoutVars>
          <dgm:chMax val="0"/>
          <dgm:bulletEnabled val="1"/>
        </dgm:presLayoutVars>
      </dgm:prSet>
      <dgm:spPr>
        <a:xfrm>
          <a:off x="370241" y="1931361"/>
          <a:ext cx="5183377" cy="324720"/>
        </a:xfrm>
        <a:prstGeom prst="roundRect">
          <a:avLst/>
        </a:prstGeom>
      </dgm:spPr>
    </dgm:pt>
    <dgm:pt modelId="{1011B3DF-8F5B-46DC-97CA-D9700AD5E158}" type="pres">
      <dgm:prSet presAssocID="{2B354FCD-07D0-40BC-A78D-559703CF9739}" presName="negativeSpace" presStyleCnt="0"/>
      <dgm:spPr/>
    </dgm:pt>
    <dgm:pt modelId="{95A79F05-CDA9-44F0-8026-E9AC5C5EA8A4}" type="pres">
      <dgm:prSet presAssocID="{2B354FCD-07D0-40BC-A78D-559703CF9739}" presName="childText" presStyleLbl="conFgAcc1" presStyleIdx="2" presStyleCnt="3">
        <dgm:presLayoutVars>
          <dgm:bulletEnabled val="1"/>
        </dgm:presLayoutVars>
      </dgm:prSet>
      <dgm:spPr/>
    </dgm:pt>
  </dgm:ptLst>
  <dgm:cxnLst>
    <dgm:cxn modelId="{B2DBDA06-A552-4EFC-949B-0496C49B6C49}" type="presOf" srcId="{8B7B208B-DCF4-4EB8-88AC-0E358198A6CD}" destId="{929A6837-0D15-4DC3-9D59-1F578EC236F3}" srcOrd="0" destOrd="0" presId="urn:microsoft.com/office/officeart/2005/8/layout/list1"/>
    <dgm:cxn modelId="{E5400415-6C96-43B9-9954-F4FD62EA1DDC}" srcId="{327850C4-CE0D-4E61-9EB2-725700627631}" destId="{2B354FCD-07D0-40BC-A78D-559703CF9739}" srcOrd="2" destOrd="0" parTransId="{9C37DDBD-0DEA-4C93-BA71-CF028E18E788}" sibTransId="{0DFBD553-C726-43AA-9CD7-C75C3DF25F96}"/>
    <dgm:cxn modelId="{E7951E17-D9C5-4D3B-A769-58F4655AF982}" type="presOf" srcId="{C22F7009-A95F-4C31-A5BF-5D66AF13EA0A}" destId="{95A79F05-CDA9-44F0-8026-E9AC5C5EA8A4}" srcOrd="0" destOrd="0" presId="urn:microsoft.com/office/officeart/2005/8/layout/list1"/>
    <dgm:cxn modelId="{F588BB38-E2F9-4F9B-BF96-FE0F75102419}" type="presOf" srcId="{FAD19B51-51D7-421F-9085-0D5E59ECF4A4}" destId="{3393A9F2-90FF-4C5E-8F62-F4D6275BF88D}" srcOrd="0" destOrd="0" presId="urn:microsoft.com/office/officeart/2005/8/layout/list1"/>
    <dgm:cxn modelId="{F5E7F75F-D4CE-4FDB-9C4B-F04D558510F6}" type="presOf" srcId="{BD538389-AD0C-41EF-BB7A-88B613C121FC}" destId="{136792E3-9622-45D6-91D5-EA47553DB967}" srcOrd="1" destOrd="0" presId="urn:microsoft.com/office/officeart/2005/8/layout/list1"/>
    <dgm:cxn modelId="{F0F60044-E1E2-4187-950D-E772A1C76DB1}" type="presOf" srcId="{327850C4-CE0D-4E61-9EB2-725700627631}" destId="{BD56E07D-B603-494F-89E1-59F0408E366B}" srcOrd="0" destOrd="0" presId="urn:microsoft.com/office/officeart/2005/8/layout/list1"/>
    <dgm:cxn modelId="{535AE951-87C6-4E6E-B374-65336E2AA33D}" srcId="{FAD19B51-51D7-421F-9085-0D5E59ECF4A4}" destId="{2C301865-A1E6-436F-997E-3311323B4481}" srcOrd="0" destOrd="0" parTransId="{DEC87E8E-4849-4E48-AC10-5721CABBFA39}" sibTransId="{0A2B9606-5E58-41E3-9012-15F78F034553}"/>
    <dgm:cxn modelId="{4B5FE87A-63F2-4160-BC56-459139F3C46E}" type="presOf" srcId="{BD538389-AD0C-41EF-BB7A-88B613C121FC}" destId="{A5913018-9484-4A2C-B800-F197AB0C9868}" srcOrd="0" destOrd="0" presId="urn:microsoft.com/office/officeart/2005/8/layout/list1"/>
    <dgm:cxn modelId="{60EF669D-960D-4F7E-B5CC-B1F1026B2F97}" type="presOf" srcId="{2B354FCD-07D0-40BC-A78D-559703CF9739}" destId="{B9FAA057-BC1A-40E6-829B-57AF8F29FA24}" srcOrd="0" destOrd="0" presId="urn:microsoft.com/office/officeart/2005/8/layout/list1"/>
    <dgm:cxn modelId="{A52C8EAE-346F-4AEB-8B54-B801684E1C80}" type="presOf" srcId="{2B354FCD-07D0-40BC-A78D-559703CF9739}" destId="{E1CF0DFD-C9CE-472C-9B62-4257B25D8F19}" srcOrd="1" destOrd="0" presId="urn:microsoft.com/office/officeart/2005/8/layout/list1"/>
    <dgm:cxn modelId="{C52818BB-17E1-4386-B8C8-668E77EDA967}" type="presOf" srcId="{FAD19B51-51D7-421F-9085-0D5E59ECF4A4}" destId="{ABAB1ACD-F843-482F-A426-180FAE5FA1AF}" srcOrd="1" destOrd="0" presId="urn:microsoft.com/office/officeart/2005/8/layout/list1"/>
    <dgm:cxn modelId="{3C0710D9-0BB4-4C0E-9BA7-841B30EEA5D4}" srcId="{327850C4-CE0D-4E61-9EB2-725700627631}" destId="{BD538389-AD0C-41EF-BB7A-88B613C121FC}" srcOrd="1" destOrd="0" parTransId="{34282E50-4504-455C-A63E-A9B3539497F7}" sibTransId="{8F8BFDC1-9B39-49C9-8BAA-A5FE5F177E31}"/>
    <dgm:cxn modelId="{9F46BBDB-A336-492F-9AB3-0EEFCB4AEC78}" srcId="{2B354FCD-07D0-40BC-A78D-559703CF9739}" destId="{C22F7009-A95F-4C31-A5BF-5D66AF13EA0A}" srcOrd="0" destOrd="0" parTransId="{D103C2CA-7FFF-4339-BCA6-1FEE727EFE7C}" sibTransId="{A9BC6B3A-7E05-4A8C-99A9-05766F6E120D}"/>
    <dgm:cxn modelId="{5B757FDD-F5B3-4FFD-9D46-2C8564F21388}" srcId="{BD538389-AD0C-41EF-BB7A-88B613C121FC}" destId="{8B7B208B-DCF4-4EB8-88AC-0E358198A6CD}" srcOrd="0" destOrd="0" parTransId="{17B945A6-9E93-4537-A1E4-A1CAACBB9802}" sibTransId="{CF2BC781-DCEE-4070-8EA5-B105ABB3EE0D}"/>
    <dgm:cxn modelId="{55CA52E1-0601-4BBC-8EE0-75D5044D522E}" type="presOf" srcId="{2C301865-A1E6-436F-997E-3311323B4481}" destId="{6EB90902-00BC-4A1F-9609-B4759D7E0380}" srcOrd="0" destOrd="0" presId="urn:microsoft.com/office/officeart/2005/8/layout/list1"/>
    <dgm:cxn modelId="{0DB6BAEF-864E-4811-AC55-C50246A917AE}" srcId="{327850C4-CE0D-4E61-9EB2-725700627631}" destId="{FAD19B51-51D7-421F-9085-0D5E59ECF4A4}" srcOrd="0" destOrd="0" parTransId="{0079D44C-69A1-4CD9-AFC2-4028D29FBEF3}" sibTransId="{F242BCFD-794E-4043-B807-A0D3BFF15EEF}"/>
    <dgm:cxn modelId="{5A241229-DCBE-4CC1-9B70-5EDECF3406F1}" type="presParOf" srcId="{BD56E07D-B603-494F-89E1-59F0408E366B}" destId="{0044D17F-30B9-4853-8EA1-BEBCE164E3F2}" srcOrd="0" destOrd="0" presId="urn:microsoft.com/office/officeart/2005/8/layout/list1"/>
    <dgm:cxn modelId="{892C0247-B511-466D-A9B3-E4C29750361E}" type="presParOf" srcId="{0044D17F-30B9-4853-8EA1-BEBCE164E3F2}" destId="{3393A9F2-90FF-4C5E-8F62-F4D6275BF88D}" srcOrd="0" destOrd="0" presId="urn:microsoft.com/office/officeart/2005/8/layout/list1"/>
    <dgm:cxn modelId="{CF6A30EC-E11F-46C8-970B-507FA17CCC37}" type="presParOf" srcId="{0044D17F-30B9-4853-8EA1-BEBCE164E3F2}" destId="{ABAB1ACD-F843-482F-A426-180FAE5FA1AF}" srcOrd="1" destOrd="0" presId="urn:microsoft.com/office/officeart/2005/8/layout/list1"/>
    <dgm:cxn modelId="{5354CC11-B36A-4B93-9A1C-D887BEBF71E6}" type="presParOf" srcId="{BD56E07D-B603-494F-89E1-59F0408E366B}" destId="{F7BCF196-D098-440C-8CCF-B61E8DBDE8CD}" srcOrd="1" destOrd="0" presId="urn:microsoft.com/office/officeart/2005/8/layout/list1"/>
    <dgm:cxn modelId="{09874E45-3ADB-4AA8-ADFB-49869E0D08C0}" type="presParOf" srcId="{BD56E07D-B603-494F-89E1-59F0408E366B}" destId="{6EB90902-00BC-4A1F-9609-B4759D7E0380}" srcOrd="2" destOrd="0" presId="urn:microsoft.com/office/officeart/2005/8/layout/list1"/>
    <dgm:cxn modelId="{E05D6795-54FA-4BFC-9A8D-9E97D9E516B3}" type="presParOf" srcId="{BD56E07D-B603-494F-89E1-59F0408E366B}" destId="{F25670EE-E283-475A-BF6C-F69ADFB6E776}" srcOrd="3" destOrd="0" presId="urn:microsoft.com/office/officeart/2005/8/layout/list1"/>
    <dgm:cxn modelId="{295146AF-E04F-4161-B43D-4A2AC64EEFA1}" type="presParOf" srcId="{BD56E07D-B603-494F-89E1-59F0408E366B}" destId="{E8164FD2-F639-4466-875C-D191854E4433}" srcOrd="4" destOrd="0" presId="urn:microsoft.com/office/officeart/2005/8/layout/list1"/>
    <dgm:cxn modelId="{CFC3222A-9C0F-4F37-864A-F4AFB75C5E3F}" type="presParOf" srcId="{E8164FD2-F639-4466-875C-D191854E4433}" destId="{A5913018-9484-4A2C-B800-F197AB0C9868}" srcOrd="0" destOrd="0" presId="urn:microsoft.com/office/officeart/2005/8/layout/list1"/>
    <dgm:cxn modelId="{2C8EA257-A0B8-4772-B7CC-319FBBD0CA65}" type="presParOf" srcId="{E8164FD2-F639-4466-875C-D191854E4433}" destId="{136792E3-9622-45D6-91D5-EA47553DB967}" srcOrd="1" destOrd="0" presId="urn:microsoft.com/office/officeart/2005/8/layout/list1"/>
    <dgm:cxn modelId="{FF2199A3-3B9B-4B74-A244-BE01FC9BFD94}" type="presParOf" srcId="{BD56E07D-B603-494F-89E1-59F0408E366B}" destId="{F7A95C0C-8AF5-43F7-9416-AB12CF987810}" srcOrd="5" destOrd="0" presId="urn:microsoft.com/office/officeart/2005/8/layout/list1"/>
    <dgm:cxn modelId="{3A120D85-F118-4E63-BBEF-A17CD338E763}" type="presParOf" srcId="{BD56E07D-B603-494F-89E1-59F0408E366B}" destId="{929A6837-0D15-4DC3-9D59-1F578EC236F3}" srcOrd="6" destOrd="0" presId="urn:microsoft.com/office/officeart/2005/8/layout/list1"/>
    <dgm:cxn modelId="{7ADDCB42-53A9-4D55-BE41-2ADBA83C95DD}" type="presParOf" srcId="{BD56E07D-B603-494F-89E1-59F0408E366B}" destId="{136241EB-FD89-4701-B802-0D11295964DC}" srcOrd="7" destOrd="0" presId="urn:microsoft.com/office/officeart/2005/8/layout/list1"/>
    <dgm:cxn modelId="{876E39C7-FF4A-4D0E-82F1-C0700FD9ED6A}" type="presParOf" srcId="{BD56E07D-B603-494F-89E1-59F0408E366B}" destId="{179F9E88-4EFF-46F7-9A6C-438CB1C62780}" srcOrd="8" destOrd="0" presId="urn:microsoft.com/office/officeart/2005/8/layout/list1"/>
    <dgm:cxn modelId="{A4FB7777-8C4E-4F18-A3DE-320AE1379153}" type="presParOf" srcId="{179F9E88-4EFF-46F7-9A6C-438CB1C62780}" destId="{B9FAA057-BC1A-40E6-829B-57AF8F29FA24}" srcOrd="0" destOrd="0" presId="urn:microsoft.com/office/officeart/2005/8/layout/list1"/>
    <dgm:cxn modelId="{61042FC6-6849-4963-A90A-4D8638530B8B}" type="presParOf" srcId="{179F9E88-4EFF-46F7-9A6C-438CB1C62780}" destId="{E1CF0DFD-C9CE-472C-9B62-4257B25D8F19}" srcOrd="1" destOrd="0" presId="urn:microsoft.com/office/officeart/2005/8/layout/list1"/>
    <dgm:cxn modelId="{1E49923C-D6FA-408C-AB6C-20D605894BD4}" type="presParOf" srcId="{BD56E07D-B603-494F-89E1-59F0408E366B}" destId="{1011B3DF-8F5B-46DC-97CA-D9700AD5E158}" srcOrd="9" destOrd="0" presId="urn:microsoft.com/office/officeart/2005/8/layout/list1"/>
    <dgm:cxn modelId="{D27277B9-F70A-419A-9879-63BEA67D31B7}" type="presParOf" srcId="{BD56E07D-B603-494F-89E1-59F0408E366B}" destId="{95A79F05-CDA9-44F0-8026-E9AC5C5EA8A4}" srcOrd="10" destOrd="0" presId="urn:microsoft.com/office/officeart/2005/8/layout/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ECB8AF-7C96-4C03-96DF-DDD349176739}" type="doc">
      <dgm:prSet loTypeId="urn:microsoft.com/office/officeart/2005/8/layout/default" loCatId="list" qsTypeId="urn:microsoft.com/office/officeart/2005/8/quickstyle/simple2" qsCatId="simple" csTypeId="urn:microsoft.com/office/officeart/2005/8/colors/accent2_1" csCatId="accent2" phldr="1"/>
      <dgm:spPr/>
      <dgm:t>
        <a:bodyPr/>
        <a:lstStyle/>
        <a:p>
          <a:endParaRPr lang="en-US"/>
        </a:p>
      </dgm:t>
    </dgm:pt>
    <dgm:pt modelId="{A9731D97-2F5A-4842-A588-FF72867A0219}">
      <dgm:prSet phldrT="[Text]" custT="1"/>
      <dgm:spPr>
        <a:xfrm>
          <a:off x="955231" y="1019"/>
          <a:ext cx="2103280" cy="1261968"/>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gm:spPr>
      <dgm:t>
        <a:bodyPr/>
        <a:lstStyle/>
        <a:p>
          <a:pPr>
            <a:buNone/>
          </a:pPr>
          <a:r>
            <a:rPr lang="en-US" sz="1000" dirty="0">
              <a:solidFill>
                <a:sysClr val="windowText" lastClr="000000">
                  <a:hueOff val="0"/>
                  <a:satOff val="0"/>
                  <a:lumOff val="0"/>
                  <a:alphaOff val="0"/>
                </a:sysClr>
              </a:solidFill>
              <a:latin typeface="Calibri"/>
              <a:ea typeface="+mn-ea"/>
              <a:cs typeface="+mn-cs"/>
            </a:rPr>
            <a:t>Directorships, with or without remuneration, held externally in any </a:t>
          </a:r>
          <a:r>
            <a:rPr lang="en-US" sz="1000" dirty="0" err="1">
              <a:solidFill>
                <a:sysClr val="windowText" lastClr="000000">
                  <a:hueOff val="0"/>
                  <a:satOff val="0"/>
                  <a:lumOff val="0"/>
                  <a:alphaOff val="0"/>
                </a:sysClr>
              </a:solidFill>
              <a:latin typeface="Calibri"/>
              <a:ea typeface="+mn-ea"/>
              <a:cs typeface="+mn-cs"/>
            </a:rPr>
            <a:t>organisation</a:t>
          </a:r>
          <a:r>
            <a:rPr lang="en-US" sz="1000" dirty="0">
              <a:solidFill>
                <a:sysClr val="windowText" lastClr="000000">
                  <a:hueOff val="0"/>
                  <a:satOff val="0"/>
                  <a:lumOff val="0"/>
                  <a:alphaOff val="0"/>
                </a:sysClr>
              </a:solidFill>
              <a:latin typeface="Calibri"/>
              <a:ea typeface="+mn-ea"/>
              <a:cs typeface="+mn-cs"/>
            </a:rPr>
            <a:t> outside the Prudential Group </a:t>
          </a:r>
        </a:p>
      </dgm:t>
    </dgm:pt>
    <dgm:pt modelId="{BE2F0688-D73C-43B4-A530-6D4CBA4819A2}" type="parTrans" cxnId="{0A0F6CAF-740A-4F5A-9D0C-F2F84C7B172D}">
      <dgm:prSet/>
      <dgm:spPr/>
      <dgm:t>
        <a:bodyPr/>
        <a:lstStyle/>
        <a:p>
          <a:endParaRPr lang="en-US"/>
        </a:p>
      </dgm:t>
    </dgm:pt>
    <dgm:pt modelId="{0F518E0A-7C6A-4088-B890-FAADDEA803DC}" type="sibTrans" cxnId="{0A0F6CAF-740A-4F5A-9D0C-F2F84C7B172D}">
      <dgm:prSet/>
      <dgm:spPr/>
      <dgm:t>
        <a:bodyPr/>
        <a:lstStyle/>
        <a:p>
          <a:endParaRPr lang="en-US"/>
        </a:p>
      </dgm:t>
    </dgm:pt>
    <dgm:pt modelId="{E7D90BA0-FC62-4B98-8F19-CAF3CCFCC1A7}">
      <dgm:prSet phldrT="[Text]" custT="1"/>
      <dgm:spPr>
        <a:xfrm>
          <a:off x="3268839" y="0"/>
          <a:ext cx="2103280" cy="1261968"/>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gm:spPr>
      <dgm:t>
        <a:bodyPr/>
        <a:lstStyle/>
        <a:p>
          <a:pPr>
            <a:buNone/>
          </a:pPr>
          <a:r>
            <a:rPr lang="en-US" sz="1000" dirty="0">
              <a:solidFill>
                <a:sysClr val="windowText" lastClr="000000">
                  <a:hueOff val="0"/>
                  <a:satOff val="0"/>
                  <a:lumOff val="0"/>
                  <a:alphaOff val="0"/>
                </a:sysClr>
              </a:solidFill>
              <a:latin typeface="Calibri"/>
              <a:ea typeface="+mn-ea"/>
              <a:cs typeface="+mn-cs"/>
            </a:rPr>
            <a:t>Substantial shareholding (more than 5%), ownership, partnership or sole proprietorship  in any </a:t>
          </a:r>
          <a:r>
            <a:rPr lang="en-US" sz="1000" dirty="0" err="1">
              <a:solidFill>
                <a:sysClr val="windowText" lastClr="000000">
                  <a:hueOff val="0"/>
                  <a:satOff val="0"/>
                  <a:lumOff val="0"/>
                  <a:alphaOff val="0"/>
                </a:sysClr>
              </a:solidFill>
              <a:latin typeface="Calibri"/>
              <a:ea typeface="+mn-ea"/>
              <a:cs typeface="+mn-cs"/>
            </a:rPr>
            <a:t>organisation</a:t>
          </a:r>
          <a:endParaRPr lang="en-US" sz="1000" dirty="0">
            <a:solidFill>
              <a:sysClr val="windowText" lastClr="000000">
                <a:hueOff val="0"/>
                <a:satOff val="0"/>
                <a:lumOff val="0"/>
                <a:alphaOff val="0"/>
              </a:sysClr>
            </a:solidFill>
            <a:latin typeface="Calibri"/>
            <a:ea typeface="+mn-ea"/>
            <a:cs typeface="+mn-cs"/>
          </a:endParaRPr>
        </a:p>
      </dgm:t>
    </dgm:pt>
    <dgm:pt modelId="{092780F8-4349-43FD-95AB-EB571F83D5C2}" type="parTrans" cxnId="{3DB64533-C51E-437D-B0E5-CBA8E0413B1D}">
      <dgm:prSet/>
      <dgm:spPr/>
      <dgm:t>
        <a:bodyPr/>
        <a:lstStyle/>
        <a:p>
          <a:endParaRPr lang="en-US"/>
        </a:p>
      </dgm:t>
    </dgm:pt>
    <dgm:pt modelId="{E42EF42C-C3FA-4202-882C-D9370C0E62D2}" type="sibTrans" cxnId="{3DB64533-C51E-437D-B0E5-CBA8E0413B1D}">
      <dgm:prSet/>
      <dgm:spPr/>
      <dgm:t>
        <a:bodyPr/>
        <a:lstStyle/>
        <a:p>
          <a:endParaRPr lang="en-US"/>
        </a:p>
      </dgm:t>
    </dgm:pt>
    <dgm:pt modelId="{CDDD81D3-5098-472D-9BDA-97EBF332F211}">
      <dgm:prSet phldrT="[Text]" custT="1"/>
      <dgm:spPr>
        <a:xfrm>
          <a:off x="2112035" y="1473316"/>
          <a:ext cx="2103280" cy="1261968"/>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gm:spPr>
      <dgm:t>
        <a:bodyPr/>
        <a:lstStyle/>
        <a:p>
          <a:pPr>
            <a:buNone/>
          </a:pPr>
          <a:r>
            <a:rPr lang="en-US" sz="1000" dirty="0">
              <a:solidFill>
                <a:sysClr val="windowText" lastClr="000000">
                  <a:hueOff val="0"/>
                  <a:satOff val="0"/>
                  <a:lumOff val="0"/>
                  <a:alphaOff val="0"/>
                </a:sysClr>
              </a:solidFill>
              <a:latin typeface="Calibri"/>
              <a:ea typeface="+mn-ea"/>
              <a:cs typeface="+mn-cs"/>
            </a:rPr>
            <a:t>second jobs (full-time or part-time)</a:t>
          </a:r>
        </a:p>
      </dgm:t>
    </dgm:pt>
    <dgm:pt modelId="{5ABA869A-C6B1-4B6E-8198-BBB3FF39CB49}" type="parTrans" cxnId="{F00240B3-7BC6-4470-A482-F7AA788FA6B6}">
      <dgm:prSet/>
      <dgm:spPr/>
      <dgm:t>
        <a:bodyPr/>
        <a:lstStyle/>
        <a:p>
          <a:endParaRPr lang="en-US"/>
        </a:p>
      </dgm:t>
    </dgm:pt>
    <dgm:pt modelId="{29A48BBB-082F-4052-8A00-46C47CAD72C4}" type="sibTrans" cxnId="{F00240B3-7BC6-4470-A482-F7AA788FA6B6}">
      <dgm:prSet/>
      <dgm:spPr/>
      <dgm:t>
        <a:bodyPr/>
        <a:lstStyle/>
        <a:p>
          <a:endParaRPr lang="en-US"/>
        </a:p>
      </dgm:t>
    </dgm:pt>
    <dgm:pt modelId="{F78FCC8B-4F44-462F-848E-133FBF61BE66}">
      <dgm:prSet phldrT="[Text]" custT="1"/>
      <dgm:spPr>
        <a:xfrm>
          <a:off x="4425644" y="1473316"/>
          <a:ext cx="2103280" cy="1261968"/>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gm:spPr>
      <dgm:t>
        <a:bodyPr/>
        <a:lstStyle/>
        <a:p>
          <a:pPr>
            <a:buNone/>
          </a:pPr>
          <a:r>
            <a:rPr lang="en-US" sz="1000" dirty="0">
              <a:solidFill>
                <a:sysClr val="windowText" lastClr="000000">
                  <a:hueOff val="0"/>
                  <a:satOff val="0"/>
                  <a:lumOff val="0"/>
                  <a:alphaOff val="0"/>
                </a:sysClr>
              </a:solidFill>
              <a:latin typeface="Calibri"/>
              <a:ea typeface="+mn-ea"/>
              <a:cs typeface="+mn-cs"/>
            </a:rPr>
            <a:t>Your relatives who are currently employed / contracted by Prudential (including sales agents)</a:t>
          </a:r>
        </a:p>
      </dgm:t>
    </dgm:pt>
    <dgm:pt modelId="{7B7DF270-37BC-4E8D-AAF0-741B84EB2BE0}" type="parTrans" cxnId="{7C9C0C13-356C-41D9-97E2-B4DB6A122F57}">
      <dgm:prSet/>
      <dgm:spPr/>
      <dgm:t>
        <a:bodyPr/>
        <a:lstStyle/>
        <a:p>
          <a:endParaRPr lang="en-US"/>
        </a:p>
      </dgm:t>
    </dgm:pt>
    <dgm:pt modelId="{4B4070B7-C908-4B02-9F8A-E1B55A15F1F9}" type="sibTrans" cxnId="{7C9C0C13-356C-41D9-97E2-B4DB6A122F57}">
      <dgm:prSet/>
      <dgm:spPr/>
      <dgm:t>
        <a:bodyPr/>
        <a:lstStyle/>
        <a:p>
          <a:endParaRPr lang="en-US"/>
        </a:p>
      </dgm:t>
    </dgm:pt>
    <dgm:pt modelId="{A411F8A7-2E73-4B17-9E3C-30A505ED8FF7}" type="pres">
      <dgm:prSet presAssocID="{86ECB8AF-7C96-4C03-96DF-DDD349176739}" presName="diagram" presStyleCnt="0">
        <dgm:presLayoutVars>
          <dgm:dir/>
          <dgm:resizeHandles val="exact"/>
        </dgm:presLayoutVars>
      </dgm:prSet>
      <dgm:spPr/>
    </dgm:pt>
    <dgm:pt modelId="{CE08795E-0012-42EB-9E27-D90AAE0A3C93}" type="pres">
      <dgm:prSet presAssocID="{A9731D97-2F5A-4842-A588-FF72867A0219}" presName="node" presStyleLbl="node1" presStyleIdx="0" presStyleCnt="4">
        <dgm:presLayoutVars>
          <dgm:bulletEnabled val="1"/>
        </dgm:presLayoutVars>
      </dgm:prSet>
      <dgm:spPr/>
    </dgm:pt>
    <dgm:pt modelId="{95C1B1CE-D6EB-4E16-B843-94779CB83F0F}" type="pres">
      <dgm:prSet presAssocID="{0F518E0A-7C6A-4088-B890-FAADDEA803DC}" presName="sibTrans" presStyleCnt="0"/>
      <dgm:spPr/>
    </dgm:pt>
    <dgm:pt modelId="{7DB57885-ED5C-4E01-BF75-7C92A5FB5F5A}" type="pres">
      <dgm:prSet presAssocID="{E7D90BA0-FC62-4B98-8F19-CAF3CCFCC1A7}" presName="node" presStyleLbl="node1" presStyleIdx="1" presStyleCnt="4" custLinFactNeighborX="0" custLinFactNeighborY="-81">
        <dgm:presLayoutVars>
          <dgm:bulletEnabled val="1"/>
        </dgm:presLayoutVars>
      </dgm:prSet>
      <dgm:spPr/>
    </dgm:pt>
    <dgm:pt modelId="{53AC0DAD-9B23-43B5-AC6D-672E413849E3}" type="pres">
      <dgm:prSet presAssocID="{E42EF42C-C3FA-4202-882C-D9370C0E62D2}" presName="sibTrans" presStyleCnt="0"/>
      <dgm:spPr/>
    </dgm:pt>
    <dgm:pt modelId="{04F9D9C8-92C2-4250-B7FF-9DFD29E2C7E9}" type="pres">
      <dgm:prSet presAssocID="{CDDD81D3-5098-472D-9BDA-97EBF332F211}" presName="node" presStyleLbl="node1" presStyleIdx="2" presStyleCnt="4">
        <dgm:presLayoutVars>
          <dgm:bulletEnabled val="1"/>
        </dgm:presLayoutVars>
      </dgm:prSet>
      <dgm:spPr/>
    </dgm:pt>
    <dgm:pt modelId="{018A0BCD-378D-4796-93AA-76F03A20BE79}" type="pres">
      <dgm:prSet presAssocID="{29A48BBB-082F-4052-8A00-46C47CAD72C4}" presName="sibTrans" presStyleCnt="0"/>
      <dgm:spPr/>
    </dgm:pt>
    <dgm:pt modelId="{BEF5B212-F82C-4451-B12B-7E18ED494CD0}" type="pres">
      <dgm:prSet presAssocID="{F78FCC8B-4F44-462F-848E-133FBF61BE66}" presName="node" presStyleLbl="node1" presStyleIdx="3" presStyleCnt="4">
        <dgm:presLayoutVars>
          <dgm:bulletEnabled val="1"/>
        </dgm:presLayoutVars>
      </dgm:prSet>
      <dgm:spPr/>
    </dgm:pt>
  </dgm:ptLst>
  <dgm:cxnLst>
    <dgm:cxn modelId="{BFE8B006-F807-4EA2-B66B-FAFB668AD704}" type="presOf" srcId="{86ECB8AF-7C96-4C03-96DF-DDD349176739}" destId="{A411F8A7-2E73-4B17-9E3C-30A505ED8FF7}" srcOrd="0" destOrd="0" presId="urn:microsoft.com/office/officeart/2005/8/layout/default"/>
    <dgm:cxn modelId="{7C9C0C13-356C-41D9-97E2-B4DB6A122F57}" srcId="{86ECB8AF-7C96-4C03-96DF-DDD349176739}" destId="{F78FCC8B-4F44-462F-848E-133FBF61BE66}" srcOrd="3" destOrd="0" parTransId="{7B7DF270-37BC-4E8D-AAF0-741B84EB2BE0}" sibTransId="{4B4070B7-C908-4B02-9F8A-E1B55A15F1F9}"/>
    <dgm:cxn modelId="{3DB64533-C51E-437D-B0E5-CBA8E0413B1D}" srcId="{86ECB8AF-7C96-4C03-96DF-DDD349176739}" destId="{E7D90BA0-FC62-4B98-8F19-CAF3CCFCC1A7}" srcOrd="1" destOrd="0" parTransId="{092780F8-4349-43FD-95AB-EB571F83D5C2}" sibTransId="{E42EF42C-C3FA-4202-882C-D9370C0E62D2}"/>
    <dgm:cxn modelId="{0F90023A-7AA8-44B9-AD01-0996044E0744}" type="presOf" srcId="{E7D90BA0-FC62-4B98-8F19-CAF3CCFCC1A7}" destId="{7DB57885-ED5C-4E01-BF75-7C92A5FB5F5A}" srcOrd="0" destOrd="0" presId="urn:microsoft.com/office/officeart/2005/8/layout/default"/>
    <dgm:cxn modelId="{D41F1287-0063-4055-B492-13C2DF58A3ED}" type="presOf" srcId="{CDDD81D3-5098-472D-9BDA-97EBF332F211}" destId="{04F9D9C8-92C2-4250-B7FF-9DFD29E2C7E9}" srcOrd="0" destOrd="0" presId="urn:microsoft.com/office/officeart/2005/8/layout/default"/>
    <dgm:cxn modelId="{67E9F099-2D3F-47FB-BC07-4D82C9D4ED23}" type="presOf" srcId="{A9731D97-2F5A-4842-A588-FF72867A0219}" destId="{CE08795E-0012-42EB-9E27-D90AAE0A3C93}" srcOrd="0" destOrd="0" presId="urn:microsoft.com/office/officeart/2005/8/layout/default"/>
    <dgm:cxn modelId="{0A0F6CAF-740A-4F5A-9D0C-F2F84C7B172D}" srcId="{86ECB8AF-7C96-4C03-96DF-DDD349176739}" destId="{A9731D97-2F5A-4842-A588-FF72867A0219}" srcOrd="0" destOrd="0" parTransId="{BE2F0688-D73C-43B4-A530-6D4CBA4819A2}" sibTransId="{0F518E0A-7C6A-4088-B890-FAADDEA803DC}"/>
    <dgm:cxn modelId="{F00240B3-7BC6-4470-A482-F7AA788FA6B6}" srcId="{86ECB8AF-7C96-4C03-96DF-DDD349176739}" destId="{CDDD81D3-5098-472D-9BDA-97EBF332F211}" srcOrd="2" destOrd="0" parTransId="{5ABA869A-C6B1-4B6E-8198-BBB3FF39CB49}" sibTransId="{29A48BBB-082F-4052-8A00-46C47CAD72C4}"/>
    <dgm:cxn modelId="{2777C6E6-3C5C-4236-B084-FF2C85A464FA}" type="presOf" srcId="{F78FCC8B-4F44-462F-848E-133FBF61BE66}" destId="{BEF5B212-F82C-4451-B12B-7E18ED494CD0}" srcOrd="0" destOrd="0" presId="urn:microsoft.com/office/officeart/2005/8/layout/default"/>
    <dgm:cxn modelId="{EC1E60F3-F6DF-4CBB-BFB3-5CB0DCE5E1DC}" type="presParOf" srcId="{A411F8A7-2E73-4B17-9E3C-30A505ED8FF7}" destId="{CE08795E-0012-42EB-9E27-D90AAE0A3C93}" srcOrd="0" destOrd="0" presId="urn:microsoft.com/office/officeart/2005/8/layout/default"/>
    <dgm:cxn modelId="{4ADC1B7F-3C24-4499-9E93-C7422AA4CBCC}" type="presParOf" srcId="{A411F8A7-2E73-4B17-9E3C-30A505ED8FF7}" destId="{95C1B1CE-D6EB-4E16-B843-94779CB83F0F}" srcOrd="1" destOrd="0" presId="urn:microsoft.com/office/officeart/2005/8/layout/default"/>
    <dgm:cxn modelId="{B2F3DFF5-F48F-49A9-9D7F-65E68E71CF4E}" type="presParOf" srcId="{A411F8A7-2E73-4B17-9E3C-30A505ED8FF7}" destId="{7DB57885-ED5C-4E01-BF75-7C92A5FB5F5A}" srcOrd="2" destOrd="0" presId="urn:microsoft.com/office/officeart/2005/8/layout/default"/>
    <dgm:cxn modelId="{64523E45-28C4-4935-9DF4-C22EE65D57E8}" type="presParOf" srcId="{A411F8A7-2E73-4B17-9E3C-30A505ED8FF7}" destId="{53AC0DAD-9B23-43B5-AC6D-672E413849E3}" srcOrd="3" destOrd="0" presId="urn:microsoft.com/office/officeart/2005/8/layout/default"/>
    <dgm:cxn modelId="{C91B9356-A2B8-43C7-8171-2EEA1FCAA65C}" type="presParOf" srcId="{A411F8A7-2E73-4B17-9E3C-30A505ED8FF7}" destId="{04F9D9C8-92C2-4250-B7FF-9DFD29E2C7E9}" srcOrd="4" destOrd="0" presId="urn:microsoft.com/office/officeart/2005/8/layout/default"/>
    <dgm:cxn modelId="{F501CF64-73F9-4644-BB85-411B85D24EFD}" type="presParOf" srcId="{A411F8A7-2E73-4B17-9E3C-30A505ED8FF7}" destId="{018A0BCD-378D-4796-93AA-76F03A20BE79}" srcOrd="5" destOrd="0" presId="urn:microsoft.com/office/officeart/2005/8/layout/default"/>
    <dgm:cxn modelId="{F006906C-8F98-4FCE-B1FF-575748031DFF}" type="presParOf" srcId="{A411F8A7-2E73-4B17-9E3C-30A505ED8FF7}" destId="{BEF5B212-F82C-4451-B12B-7E18ED494CD0}" srcOrd="6" destOrd="0" presId="urn:microsoft.com/office/officeart/2005/8/layout/default"/>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2991982-8B85-4E35-907A-B3420B635F15}"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3CAC82BB-7C9B-4E7B-A7D2-E84C21A6EFBD}">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Staff background check, third-party due diligence and personal COI check </a:t>
          </a:r>
        </a:p>
      </dgm:t>
    </dgm:pt>
    <dgm:pt modelId="{05054BED-622D-4DD1-B5EE-826EFE7B162C}" type="parTrans" cxnId="{075FED27-D46A-487A-8837-3DF9844A577E}">
      <dgm:prSet/>
      <dgm:spPr/>
      <dgm:t>
        <a:bodyPr/>
        <a:lstStyle/>
        <a:p>
          <a:endParaRPr lang="en-US"/>
        </a:p>
      </dgm:t>
    </dgm:pt>
    <dgm:pt modelId="{DADDB4EF-DB99-4942-B52D-4BFBB1056F30}" type="sibTrans" cxnId="{075FED27-D46A-487A-8837-3DF9844A577E}">
      <dgm:prSet/>
      <dgm:spPr/>
      <dgm:t>
        <a:bodyPr/>
        <a:lstStyle/>
        <a:p>
          <a:endParaRPr lang="en-US"/>
        </a:p>
      </dgm:t>
    </dgm:pt>
    <dgm:pt modelId="{B9635684-6C2B-4FB7-9B73-41FEB4EDFDC3}">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In addition to employees' self-declaration, the company conducts staff background checks covering e.g. External Directorships. Furthermore, due diligence is performed on critical third-party engagements that take into consideration the shareholding, directorship and beneficial ownership of such third-parties. Back-end personal COI checks may be performed on a periodic basis on third-parties to identify potential undeclared external interests or relationships from staff.</a:t>
          </a:r>
        </a:p>
      </dgm:t>
    </dgm:pt>
    <dgm:pt modelId="{F53C0ED0-8020-4D0C-B17E-1E6A926E6CFC}" type="parTrans" cxnId="{17FF40BC-52B4-47B5-B91D-45073037D3D8}">
      <dgm:prSet/>
      <dgm:spPr/>
      <dgm:t>
        <a:bodyPr/>
        <a:lstStyle/>
        <a:p>
          <a:endParaRPr lang="en-US"/>
        </a:p>
      </dgm:t>
    </dgm:pt>
    <dgm:pt modelId="{4C99E952-31A3-4A3C-A1D2-113DF82C2DC6}" type="sibTrans" cxnId="{17FF40BC-52B4-47B5-B91D-45073037D3D8}">
      <dgm:prSet/>
      <dgm:spPr/>
      <dgm:t>
        <a:bodyPr/>
        <a:lstStyle/>
        <a:p>
          <a:endParaRPr lang="en-US"/>
        </a:p>
      </dgm:t>
    </dgm:pt>
    <dgm:pt modelId="{CBF9FD76-46DC-4EC8-B204-0884D22C985F}">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GB" sz="1200" b="1" kern="1200" dirty="0">
              <a:solidFill>
                <a:sysClr val="windowText" lastClr="000000">
                  <a:hueOff val="0"/>
                  <a:satOff val="0"/>
                  <a:lumOff val="0"/>
                  <a:alphaOff val="0"/>
                </a:sysClr>
              </a:solidFill>
              <a:latin typeface="Calibri"/>
              <a:ea typeface="+mn-ea"/>
              <a:cs typeface="+mn-cs"/>
            </a:rPr>
            <a:t>Information barriers</a:t>
          </a:r>
          <a:endParaRPr lang="en-US" sz="1200" b="1" kern="1200" dirty="0">
            <a:solidFill>
              <a:sysClr val="windowText" lastClr="000000">
                <a:hueOff val="0"/>
                <a:satOff val="0"/>
                <a:lumOff val="0"/>
                <a:alphaOff val="0"/>
              </a:sysClr>
            </a:solidFill>
            <a:latin typeface="Calibri"/>
            <a:ea typeface="+mn-ea"/>
            <a:cs typeface="+mn-cs"/>
          </a:endParaRPr>
        </a:p>
      </dgm:t>
    </dgm:pt>
    <dgm:pt modelId="{E861571E-3C95-4B52-AA71-E9432605F40D}" type="parTrans" cxnId="{6F03BF79-3489-4441-B9D8-37D2F6587929}">
      <dgm:prSet/>
      <dgm:spPr/>
      <dgm:t>
        <a:bodyPr/>
        <a:lstStyle/>
        <a:p>
          <a:endParaRPr lang="en-US"/>
        </a:p>
      </dgm:t>
    </dgm:pt>
    <dgm:pt modelId="{CD9CA4DE-CB96-4B4F-96D3-CDDDC2264EE8}" type="sibTrans" cxnId="{6F03BF79-3489-4441-B9D8-37D2F6587929}">
      <dgm:prSet/>
      <dgm:spPr/>
      <dgm:t>
        <a:bodyPr/>
        <a:lstStyle/>
        <a:p>
          <a:endParaRPr lang="en-US"/>
        </a:p>
      </dgm:t>
    </dgm:pt>
    <dgm:pt modelId="{7DC9BD92-4F13-4940-A65F-5C1F5D272121}">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GB" sz="1200" b="1" kern="1200" dirty="0">
              <a:solidFill>
                <a:sysClr val="windowText" lastClr="000000">
                  <a:hueOff val="0"/>
                  <a:satOff val="0"/>
                  <a:lumOff val="0"/>
                  <a:alphaOff val="0"/>
                </a:sysClr>
              </a:solidFill>
              <a:latin typeface="Calibri"/>
              <a:ea typeface="+mn-ea"/>
              <a:cs typeface="+mn-cs"/>
            </a:rPr>
            <a:t>Segregation of duties</a:t>
          </a:r>
          <a:endParaRPr lang="en-US" sz="1200" b="1" kern="1200" dirty="0">
            <a:solidFill>
              <a:sysClr val="windowText" lastClr="000000">
                <a:hueOff val="0"/>
                <a:satOff val="0"/>
                <a:lumOff val="0"/>
                <a:alphaOff val="0"/>
              </a:sysClr>
            </a:solidFill>
            <a:latin typeface="Calibri"/>
            <a:ea typeface="+mn-ea"/>
            <a:cs typeface="+mn-cs"/>
          </a:endParaRPr>
        </a:p>
      </dgm:t>
    </dgm:pt>
    <dgm:pt modelId="{A4DDC58E-D0EF-44D6-B73C-839A5630FC75}" type="parTrans" cxnId="{F5BF1CE9-6A02-486B-BBAE-CE9BC6DF218B}">
      <dgm:prSet/>
      <dgm:spPr/>
      <dgm:t>
        <a:bodyPr/>
        <a:lstStyle/>
        <a:p>
          <a:endParaRPr lang="en-US"/>
        </a:p>
      </dgm:t>
    </dgm:pt>
    <dgm:pt modelId="{CC089578-F9D3-4987-8209-7C9F38936075}" type="sibTrans" cxnId="{F5BF1CE9-6A02-486B-BBAE-CE9BC6DF218B}">
      <dgm:prSet/>
      <dgm:spPr/>
      <dgm:t>
        <a:bodyPr/>
        <a:lstStyle/>
        <a:p>
          <a:endParaRPr lang="en-US"/>
        </a:p>
      </dgm:t>
    </dgm:pt>
    <dgm:pt modelId="{AF1672F0-4579-435F-B023-5E2266DCDA31}">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endParaRPr lang="en-US" sz="1100" kern="1200" dirty="0">
            <a:solidFill>
              <a:sysClr val="windowText" lastClr="000000">
                <a:hueOff val="0"/>
                <a:satOff val="0"/>
                <a:lumOff val="0"/>
                <a:alphaOff val="0"/>
              </a:sysClr>
            </a:solidFill>
            <a:latin typeface="Calibri"/>
            <a:ea typeface="+mn-ea"/>
            <a:cs typeface="+mn-cs"/>
          </a:endParaRPr>
        </a:p>
      </dgm:t>
    </dgm:pt>
    <dgm:pt modelId="{751FE111-5A41-46DA-8790-5F44BDBF09A1}" type="parTrans" cxnId="{CBE94E9A-4812-4451-9849-D418ACD2C861}">
      <dgm:prSet/>
      <dgm:spPr/>
      <dgm:t>
        <a:bodyPr/>
        <a:lstStyle/>
        <a:p>
          <a:endParaRPr lang="en-US"/>
        </a:p>
      </dgm:t>
    </dgm:pt>
    <dgm:pt modelId="{528DB133-8EBD-4B9E-90AE-BB723845F420}" type="sibTrans" cxnId="{CBE94E9A-4812-4451-9849-D418ACD2C861}">
      <dgm:prSet/>
      <dgm:spPr/>
      <dgm:t>
        <a:bodyPr/>
        <a:lstStyle/>
        <a:p>
          <a:endParaRPr lang="en-US"/>
        </a:p>
      </dgm:t>
    </dgm:pt>
    <dgm:pt modelId="{B622ED7D-24ED-4B47-98B9-FC8A13EC29B7}">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Information barriers are designed to control the flow of information between different parts of an </a:t>
          </a:r>
          <a:r>
            <a:rPr lang="en-US" sz="1100" kern="1200" dirty="0" err="1">
              <a:solidFill>
                <a:sysClr val="windowText" lastClr="000000">
                  <a:hueOff val="0"/>
                  <a:satOff val="0"/>
                  <a:lumOff val="0"/>
                  <a:alphaOff val="0"/>
                </a:sysClr>
              </a:solidFill>
              <a:latin typeface="Calibri"/>
              <a:ea typeface="+mn-ea"/>
              <a:cs typeface="+mn-cs"/>
            </a:rPr>
            <a:t>organisation</a:t>
          </a:r>
          <a:r>
            <a:rPr lang="en-US" sz="1100" kern="1200" dirty="0">
              <a:solidFill>
                <a:sysClr val="windowText" lastClr="000000">
                  <a:hueOff val="0"/>
                  <a:satOff val="0"/>
                  <a:lumOff val="0"/>
                  <a:alphaOff val="0"/>
                </a:sysClr>
              </a:solidFill>
              <a:latin typeface="Calibri"/>
              <a:ea typeface="+mn-ea"/>
              <a:cs typeface="+mn-cs"/>
            </a:rPr>
            <a:t>. These barriers can be physical or procedural. Examples are physical separation barriers (by floors, walls, dedicated rooms) of functions within Prudential, and effective IT security control procedures that allow only certain groups of staff to access certain information.</a:t>
          </a:r>
        </a:p>
      </dgm:t>
    </dgm:pt>
    <dgm:pt modelId="{1A2BAA23-DF54-49FA-8310-EF3EACC65166}" type="parTrans" cxnId="{F4F64A66-8BC9-45CE-ACB4-B7E54F42C357}">
      <dgm:prSet/>
      <dgm:spPr/>
      <dgm:t>
        <a:bodyPr/>
        <a:lstStyle/>
        <a:p>
          <a:endParaRPr lang="en-US"/>
        </a:p>
      </dgm:t>
    </dgm:pt>
    <dgm:pt modelId="{D5CB4542-33D2-4DAC-973E-C6FDEE019C45}" type="sibTrans" cxnId="{F4F64A66-8BC9-45CE-ACB4-B7E54F42C357}">
      <dgm:prSet/>
      <dgm:spPr/>
      <dgm:t>
        <a:bodyPr/>
        <a:lstStyle/>
        <a:p>
          <a:endParaRPr lang="en-US"/>
        </a:p>
      </dgm:t>
    </dgm:pt>
    <dgm:pt modelId="{267B21D7-129F-43E1-8276-0725AA89FFA7}">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Each employee's role and responsibilities should be clearly defined and should not require an employee to be involved in separate services or activities that would impair the proper management of conflicts. For example, it would be inappropriate for an employee to act as both the preparer and approver on business transactions and deals. Generally, these duties must be segregated.</a:t>
          </a:r>
        </a:p>
      </dgm:t>
    </dgm:pt>
    <dgm:pt modelId="{C09238BB-7800-4C9A-AB05-D9D383B75F35}" type="parTrans" cxnId="{82D70F5D-E6B4-4DF3-82E2-D76D168E55F5}">
      <dgm:prSet/>
      <dgm:spPr/>
      <dgm:t>
        <a:bodyPr/>
        <a:lstStyle/>
        <a:p>
          <a:endParaRPr lang="en-US"/>
        </a:p>
      </dgm:t>
    </dgm:pt>
    <dgm:pt modelId="{75ABB927-0046-4FE2-B81F-0CEAB54EEB8D}" type="sibTrans" cxnId="{82D70F5D-E6B4-4DF3-82E2-D76D168E55F5}">
      <dgm:prSet/>
      <dgm:spPr/>
      <dgm:t>
        <a:bodyPr/>
        <a:lstStyle/>
        <a:p>
          <a:endParaRPr lang="en-US"/>
        </a:p>
      </dgm:t>
    </dgm:pt>
    <dgm:pt modelId="{F4A0B63F-2F4E-4C85-8E9D-ED7EFAC7A6A0}" type="pres">
      <dgm:prSet presAssocID="{92991982-8B85-4E35-907A-B3420B635F15}" presName="linear" presStyleCnt="0">
        <dgm:presLayoutVars>
          <dgm:dir/>
          <dgm:animLvl val="lvl"/>
          <dgm:resizeHandles val="exact"/>
        </dgm:presLayoutVars>
      </dgm:prSet>
      <dgm:spPr/>
    </dgm:pt>
    <dgm:pt modelId="{51617192-B0A9-4AF2-8E25-332342FE89F5}" type="pres">
      <dgm:prSet presAssocID="{3CAC82BB-7C9B-4E7B-A7D2-E84C21A6EFBD}" presName="parentLin" presStyleCnt="0"/>
      <dgm:spPr/>
    </dgm:pt>
    <dgm:pt modelId="{99DDA57F-62ED-4CFD-98C0-E340089AFFFA}" type="pres">
      <dgm:prSet presAssocID="{3CAC82BB-7C9B-4E7B-A7D2-E84C21A6EFBD}" presName="parentLeftMargin" presStyleLbl="node1" presStyleIdx="0" presStyleCnt="3"/>
      <dgm:spPr/>
    </dgm:pt>
    <dgm:pt modelId="{8837F4A7-BBF5-45B1-8ED8-7AFE8174FC6C}" type="pres">
      <dgm:prSet presAssocID="{3CAC82BB-7C9B-4E7B-A7D2-E84C21A6EFBD}" presName="parentText" presStyleLbl="node1" presStyleIdx="0" presStyleCnt="3">
        <dgm:presLayoutVars>
          <dgm:chMax val="0"/>
          <dgm:bulletEnabled val="1"/>
        </dgm:presLayoutVars>
      </dgm:prSet>
      <dgm:spPr>
        <a:xfrm>
          <a:off x="406354" y="67385"/>
          <a:ext cx="5688968" cy="324720"/>
        </a:xfrm>
        <a:prstGeom prst="roundRect">
          <a:avLst/>
        </a:prstGeom>
      </dgm:spPr>
    </dgm:pt>
    <dgm:pt modelId="{776B6038-77A9-44EA-B7D8-1980616873F1}" type="pres">
      <dgm:prSet presAssocID="{3CAC82BB-7C9B-4E7B-A7D2-E84C21A6EFBD}" presName="negativeSpace" presStyleCnt="0"/>
      <dgm:spPr/>
    </dgm:pt>
    <dgm:pt modelId="{CC5EB62A-EB1E-4BA8-8EA7-6ECE8E66EC04}" type="pres">
      <dgm:prSet presAssocID="{3CAC82BB-7C9B-4E7B-A7D2-E84C21A6EFBD}" presName="childText" presStyleLbl="conFgAcc1" presStyleIdx="0" presStyleCnt="3">
        <dgm:presLayoutVars>
          <dgm:bulletEnabled val="1"/>
        </dgm:presLayoutVars>
      </dgm:prSet>
      <dgm:spPr>
        <a:xfrm>
          <a:off x="0" y="229745"/>
          <a:ext cx="8127098" cy="1091475"/>
        </a:xfrm>
        <a:prstGeom prst="rect">
          <a:avLst/>
        </a:prstGeom>
      </dgm:spPr>
    </dgm:pt>
    <dgm:pt modelId="{2747D976-6562-45AA-9410-554DA023F104}" type="pres">
      <dgm:prSet presAssocID="{DADDB4EF-DB99-4942-B52D-4BFBB1056F30}" presName="spaceBetweenRectangles" presStyleCnt="0"/>
      <dgm:spPr/>
    </dgm:pt>
    <dgm:pt modelId="{F352174E-9495-4882-84D7-DCC2121F8EA8}" type="pres">
      <dgm:prSet presAssocID="{CBF9FD76-46DC-4EC8-B204-0884D22C985F}" presName="parentLin" presStyleCnt="0"/>
      <dgm:spPr/>
    </dgm:pt>
    <dgm:pt modelId="{EA9392B5-5A58-4182-949A-49593D921AD7}" type="pres">
      <dgm:prSet presAssocID="{CBF9FD76-46DC-4EC8-B204-0884D22C985F}" presName="parentLeftMargin" presStyleLbl="node1" presStyleIdx="0" presStyleCnt="3"/>
      <dgm:spPr/>
    </dgm:pt>
    <dgm:pt modelId="{FE3F5E12-620E-4630-868E-D1F57493E3DB}" type="pres">
      <dgm:prSet presAssocID="{CBF9FD76-46DC-4EC8-B204-0884D22C985F}" presName="parentText" presStyleLbl="node1" presStyleIdx="1" presStyleCnt="3">
        <dgm:presLayoutVars>
          <dgm:chMax val="0"/>
          <dgm:bulletEnabled val="1"/>
        </dgm:presLayoutVars>
      </dgm:prSet>
      <dgm:spPr>
        <a:xfrm>
          <a:off x="406354" y="1380620"/>
          <a:ext cx="5688968" cy="324720"/>
        </a:xfrm>
        <a:prstGeom prst="roundRect">
          <a:avLst/>
        </a:prstGeom>
      </dgm:spPr>
    </dgm:pt>
    <dgm:pt modelId="{9A608877-7435-4825-A810-8E40EE5E0C6B}" type="pres">
      <dgm:prSet presAssocID="{CBF9FD76-46DC-4EC8-B204-0884D22C985F}" presName="negativeSpace" presStyleCnt="0"/>
      <dgm:spPr/>
    </dgm:pt>
    <dgm:pt modelId="{DF5270A6-DBE2-4719-BADA-D51E0CEF0092}" type="pres">
      <dgm:prSet presAssocID="{CBF9FD76-46DC-4EC8-B204-0884D22C985F}" presName="childText" presStyleLbl="conFgAcc1" presStyleIdx="1" presStyleCnt="3">
        <dgm:presLayoutVars>
          <dgm:bulletEnabled val="1"/>
        </dgm:presLayoutVars>
      </dgm:prSet>
      <dgm:spPr>
        <a:xfrm>
          <a:off x="0" y="1542980"/>
          <a:ext cx="8127098" cy="779625"/>
        </a:xfrm>
        <a:prstGeom prst="rect">
          <a:avLst/>
        </a:prstGeom>
      </dgm:spPr>
    </dgm:pt>
    <dgm:pt modelId="{0EF5B6BA-E9BC-4121-9B94-2EEFF0BFF21D}" type="pres">
      <dgm:prSet presAssocID="{CD9CA4DE-CB96-4B4F-96D3-CDDDC2264EE8}" presName="spaceBetweenRectangles" presStyleCnt="0"/>
      <dgm:spPr/>
    </dgm:pt>
    <dgm:pt modelId="{00A224D7-803E-455D-9C58-66E7747348F7}" type="pres">
      <dgm:prSet presAssocID="{7DC9BD92-4F13-4940-A65F-5C1F5D272121}" presName="parentLin" presStyleCnt="0"/>
      <dgm:spPr/>
    </dgm:pt>
    <dgm:pt modelId="{A16200C1-FC80-43F6-8ECE-01EDA15D0411}" type="pres">
      <dgm:prSet presAssocID="{7DC9BD92-4F13-4940-A65F-5C1F5D272121}" presName="parentLeftMargin" presStyleLbl="node1" presStyleIdx="1" presStyleCnt="3"/>
      <dgm:spPr/>
    </dgm:pt>
    <dgm:pt modelId="{DCAF682F-E13A-41BC-9490-ECF4893DFFE2}" type="pres">
      <dgm:prSet presAssocID="{7DC9BD92-4F13-4940-A65F-5C1F5D272121}" presName="parentText" presStyleLbl="node1" presStyleIdx="2" presStyleCnt="3">
        <dgm:presLayoutVars>
          <dgm:chMax val="0"/>
          <dgm:bulletEnabled val="1"/>
        </dgm:presLayoutVars>
      </dgm:prSet>
      <dgm:spPr>
        <a:xfrm>
          <a:off x="406354" y="2382005"/>
          <a:ext cx="5688968" cy="324720"/>
        </a:xfrm>
        <a:prstGeom prst="roundRect">
          <a:avLst/>
        </a:prstGeom>
      </dgm:spPr>
    </dgm:pt>
    <dgm:pt modelId="{5598C4CB-70C6-4E0A-9EDA-BE0915CE629E}" type="pres">
      <dgm:prSet presAssocID="{7DC9BD92-4F13-4940-A65F-5C1F5D272121}" presName="negativeSpace" presStyleCnt="0"/>
      <dgm:spPr/>
    </dgm:pt>
    <dgm:pt modelId="{C4DE704F-556D-407F-90BE-C5EAE9274229}" type="pres">
      <dgm:prSet presAssocID="{7DC9BD92-4F13-4940-A65F-5C1F5D272121}" presName="childText" presStyleLbl="conFgAcc1" presStyleIdx="2" presStyleCnt="3" custLinFactNeighborX="209" custLinFactNeighborY="83433">
        <dgm:presLayoutVars>
          <dgm:bulletEnabled val="1"/>
        </dgm:presLayoutVars>
      </dgm:prSet>
      <dgm:spPr>
        <a:xfrm>
          <a:off x="0" y="2544365"/>
          <a:ext cx="8127098" cy="1108800"/>
        </a:xfrm>
        <a:prstGeom prst="rect">
          <a:avLst/>
        </a:prstGeom>
      </dgm:spPr>
    </dgm:pt>
  </dgm:ptLst>
  <dgm:cxnLst>
    <dgm:cxn modelId="{22C1540F-47F9-416C-B248-200A88B9D893}" type="presOf" srcId="{3CAC82BB-7C9B-4E7B-A7D2-E84C21A6EFBD}" destId="{99DDA57F-62ED-4CFD-98C0-E340089AFFFA}" srcOrd="0" destOrd="0" presId="urn:microsoft.com/office/officeart/2005/8/layout/list1"/>
    <dgm:cxn modelId="{075FED27-D46A-487A-8837-3DF9844A577E}" srcId="{92991982-8B85-4E35-907A-B3420B635F15}" destId="{3CAC82BB-7C9B-4E7B-A7D2-E84C21A6EFBD}" srcOrd="0" destOrd="0" parTransId="{05054BED-622D-4DD1-B5EE-826EFE7B162C}" sibTransId="{DADDB4EF-DB99-4942-B52D-4BFBB1056F30}"/>
    <dgm:cxn modelId="{5FF9A039-017A-470C-9769-B4C7AC5222F8}" type="presOf" srcId="{B9635684-6C2B-4FB7-9B73-41FEB4EDFDC3}" destId="{CC5EB62A-EB1E-4BA8-8EA7-6ECE8E66EC04}" srcOrd="0" destOrd="0" presId="urn:microsoft.com/office/officeart/2005/8/layout/list1"/>
    <dgm:cxn modelId="{D467B55B-9426-4CD8-B913-A9C0CABF12FB}" type="presOf" srcId="{7DC9BD92-4F13-4940-A65F-5C1F5D272121}" destId="{A16200C1-FC80-43F6-8ECE-01EDA15D0411}" srcOrd="0" destOrd="0" presId="urn:microsoft.com/office/officeart/2005/8/layout/list1"/>
    <dgm:cxn modelId="{82D70F5D-E6B4-4DF3-82E2-D76D168E55F5}" srcId="{7DC9BD92-4F13-4940-A65F-5C1F5D272121}" destId="{267B21D7-129F-43E1-8276-0725AA89FFA7}" srcOrd="0" destOrd="0" parTransId="{C09238BB-7800-4C9A-AB05-D9D383B75F35}" sibTransId="{75ABB927-0046-4FE2-B81F-0CEAB54EEB8D}"/>
    <dgm:cxn modelId="{F4F64A66-8BC9-45CE-ACB4-B7E54F42C357}" srcId="{CBF9FD76-46DC-4EC8-B204-0884D22C985F}" destId="{B622ED7D-24ED-4B47-98B9-FC8A13EC29B7}" srcOrd="0" destOrd="0" parTransId="{1A2BAA23-DF54-49FA-8310-EF3EACC65166}" sibTransId="{D5CB4542-33D2-4DAC-973E-C6FDEE019C45}"/>
    <dgm:cxn modelId="{C9CF304A-7F94-4970-8155-A77B9831824F}" type="presOf" srcId="{7DC9BD92-4F13-4940-A65F-5C1F5D272121}" destId="{DCAF682F-E13A-41BC-9490-ECF4893DFFE2}" srcOrd="1" destOrd="0" presId="urn:microsoft.com/office/officeart/2005/8/layout/list1"/>
    <dgm:cxn modelId="{6F03BF79-3489-4441-B9D8-37D2F6587929}" srcId="{92991982-8B85-4E35-907A-B3420B635F15}" destId="{CBF9FD76-46DC-4EC8-B204-0884D22C985F}" srcOrd="1" destOrd="0" parTransId="{E861571E-3C95-4B52-AA71-E9432605F40D}" sibTransId="{CD9CA4DE-CB96-4B4F-96D3-CDDDC2264EE8}"/>
    <dgm:cxn modelId="{446AC98C-F79A-49DC-BCC8-6B311E7970E9}" type="presOf" srcId="{CBF9FD76-46DC-4EC8-B204-0884D22C985F}" destId="{FE3F5E12-620E-4630-868E-D1F57493E3DB}" srcOrd="1" destOrd="0" presId="urn:microsoft.com/office/officeart/2005/8/layout/list1"/>
    <dgm:cxn modelId="{453FE08F-EF4D-44C2-8191-C198D3A04C95}" type="presOf" srcId="{CBF9FD76-46DC-4EC8-B204-0884D22C985F}" destId="{EA9392B5-5A58-4182-949A-49593D921AD7}" srcOrd="0" destOrd="0" presId="urn:microsoft.com/office/officeart/2005/8/layout/list1"/>
    <dgm:cxn modelId="{00DBBD91-97B4-472B-82E9-EFB65666CDFE}" type="presOf" srcId="{B622ED7D-24ED-4B47-98B9-FC8A13EC29B7}" destId="{DF5270A6-DBE2-4719-BADA-D51E0CEF0092}" srcOrd="0" destOrd="0" presId="urn:microsoft.com/office/officeart/2005/8/layout/list1"/>
    <dgm:cxn modelId="{CBE94E9A-4812-4451-9849-D418ACD2C861}" srcId="{7DC9BD92-4F13-4940-A65F-5C1F5D272121}" destId="{AF1672F0-4579-435F-B023-5E2266DCDA31}" srcOrd="1" destOrd="0" parTransId="{751FE111-5A41-46DA-8790-5F44BDBF09A1}" sibTransId="{528DB133-8EBD-4B9E-90AE-BB723845F420}"/>
    <dgm:cxn modelId="{E342E99B-3ACC-416F-8064-B3C610EB03FA}" type="presOf" srcId="{AF1672F0-4579-435F-B023-5E2266DCDA31}" destId="{C4DE704F-556D-407F-90BE-C5EAE9274229}" srcOrd="0" destOrd="1" presId="urn:microsoft.com/office/officeart/2005/8/layout/list1"/>
    <dgm:cxn modelId="{17FF40BC-52B4-47B5-B91D-45073037D3D8}" srcId="{3CAC82BB-7C9B-4E7B-A7D2-E84C21A6EFBD}" destId="{B9635684-6C2B-4FB7-9B73-41FEB4EDFDC3}" srcOrd="0" destOrd="0" parTransId="{F53C0ED0-8020-4D0C-B17E-1E6A926E6CFC}" sibTransId="{4C99E952-31A3-4A3C-A1D2-113DF82C2DC6}"/>
    <dgm:cxn modelId="{827D99CA-A554-47BF-BA75-A12558520481}" type="presOf" srcId="{3CAC82BB-7C9B-4E7B-A7D2-E84C21A6EFBD}" destId="{8837F4A7-BBF5-45B1-8ED8-7AFE8174FC6C}" srcOrd="1" destOrd="0" presId="urn:microsoft.com/office/officeart/2005/8/layout/list1"/>
    <dgm:cxn modelId="{0728FAE1-050C-4A16-8094-ABD6F1C35E8E}" type="presOf" srcId="{267B21D7-129F-43E1-8276-0725AA89FFA7}" destId="{C4DE704F-556D-407F-90BE-C5EAE9274229}" srcOrd="0" destOrd="0" presId="urn:microsoft.com/office/officeart/2005/8/layout/list1"/>
    <dgm:cxn modelId="{F5BF1CE9-6A02-486B-BBAE-CE9BC6DF218B}" srcId="{92991982-8B85-4E35-907A-B3420B635F15}" destId="{7DC9BD92-4F13-4940-A65F-5C1F5D272121}" srcOrd="2" destOrd="0" parTransId="{A4DDC58E-D0EF-44D6-B73C-839A5630FC75}" sibTransId="{CC089578-F9D3-4987-8209-7C9F38936075}"/>
    <dgm:cxn modelId="{ACB42EED-E447-4864-B929-BF4300F04007}" type="presOf" srcId="{92991982-8B85-4E35-907A-B3420B635F15}" destId="{F4A0B63F-2F4E-4C85-8E9D-ED7EFAC7A6A0}" srcOrd="0" destOrd="0" presId="urn:microsoft.com/office/officeart/2005/8/layout/list1"/>
    <dgm:cxn modelId="{F33EAE00-8142-46E3-AFDE-9F3E204745A0}" type="presParOf" srcId="{F4A0B63F-2F4E-4C85-8E9D-ED7EFAC7A6A0}" destId="{51617192-B0A9-4AF2-8E25-332342FE89F5}" srcOrd="0" destOrd="0" presId="urn:microsoft.com/office/officeart/2005/8/layout/list1"/>
    <dgm:cxn modelId="{5219F752-EA8F-4AB0-A3AA-765301B02323}" type="presParOf" srcId="{51617192-B0A9-4AF2-8E25-332342FE89F5}" destId="{99DDA57F-62ED-4CFD-98C0-E340089AFFFA}" srcOrd="0" destOrd="0" presId="urn:microsoft.com/office/officeart/2005/8/layout/list1"/>
    <dgm:cxn modelId="{E48BD9D7-6A32-490B-B8F2-A54E3F42C92F}" type="presParOf" srcId="{51617192-B0A9-4AF2-8E25-332342FE89F5}" destId="{8837F4A7-BBF5-45B1-8ED8-7AFE8174FC6C}" srcOrd="1" destOrd="0" presId="urn:microsoft.com/office/officeart/2005/8/layout/list1"/>
    <dgm:cxn modelId="{4AB35590-530B-45B8-9162-292B16F9DAD1}" type="presParOf" srcId="{F4A0B63F-2F4E-4C85-8E9D-ED7EFAC7A6A0}" destId="{776B6038-77A9-44EA-B7D8-1980616873F1}" srcOrd="1" destOrd="0" presId="urn:microsoft.com/office/officeart/2005/8/layout/list1"/>
    <dgm:cxn modelId="{FF17E9EC-5045-43B2-8E6B-A9178E7EC08E}" type="presParOf" srcId="{F4A0B63F-2F4E-4C85-8E9D-ED7EFAC7A6A0}" destId="{CC5EB62A-EB1E-4BA8-8EA7-6ECE8E66EC04}" srcOrd="2" destOrd="0" presId="urn:microsoft.com/office/officeart/2005/8/layout/list1"/>
    <dgm:cxn modelId="{D3666414-F992-4F45-8E52-116338540FF9}" type="presParOf" srcId="{F4A0B63F-2F4E-4C85-8E9D-ED7EFAC7A6A0}" destId="{2747D976-6562-45AA-9410-554DA023F104}" srcOrd="3" destOrd="0" presId="urn:microsoft.com/office/officeart/2005/8/layout/list1"/>
    <dgm:cxn modelId="{555F7A40-C7BF-489D-9F45-0F6F7E480B10}" type="presParOf" srcId="{F4A0B63F-2F4E-4C85-8E9D-ED7EFAC7A6A0}" destId="{F352174E-9495-4882-84D7-DCC2121F8EA8}" srcOrd="4" destOrd="0" presId="urn:microsoft.com/office/officeart/2005/8/layout/list1"/>
    <dgm:cxn modelId="{3735474C-C42A-477F-881D-06938DA8D9A4}" type="presParOf" srcId="{F352174E-9495-4882-84D7-DCC2121F8EA8}" destId="{EA9392B5-5A58-4182-949A-49593D921AD7}" srcOrd="0" destOrd="0" presId="urn:microsoft.com/office/officeart/2005/8/layout/list1"/>
    <dgm:cxn modelId="{78AC2730-733F-4C31-9671-F14C0150B1E4}" type="presParOf" srcId="{F352174E-9495-4882-84D7-DCC2121F8EA8}" destId="{FE3F5E12-620E-4630-868E-D1F57493E3DB}" srcOrd="1" destOrd="0" presId="urn:microsoft.com/office/officeart/2005/8/layout/list1"/>
    <dgm:cxn modelId="{76A507E1-1C4F-4B47-B065-A51661D66D36}" type="presParOf" srcId="{F4A0B63F-2F4E-4C85-8E9D-ED7EFAC7A6A0}" destId="{9A608877-7435-4825-A810-8E40EE5E0C6B}" srcOrd="5" destOrd="0" presId="urn:microsoft.com/office/officeart/2005/8/layout/list1"/>
    <dgm:cxn modelId="{5645B2C1-4B0B-49CF-8276-86F604B4F1F3}" type="presParOf" srcId="{F4A0B63F-2F4E-4C85-8E9D-ED7EFAC7A6A0}" destId="{DF5270A6-DBE2-4719-BADA-D51E0CEF0092}" srcOrd="6" destOrd="0" presId="urn:microsoft.com/office/officeart/2005/8/layout/list1"/>
    <dgm:cxn modelId="{5D3188BF-93C6-440B-85D7-0303AB348A5F}" type="presParOf" srcId="{F4A0B63F-2F4E-4C85-8E9D-ED7EFAC7A6A0}" destId="{0EF5B6BA-E9BC-4121-9B94-2EEFF0BFF21D}" srcOrd="7" destOrd="0" presId="urn:microsoft.com/office/officeart/2005/8/layout/list1"/>
    <dgm:cxn modelId="{37DB2243-BAD3-4106-BF34-68BA05F5E4F4}" type="presParOf" srcId="{F4A0B63F-2F4E-4C85-8E9D-ED7EFAC7A6A0}" destId="{00A224D7-803E-455D-9C58-66E7747348F7}" srcOrd="8" destOrd="0" presId="urn:microsoft.com/office/officeart/2005/8/layout/list1"/>
    <dgm:cxn modelId="{A898488F-1B64-45A1-8631-AED10FE20CE7}" type="presParOf" srcId="{00A224D7-803E-455D-9C58-66E7747348F7}" destId="{A16200C1-FC80-43F6-8ECE-01EDA15D0411}" srcOrd="0" destOrd="0" presId="urn:microsoft.com/office/officeart/2005/8/layout/list1"/>
    <dgm:cxn modelId="{B6B47293-8B25-440B-8C72-BA4670EC904E}" type="presParOf" srcId="{00A224D7-803E-455D-9C58-66E7747348F7}" destId="{DCAF682F-E13A-41BC-9490-ECF4893DFFE2}" srcOrd="1" destOrd="0" presId="urn:microsoft.com/office/officeart/2005/8/layout/list1"/>
    <dgm:cxn modelId="{5DFA3EBC-9926-40C2-AF9A-BDC61192A995}" type="presParOf" srcId="{F4A0B63F-2F4E-4C85-8E9D-ED7EFAC7A6A0}" destId="{5598C4CB-70C6-4E0A-9EDA-BE0915CE629E}" srcOrd="9" destOrd="0" presId="urn:microsoft.com/office/officeart/2005/8/layout/list1"/>
    <dgm:cxn modelId="{3C628EA4-6352-42DE-B22F-AAF77F7CD891}" type="presParOf" srcId="{F4A0B63F-2F4E-4C85-8E9D-ED7EFAC7A6A0}" destId="{C4DE704F-556D-407F-90BE-C5EAE927422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991982-8B85-4E35-907A-B3420B635F15}"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n-US"/>
        </a:p>
      </dgm:t>
    </dgm:pt>
    <dgm:pt modelId="{3CAC82BB-7C9B-4E7B-A7D2-E84C21A6EFBD}">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Operating rules and system control</a:t>
          </a:r>
        </a:p>
      </dgm:t>
    </dgm:pt>
    <dgm:pt modelId="{05054BED-622D-4DD1-B5EE-826EFE7B162C}" type="parTrans" cxnId="{075FED27-D46A-487A-8837-3DF9844A577E}">
      <dgm:prSet/>
      <dgm:spPr/>
      <dgm:t>
        <a:bodyPr/>
        <a:lstStyle/>
        <a:p>
          <a:endParaRPr lang="en-US"/>
        </a:p>
      </dgm:t>
    </dgm:pt>
    <dgm:pt modelId="{DADDB4EF-DB99-4942-B52D-4BFBB1056F30}" type="sibTrans" cxnId="{075FED27-D46A-487A-8837-3DF9844A577E}">
      <dgm:prSet/>
      <dgm:spPr/>
      <dgm:t>
        <a:bodyPr/>
        <a:lstStyle/>
        <a:p>
          <a:endParaRPr lang="en-US"/>
        </a:p>
      </dgm:t>
    </dgm:pt>
    <dgm:pt modelId="{395755C1-274D-4949-A276-AF0F78D0C90A}">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Operating rules are embedded in day-to-day processes that ensure that e.g. claims are not assessed by a relative of the claims submitter, an internal investigation into an agent’s or staff’s malpractice is not performed by a close friend. In addition, system controls are put in place by LBUs to ensure employees are not able to review their own policy applications or claim requests.</a:t>
          </a:r>
        </a:p>
      </dgm:t>
    </dgm:pt>
    <dgm:pt modelId="{E16394CE-6D4A-4967-ABF2-47444D1C944F}" type="parTrans" cxnId="{22C91BC7-8CBF-4216-8DBE-276A444C230D}">
      <dgm:prSet/>
      <dgm:spPr/>
      <dgm:t>
        <a:bodyPr/>
        <a:lstStyle/>
        <a:p>
          <a:endParaRPr lang="en-HK"/>
        </a:p>
      </dgm:t>
    </dgm:pt>
    <dgm:pt modelId="{B02790DF-BA88-4F96-85C5-DF180BFC282C}" type="sibTrans" cxnId="{22C91BC7-8CBF-4216-8DBE-276A444C230D}">
      <dgm:prSet/>
      <dgm:spPr/>
      <dgm:t>
        <a:bodyPr/>
        <a:lstStyle/>
        <a:p>
          <a:endParaRPr lang="en-HK"/>
        </a:p>
      </dgm:t>
    </dgm:pt>
    <dgm:pt modelId="{F316D968-21BD-4209-9426-CEE65EF1E807}">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Oversight</a:t>
          </a:r>
        </a:p>
      </dgm:t>
    </dgm:pt>
    <dgm:pt modelId="{E7BF64D8-1906-4EF8-A14C-A47E77EB8C20}" type="parTrans" cxnId="{A43A699B-ED53-44ED-8371-C5F49BB690CB}">
      <dgm:prSet/>
      <dgm:spPr/>
      <dgm:t>
        <a:bodyPr/>
        <a:lstStyle/>
        <a:p>
          <a:endParaRPr lang="en-HK"/>
        </a:p>
      </dgm:t>
    </dgm:pt>
    <dgm:pt modelId="{B0A0E414-A552-4BC6-B414-6F91FD529965}" type="sibTrans" cxnId="{A43A699B-ED53-44ED-8371-C5F49BB690CB}">
      <dgm:prSet/>
      <dgm:spPr/>
      <dgm:t>
        <a:bodyPr/>
        <a:lstStyle/>
        <a:p>
          <a:endParaRPr lang="en-HK"/>
        </a:p>
      </dgm:t>
    </dgm:pt>
    <dgm:pt modelId="{5C51C250-DF9C-47F0-B3A6-D84C1236D43B}">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Oversight and monitoring help in preventing COIs from </a:t>
          </a:r>
          <a:r>
            <a:rPr lang="en-US" sz="1100" kern="1200" dirty="0" err="1">
              <a:solidFill>
                <a:sysClr val="windowText" lastClr="000000">
                  <a:hueOff val="0"/>
                  <a:satOff val="0"/>
                  <a:lumOff val="0"/>
                  <a:alphaOff val="0"/>
                </a:sysClr>
              </a:solidFill>
              <a:latin typeface="Calibri"/>
              <a:ea typeface="+mn-ea"/>
              <a:cs typeface="+mn-cs"/>
            </a:rPr>
            <a:t>materialising</a:t>
          </a:r>
          <a:r>
            <a:rPr lang="en-US" sz="1100" kern="1200" dirty="0">
              <a:solidFill>
                <a:sysClr val="windowText" lastClr="000000">
                  <a:hueOff val="0"/>
                  <a:satOff val="0"/>
                  <a:lumOff val="0"/>
                  <a:alphaOff val="0"/>
                </a:sysClr>
              </a:solidFill>
              <a:latin typeface="Calibri"/>
              <a:ea typeface="+mn-ea"/>
              <a:cs typeface="+mn-cs"/>
            </a:rPr>
            <a:t>. For example, maker-checker controls in the underwriting and claims handling process support ensuring a fair process. Furthermore, reviews from the second and third line as well as oversight by relevant governance forums help identify potential COI issues and gaps in controls that manage key COI risks.</a:t>
          </a:r>
        </a:p>
      </dgm:t>
    </dgm:pt>
    <dgm:pt modelId="{DEF608AB-F4AB-473E-94D5-81363506A02B}" type="parTrans" cxnId="{C5D7C46C-CD5F-4423-8AD6-A46EBAB83FF7}">
      <dgm:prSet/>
      <dgm:spPr/>
      <dgm:t>
        <a:bodyPr/>
        <a:lstStyle/>
        <a:p>
          <a:endParaRPr lang="en-HK"/>
        </a:p>
      </dgm:t>
    </dgm:pt>
    <dgm:pt modelId="{C610F626-BDF6-4D33-82AE-5042476D1F88}" type="sibTrans" cxnId="{C5D7C46C-CD5F-4423-8AD6-A46EBAB83FF7}">
      <dgm:prSet/>
      <dgm:spPr/>
      <dgm:t>
        <a:bodyPr/>
        <a:lstStyle/>
        <a:p>
          <a:endParaRPr lang="en-HK"/>
        </a:p>
      </dgm:t>
    </dgm:pt>
    <dgm:pt modelId="{0CEC88D7-4C20-4BB0-813A-68515848910E}">
      <dgm:prSet phldrT="[Text]" custT="1"/>
      <dgm:spPr>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gm:spPr>
      <dgm:t>
        <a:bodyPr spcFirstLastPara="0" vert="horz" wrap="square" lIns="195919" tIns="0" rIns="195919" bIns="0" numCol="1" spcCol="1270" anchor="ctr" anchorCtr="0"/>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COI risk assessment </a:t>
          </a:r>
        </a:p>
      </dgm:t>
    </dgm:pt>
    <dgm:pt modelId="{47764FD7-50BE-40CB-BD71-6E8B6B1A0BFA}" type="parTrans" cxnId="{64646628-6C1D-4BE6-97C0-785282D8E2A1}">
      <dgm:prSet/>
      <dgm:spPr/>
      <dgm:t>
        <a:bodyPr/>
        <a:lstStyle/>
        <a:p>
          <a:endParaRPr lang="en-HK"/>
        </a:p>
      </dgm:t>
    </dgm:pt>
    <dgm:pt modelId="{BBF0E0F4-C2D6-4BE8-8D1C-8A6604FF5205}" type="sibTrans" cxnId="{64646628-6C1D-4BE6-97C0-785282D8E2A1}">
      <dgm:prSet/>
      <dgm:spPr/>
      <dgm:t>
        <a:bodyPr/>
        <a:lstStyle/>
        <a:p>
          <a:endParaRPr lang="en-HK"/>
        </a:p>
      </dgm:t>
    </dgm:pt>
    <dgm:pt modelId="{AFBF1109-D5CC-480C-B3DE-EDC33021A176}">
      <dgm:prSet phldrT="[Text]" custT="1"/>
      <dgm:spPr>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gm:spPr>
      <dgm:t>
        <a:bodyPr spcFirstLastPara="0" vert="horz" wrap="square" lIns="574697" tIns="208280" rIns="574697" bIns="99568" numCol="1" spcCol="1270" anchor="t" anchorCtr="0"/>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A COI key risk register that includes all key COI risk scenarios faced by the business as well as the relevant key controls is maintained and reviewed regularly with input from all relevant business functions, with the result reported to senior management and relevant governance forums where required. Any material control gaps identified during the risk assessment are required to be properly followed until they are resolved.</a:t>
          </a:r>
          <a:endParaRPr lang="en-HK" sz="1100" kern="1200" dirty="0">
            <a:solidFill>
              <a:sysClr val="windowText" lastClr="000000">
                <a:hueOff val="0"/>
                <a:satOff val="0"/>
                <a:lumOff val="0"/>
                <a:alphaOff val="0"/>
              </a:sysClr>
            </a:solidFill>
            <a:latin typeface="Calibri"/>
            <a:ea typeface="+mn-ea"/>
            <a:cs typeface="+mn-cs"/>
          </a:endParaRPr>
        </a:p>
      </dgm:t>
    </dgm:pt>
    <dgm:pt modelId="{2558DA2C-2F54-44B1-ADBC-B8D71B918F0B}" type="parTrans" cxnId="{D9E5C4DB-0C49-4131-AAB4-AE3581EA1410}">
      <dgm:prSet/>
      <dgm:spPr/>
      <dgm:t>
        <a:bodyPr/>
        <a:lstStyle/>
        <a:p>
          <a:endParaRPr lang="en-HK"/>
        </a:p>
      </dgm:t>
    </dgm:pt>
    <dgm:pt modelId="{F98A1963-0824-4FF1-9252-14681BD4451D}" type="sibTrans" cxnId="{D9E5C4DB-0C49-4131-AAB4-AE3581EA1410}">
      <dgm:prSet/>
      <dgm:spPr/>
      <dgm:t>
        <a:bodyPr/>
        <a:lstStyle/>
        <a:p>
          <a:endParaRPr lang="en-HK"/>
        </a:p>
      </dgm:t>
    </dgm:pt>
    <dgm:pt modelId="{F4A0B63F-2F4E-4C85-8E9D-ED7EFAC7A6A0}" type="pres">
      <dgm:prSet presAssocID="{92991982-8B85-4E35-907A-B3420B635F15}" presName="linear" presStyleCnt="0">
        <dgm:presLayoutVars>
          <dgm:dir/>
          <dgm:animLvl val="lvl"/>
          <dgm:resizeHandles val="exact"/>
        </dgm:presLayoutVars>
      </dgm:prSet>
      <dgm:spPr/>
    </dgm:pt>
    <dgm:pt modelId="{51617192-B0A9-4AF2-8E25-332342FE89F5}" type="pres">
      <dgm:prSet presAssocID="{3CAC82BB-7C9B-4E7B-A7D2-E84C21A6EFBD}" presName="parentLin" presStyleCnt="0"/>
      <dgm:spPr/>
    </dgm:pt>
    <dgm:pt modelId="{99DDA57F-62ED-4CFD-98C0-E340089AFFFA}" type="pres">
      <dgm:prSet presAssocID="{3CAC82BB-7C9B-4E7B-A7D2-E84C21A6EFBD}" presName="parentLeftMargin" presStyleLbl="node1" presStyleIdx="0" presStyleCnt="3"/>
      <dgm:spPr/>
    </dgm:pt>
    <dgm:pt modelId="{8837F4A7-BBF5-45B1-8ED8-7AFE8174FC6C}" type="pres">
      <dgm:prSet presAssocID="{3CAC82BB-7C9B-4E7B-A7D2-E84C21A6EFBD}" presName="parentText" presStyleLbl="node1" presStyleIdx="0" presStyleCnt="3">
        <dgm:presLayoutVars>
          <dgm:chMax val="0"/>
          <dgm:bulletEnabled val="1"/>
        </dgm:presLayoutVars>
      </dgm:prSet>
      <dgm:spPr>
        <a:xfrm>
          <a:off x="406354" y="63718"/>
          <a:ext cx="5688968" cy="324720"/>
        </a:xfrm>
        <a:prstGeom prst="roundRect">
          <a:avLst/>
        </a:prstGeom>
      </dgm:spPr>
    </dgm:pt>
    <dgm:pt modelId="{776B6038-77A9-44EA-B7D8-1980616873F1}" type="pres">
      <dgm:prSet presAssocID="{3CAC82BB-7C9B-4E7B-A7D2-E84C21A6EFBD}" presName="negativeSpace" presStyleCnt="0"/>
      <dgm:spPr/>
    </dgm:pt>
    <dgm:pt modelId="{CC5EB62A-EB1E-4BA8-8EA7-6ECE8E66EC04}" type="pres">
      <dgm:prSet presAssocID="{3CAC82BB-7C9B-4E7B-A7D2-E84C21A6EFBD}" presName="childText" presStyleLbl="conFgAcc1" presStyleIdx="0" presStyleCnt="3" custLinFactNeighborX="42" custLinFactNeighborY="71082">
        <dgm:presLayoutVars>
          <dgm:bulletEnabled val="1"/>
        </dgm:presLayoutVars>
      </dgm:prSet>
      <dgm:spPr>
        <a:xfrm>
          <a:off x="0" y="226078"/>
          <a:ext cx="8127098" cy="935550"/>
        </a:xfrm>
        <a:prstGeom prst="rect">
          <a:avLst/>
        </a:prstGeom>
      </dgm:spPr>
    </dgm:pt>
    <dgm:pt modelId="{2747D976-6562-45AA-9410-554DA023F104}" type="pres">
      <dgm:prSet presAssocID="{DADDB4EF-DB99-4942-B52D-4BFBB1056F30}" presName="spaceBetweenRectangles" presStyleCnt="0"/>
      <dgm:spPr/>
    </dgm:pt>
    <dgm:pt modelId="{3CB52A19-299E-476C-9189-A9DC9E5804AE}" type="pres">
      <dgm:prSet presAssocID="{F316D968-21BD-4209-9426-CEE65EF1E807}" presName="parentLin" presStyleCnt="0"/>
      <dgm:spPr/>
    </dgm:pt>
    <dgm:pt modelId="{3ACCEA37-5F2A-4E60-9E99-BAD7FFE53B96}" type="pres">
      <dgm:prSet presAssocID="{F316D968-21BD-4209-9426-CEE65EF1E807}" presName="parentLeftMargin" presStyleLbl="node1" presStyleIdx="0" presStyleCnt="3"/>
      <dgm:spPr/>
    </dgm:pt>
    <dgm:pt modelId="{40E19DAB-4FA8-49DB-B6A7-DDBFBA69836A}" type="pres">
      <dgm:prSet presAssocID="{F316D968-21BD-4209-9426-CEE65EF1E807}" presName="parentText" presStyleLbl="node1" presStyleIdx="1" presStyleCnt="3" custLinFactNeighborX="-3358" custLinFactNeighborY="-30340">
        <dgm:presLayoutVars>
          <dgm:chMax val="0"/>
          <dgm:bulletEnabled val="1"/>
        </dgm:presLayoutVars>
      </dgm:prSet>
      <dgm:spPr>
        <a:xfrm>
          <a:off x="406354" y="1221028"/>
          <a:ext cx="5688968" cy="324720"/>
        </a:xfrm>
        <a:prstGeom prst="roundRect">
          <a:avLst/>
        </a:prstGeom>
      </dgm:spPr>
    </dgm:pt>
    <dgm:pt modelId="{BBB8AC2C-8985-4C4E-896E-2C2DBE29B0C1}" type="pres">
      <dgm:prSet presAssocID="{F316D968-21BD-4209-9426-CEE65EF1E807}" presName="negativeSpace" presStyleCnt="0"/>
      <dgm:spPr/>
    </dgm:pt>
    <dgm:pt modelId="{E398ABF6-5C3E-4944-9E2A-EACE3EF999E7}" type="pres">
      <dgm:prSet presAssocID="{F316D968-21BD-4209-9426-CEE65EF1E807}" presName="childText" presStyleLbl="conFgAcc1" presStyleIdx="1" presStyleCnt="3">
        <dgm:presLayoutVars>
          <dgm:bulletEnabled val="1"/>
        </dgm:presLayoutVars>
      </dgm:prSet>
      <dgm:spPr>
        <a:xfrm>
          <a:off x="0" y="1383388"/>
          <a:ext cx="8127098" cy="779625"/>
        </a:xfrm>
        <a:prstGeom prst="rect">
          <a:avLst/>
        </a:prstGeom>
      </dgm:spPr>
    </dgm:pt>
    <dgm:pt modelId="{04B04D1D-15DB-4CF4-9185-2225BCB8277D}" type="pres">
      <dgm:prSet presAssocID="{B0A0E414-A552-4BC6-B414-6F91FD529965}" presName="spaceBetweenRectangles" presStyleCnt="0"/>
      <dgm:spPr/>
    </dgm:pt>
    <dgm:pt modelId="{317145EF-5B67-461E-A240-220C336C98D4}" type="pres">
      <dgm:prSet presAssocID="{0CEC88D7-4C20-4BB0-813A-68515848910E}" presName="parentLin" presStyleCnt="0"/>
      <dgm:spPr/>
    </dgm:pt>
    <dgm:pt modelId="{D4810FE8-6F02-45D6-977A-D0565B098FE9}" type="pres">
      <dgm:prSet presAssocID="{0CEC88D7-4C20-4BB0-813A-68515848910E}" presName="parentLeftMargin" presStyleLbl="node1" presStyleIdx="1" presStyleCnt="3"/>
      <dgm:spPr/>
    </dgm:pt>
    <dgm:pt modelId="{E37E1F4A-5778-46B3-930F-CBC1CC56F1D5}" type="pres">
      <dgm:prSet presAssocID="{0CEC88D7-4C20-4BB0-813A-68515848910E}" presName="parentText" presStyleLbl="node1" presStyleIdx="2" presStyleCnt="3" custLinFactNeighborX="-3358" custLinFactNeighborY="-30340">
        <dgm:presLayoutVars>
          <dgm:chMax val="0"/>
          <dgm:bulletEnabled val="1"/>
        </dgm:presLayoutVars>
      </dgm:prSet>
      <dgm:spPr>
        <a:xfrm>
          <a:off x="406354" y="2222413"/>
          <a:ext cx="5688968" cy="324720"/>
        </a:xfrm>
        <a:prstGeom prst="roundRect">
          <a:avLst/>
        </a:prstGeom>
      </dgm:spPr>
    </dgm:pt>
    <dgm:pt modelId="{95C63EAF-9231-4A25-A6A4-69F3CC5CECAB}" type="pres">
      <dgm:prSet presAssocID="{0CEC88D7-4C20-4BB0-813A-68515848910E}" presName="negativeSpace" presStyleCnt="0"/>
      <dgm:spPr/>
    </dgm:pt>
    <dgm:pt modelId="{EA8AE7E0-30A5-4052-8118-6B04D2185B30}" type="pres">
      <dgm:prSet presAssocID="{0CEC88D7-4C20-4BB0-813A-68515848910E}" presName="childText" presStyleLbl="conFgAcc1" presStyleIdx="2" presStyleCnt="3">
        <dgm:presLayoutVars>
          <dgm:bulletEnabled val="1"/>
        </dgm:presLayoutVars>
      </dgm:prSet>
      <dgm:spPr>
        <a:xfrm>
          <a:off x="0" y="2384773"/>
          <a:ext cx="8127098" cy="1074150"/>
        </a:xfrm>
        <a:prstGeom prst="rect">
          <a:avLst/>
        </a:prstGeom>
      </dgm:spPr>
    </dgm:pt>
  </dgm:ptLst>
  <dgm:cxnLst>
    <dgm:cxn modelId="{22C1540F-47F9-416C-B248-200A88B9D893}" type="presOf" srcId="{3CAC82BB-7C9B-4E7B-A7D2-E84C21A6EFBD}" destId="{99DDA57F-62ED-4CFD-98C0-E340089AFFFA}" srcOrd="0" destOrd="0" presId="urn:microsoft.com/office/officeart/2005/8/layout/list1"/>
    <dgm:cxn modelId="{6B2C7315-2841-476A-A5D0-AAF8A60C2D3F}" type="presOf" srcId="{395755C1-274D-4949-A276-AF0F78D0C90A}" destId="{CC5EB62A-EB1E-4BA8-8EA7-6ECE8E66EC04}" srcOrd="0" destOrd="0" presId="urn:microsoft.com/office/officeart/2005/8/layout/list1"/>
    <dgm:cxn modelId="{F1AE911A-C463-4BB1-971E-DD0828C773DD}" type="presOf" srcId="{0CEC88D7-4C20-4BB0-813A-68515848910E}" destId="{E37E1F4A-5778-46B3-930F-CBC1CC56F1D5}" srcOrd="1" destOrd="0" presId="urn:microsoft.com/office/officeart/2005/8/layout/list1"/>
    <dgm:cxn modelId="{F638B31C-140D-4B96-9033-FAE6960C2FB7}" type="presOf" srcId="{5C51C250-DF9C-47F0-B3A6-D84C1236D43B}" destId="{E398ABF6-5C3E-4944-9E2A-EACE3EF999E7}" srcOrd="0" destOrd="0" presId="urn:microsoft.com/office/officeart/2005/8/layout/list1"/>
    <dgm:cxn modelId="{075FED27-D46A-487A-8837-3DF9844A577E}" srcId="{92991982-8B85-4E35-907A-B3420B635F15}" destId="{3CAC82BB-7C9B-4E7B-A7D2-E84C21A6EFBD}" srcOrd="0" destOrd="0" parTransId="{05054BED-622D-4DD1-B5EE-826EFE7B162C}" sibTransId="{DADDB4EF-DB99-4942-B52D-4BFBB1056F30}"/>
    <dgm:cxn modelId="{64646628-6C1D-4BE6-97C0-785282D8E2A1}" srcId="{92991982-8B85-4E35-907A-B3420B635F15}" destId="{0CEC88D7-4C20-4BB0-813A-68515848910E}" srcOrd="2" destOrd="0" parTransId="{47764FD7-50BE-40CB-BD71-6E8B6B1A0BFA}" sibTransId="{BBF0E0F4-C2D6-4BE8-8D1C-8A6604FF5205}"/>
    <dgm:cxn modelId="{1CDB7843-9CD5-4A44-AF4A-FFB6B29F9EB4}" type="presOf" srcId="{F316D968-21BD-4209-9426-CEE65EF1E807}" destId="{40E19DAB-4FA8-49DB-B6A7-DDBFBA69836A}" srcOrd="1" destOrd="0" presId="urn:microsoft.com/office/officeart/2005/8/layout/list1"/>
    <dgm:cxn modelId="{C5D7C46C-CD5F-4423-8AD6-A46EBAB83FF7}" srcId="{F316D968-21BD-4209-9426-CEE65EF1E807}" destId="{5C51C250-DF9C-47F0-B3A6-D84C1236D43B}" srcOrd="0" destOrd="0" parTransId="{DEF608AB-F4AB-473E-94D5-81363506A02B}" sibTransId="{C610F626-BDF6-4D33-82AE-5042476D1F88}"/>
    <dgm:cxn modelId="{A43A699B-ED53-44ED-8371-C5F49BB690CB}" srcId="{92991982-8B85-4E35-907A-B3420B635F15}" destId="{F316D968-21BD-4209-9426-CEE65EF1E807}" srcOrd="1" destOrd="0" parTransId="{E7BF64D8-1906-4EF8-A14C-A47E77EB8C20}" sibTransId="{B0A0E414-A552-4BC6-B414-6F91FD529965}"/>
    <dgm:cxn modelId="{49B50EA4-51D2-46BA-9928-549B10096FC5}" type="presOf" srcId="{0CEC88D7-4C20-4BB0-813A-68515848910E}" destId="{D4810FE8-6F02-45D6-977A-D0565B098FE9}" srcOrd="0" destOrd="0" presId="urn:microsoft.com/office/officeart/2005/8/layout/list1"/>
    <dgm:cxn modelId="{8DC0B1AC-874C-4411-BD5B-C4D3DF5CA52B}" type="presOf" srcId="{F316D968-21BD-4209-9426-CEE65EF1E807}" destId="{3ACCEA37-5F2A-4E60-9E99-BAD7FFE53B96}" srcOrd="0" destOrd="0" presId="urn:microsoft.com/office/officeart/2005/8/layout/list1"/>
    <dgm:cxn modelId="{22C91BC7-8CBF-4216-8DBE-276A444C230D}" srcId="{3CAC82BB-7C9B-4E7B-A7D2-E84C21A6EFBD}" destId="{395755C1-274D-4949-A276-AF0F78D0C90A}" srcOrd="0" destOrd="0" parTransId="{E16394CE-6D4A-4967-ABF2-47444D1C944F}" sibTransId="{B02790DF-BA88-4F96-85C5-DF180BFC282C}"/>
    <dgm:cxn modelId="{827D99CA-A554-47BF-BA75-A12558520481}" type="presOf" srcId="{3CAC82BB-7C9B-4E7B-A7D2-E84C21A6EFBD}" destId="{8837F4A7-BBF5-45B1-8ED8-7AFE8174FC6C}" srcOrd="1" destOrd="0" presId="urn:microsoft.com/office/officeart/2005/8/layout/list1"/>
    <dgm:cxn modelId="{D9E5C4DB-0C49-4131-AAB4-AE3581EA1410}" srcId="{0CEC88D7-4C20-4BB0-813A-68515848910E}" destId="{AFBF1109-D5CC-480C-B3DE-EDC33021A176}" srcOrd="0" destOrd="0" parTransId="{2558DA2C-2F54-44B1-ADBC-B8D71B918F0B}" sibTransId="{F98A1963-0824-4FF1-9252-14681BD4451D}"/>
    <dgm:cxn modelId="{D10A22E1-4C9D-4E9B-87F0-7B93F21002C8}" type="presOf" srcId="{AFBF1109-D5CC-480C-B3DE-EDC33021A176}" destId="{EA8AE7E0-30A5-4052-8118-6B04D2185B30}" srcOrd="0" destOrd="0" presId="urn:microsoft.com/office/officeart/2005/8/layout/list1"/>
    <dgm:cxn modelId="{ACB42EED-E447-4864-B929-BF4300F04007}" type="presOf" srcId="{92991982-8B85-4E35-907A-B3420B635F15}" destId="{F4A0B63F-2F4E-4C85-8E9D-ED7EFAC7A6A0}" srcOrd="0" destOrd="0" presId="urn:microsoft.com/office/officeart/2005/8/layout/list1"/>
    <dgm:cxn modelId="{F33EAE00-8142-46E3-AFDE-9F3E204745A0}" type="presParOf" srcId="{F4A0B63F-2F4E-4C85-8E9D-ED7EFAC7A6A0}" destId="{51617192-B0A9-4AF2-8E25-332342FE89F5}" srcOrd="0" destOrd="0" presId="urn:microsoft.com/office/officeart/2005/8/layout/list1"/>
    <dgm:cxn modelId="{5219F752-EA8F-4AB0-A3AA-765301B02323}" type="presParOf" srcId="{51617192-B0A9-4AF2-8E25-332342FE89F5}" destId="{99DDA57F-62ED-4CFD-98C0-E340089AFFFA}" srcOrd="0" destOrd="0" presId="urn:microsoft.com/office/officeart/2005/8/layout/list1"/>
    <dgm:cxn modelId="{E48BD9D7-6A32-490B-B8F2-A54E3F42C92F}" type="presParOf" srcId="{51617192-B0A9-4AF2-8E25-332342FE89F5}" destId="{8837F4A7-BBF5-45B1-8ED8-7AFE8174FC6C}" srcOrd="1" destOrd="0" presId="urn:microsoft.com/office/officeart/2005/8/layout/list1"/>
    <dgm:cxn modelId="{4AB35590-530B-45B8-9162-292B16F9DAD1}" type="presParOf" srcId="{F4A0B63F-2F4E-4C85-8E9D-ED7EFAC7A6A0}" destId="{776B6038-77A9-44EA-B7D8-1980616873F1}" srcOrd="1" destOrd="0" presId="urn:microsoft.com/office/officeart/2005/8/layout/list1"/>
    <dgm:cxn modelId="{FF17E9EC-5045-43B2-8E6B-A9178E7EC08E}" type="presParOf" srcId="{F4A0B63F-2F4E-4C85-8E9D-ED7EFAC7A6A0}" destId="{CC5EB62A-EB1E-4BA8-8EA7-6ECE8E66EC04}" srcOrd="2" destOrd="0" presId="urn:microsoft.com/office/officeart/2005/8/layout/list1"/>
    <dgm:cxn modelId="{D3666414-F992-4F45-8E52-116338540FF9}" type="presParOf" srcId="{F4A0B63F-2F4E-4C85-8E9D-ED7EFAC7A6A0}" destId="{2747D976-6562-45AA-9410-554DA023F104}" srcOrd="3" destOrd="0" presId="urn:microsoft.com/office/officeart/2005/8/layout/list1"/>
    <dgm:cxn modelId="{F2164B6D-BEA0-43F3-AF7F-A13DF6D8F104}" type="presParOf" srcId="{F4A0B63F-2F4E-4C85-8E9D-ED7EFAC7A6A0}" destId="{3CB52A19-299E-476C-9189-A9DC9E5804AE}" srcOrd="4" destOrd="0" presId="urn:microsoft.com/office/officeart/2005/8/layout/list1"/>
    <dgm:cxn modelId="{EF59A87D-6328-404D-8D9B-29C111A70BBA}" type="presParOf" srcId="{3CB52A19-299E-476C-9189-A9DC9E5804AE}" destId="{3ACCEA37-5F2A-4E60-9E99-BAD7FFE53B96}" srcOrd="0" destOrd="0" presId="urn:microsoft.com/office/officeart/2005/8/layout/list1"/>
    <dgm:cxn modelId="{F3F7E785-26FF-4BBE-BCC2-3A9AC37AFA5D}" type="presParOf" srcId="{3CB52A19-299E-476C-9189-A9DC9E5804AE}" destId="{40E19DAB-4FA8-49DB-B6A7-DDBFBA69836A}" srcOrd="1" destOrd="0" presId="urn:microsoft.com/office/officeart/2005/8/layout/list1"/>
    <dgm:cxn modelId="{A41EAA1C-9879-4C1A-878C-91B7B2B7BAE2}" type="presParOf" srcId="{F4A0B63F-2F4E-4C85-8E9D-ED7EFAC7A6A0}" destId="{BBB8AC2C-8985-4C4E-896E-2C2DBE29B0C1}" srcOrd="5" destOrd="0" presId="urn:microsoft.com/office/officeart/2005/8/layout/list1"/>
    <dgm:cxn modelId="{CD9DA368-3758-42AF-8FEC-BABA8779E123}" type="presParOf" srcId="{F4A0B63F-2F4E-4C85-8E9D-ED7EFAC7A6A0}" destId="{E398ABF6-5C3E-4944-9E2A-EACE3EF999E7}" srcOrd="6" destOrd="0" presId="urn:microsoft.com/office/officeart/2005/8/layout/list1"/>
    <dgm:cxn modelId="{7B9666E2-FB90-4DCF-8AB9-C1A771AA91F4}" type="presParOf" srcId="{F4A0B63F-2F4E-4C85-8E9D-ED7EFAC7A6A0}" destId="{04B04D1D-15DB-4CF4-9185-2225BCB8277D}" srcOrd="7" destOrd="0" presId="urn:microsoft.com/office/officeart/2005/8/layout/list1"/>
    <dgm:cxn modelId="{B98E673E-B986-4E5B-A003-FBD323A7920D}" type="presParOf" srcId="{F4A0B63F-2F4E-4C85-8E9D-ED7EFAC7A6A0}" destId="{317145EF-5B67-461E-A240-220C336C98D4}" srcOrd="8" destOrd="0" presId="urn:microsoft.com/office/officeart/2005/8/layout/list1"/>
    <dgm:cxn modelId="{AB8CC5F4-8C6C-4144-9713-42419862775B}" type="presParOf" srcId="{317145EF-5B67-461E-A240-220C336C98D4}" destId="{D4810FE8-6F02-45D6-977A-D0565B098FE9}" srcOrd="0" destOrd="0" presId="urn:microsoft.com/office/officeart/2005/8/layout/list1"/>
    <dgm:cxn modelId="{7DE327D7-05A4-4739-B2E4-977B7C0FF76B}" type="presParOf" srcId="{317145EF-5B67-461E-A240-220C336C98D4}" destId="{E37E1F4A-5778-46B3-930F-CBC1CC56F1D5}" srcOrd="1" destOrd="0" presId="urn:microsoft.com/office/officeart/2005/8/layout/list1"/>
    <dgm:cxn modelId="{6A440880-45A1-4D2D-A185-DECC2D2AFC2E}" type="presParOf" srcId="{F4A0B63F-2F4E-4C85-8E9D-ED7EFAC7A6A0}" destId="{95C63EAF-9231-4A25-A6A4-69F3CC5CECAB}" srcOrd="9" destOrd="0" presId="urn:microsoft.com/office/officeart/2005/8/layout/list1"/>
    <dgm:cxn modelId="{F9C758ED-F31A-4450-AEE2-BEABD2C1BA06}" type="presParOf" srcId="{F4A0B63F-2F4E-4C85-8E9D-ED7EFAC7A6A0}" destId="{EA8AE7E0-30A5-4052-8118-6B04D2185B3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B90902-00BC-4A1F-9609-B4759D7E0380}">
      <dsp:nvSpPr>
        <dsp:cNvPr id="0" name=""/>
        <dsp:cNvSpPr/>
      </dsp:nvSpPr>
      <dsp:spPr>
        <a:xfrm>
          <a:off x="0" y="200541"/>
          <a:ext cx="7881831" cy="744187"/>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1718" tIns="312420" rIns="611718"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ysClr val="windowText" lastClr="000000">
                  <a:hueOff val="0"/>
                  <a:satOff val="0"/>
                  <a:lumOff val="0"/>
                  <a:alphaOff val="0"/>
                </a:sysClr>
              </a:solidFill>
              <a:latin typeface="Calibri"/>
              <a:ea typeface="+mn-ea"/>
              <a:cs typeface="+mn-cs"/>
            </a:rPr>
            <a:t>An employee in the Claims team approves a claim which should have been rejected due to pre-existing conditions. The approval was however granted because the claim was from a close friend. </a:t>
          </a:r>
        </a:p>
      </dsp:txBody>
      <dsp:txXfrm>
        <a:off x="0" y="200541"/>
        <a:ext cx="7881831" cy="744187"/>
      </dsp:txXfrm>
    </dsp:sp>
    <dsp:sp modelId="{ABAB1ACD-F843-482F-A426-180FAE5FA1AF}">
      <dsp:nvSpPr>
        <dsp:cNvPr id="0" name=""/>
        <dsp:cNvSpPr/>
      </dsp:nvSpPr>
      <dsp:spPr>
        <a:xfrm>
          <a:off x="389740" y="0"/>
          <a:ext cx="5517281" cy="4428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8540" tIns="0" rIns="208540" bIns="0" numCol="1" spcCol="1270" anchor="ctr" anchorCtr="0">
          <a:noAutofit/>
        </a:bodyPr>
        <a:lstStyle/>
        <a:p>
          <a:pPr marL="0" lvl="0" indent="0" algn="l" defTabSz="5334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Preferential treatment</a:t>
          </a:r>
          <a:endParaRPr lang="en-US" sz="1200" kern="1200" dirty="0">
            <a:solidFill>
              <a:sysClr val="windowText" lastClr="000000">
                <a:hueOff val="0"/>
                <a:satOff val="0"/>
                <a:lumOff val="0"/>
                <a:alphaOff val="0"/>
              </a:sysClr>
            </a:solidFill>
            <a:latin typeface="Calibri"/>
            <a:ea typeface="+mn-ea"/>
            <a:cs typeface="+mn-cs"/>
          </a:endParaRPr>
        </a:p>
      </dsp:txBody>
      <dsp:txXfrm>
        <a:off x="411356" y="21616"/>
        <a:ext cx="5474049" cy="399568"/>
      </dsp:txXfrm>
    </dsp:sp>
    <dsp:sp modelId="{929A6837-0D15-4DC3-9D59-1F578EC236F3}">
      <dsp:nvSpPr>
        <dsp:cNvPr id="0" name=""/>
        <dsp:cNvSpPr/>
      </dsp:nvSpPr>
      <dsp:spPr>
        <a:xfrm>
          <a:off x="0" y="1247128"/>
          <a:ext cx="7881831" cy="12757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1718" tIns="312420" rIns="611718"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Calibri"/>
              <a:ea typeface="+mn-ea"/>
              <a:cs typeface="+mn-cs"/>
            </a:rPr>
            <a:t>An employee supervises another employee whilst they are in a very close personal relationship (e.g. consensual romantic relationship). In this situation, there is a (perceived) conflict that the performance assessment of the supervised employee may be inappropriately influenced by this personal relationship.</a:t>
          </a:r>
        </a:p>
        <a:p>
          <a:pPr marL="114300" lvl="1" indent="-114300" algn="l" defTabSz="53340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Calibri"/>
              <a:ea typeface="+mn-ea"/>
              <a:cs typeface="+mn-cs"/>
            </a:rPr>
            <a:t>A line manager takes a loan from the subordinate. Such a personal financial relationship may (be seen to) inappropriately influence the way the line manager manages this subordinate's performance.</a:t>
          </a:r>
        </a:p>
      </dsp:txBody>
      <dsp:txXfrm>
        <a:off x="0" y="1247128"/>
        <a:ext cx="7881831" cy="1275750"/>
      </dsp:txXfrm>
    </dsp:sp>
    <dsp:sp modelId="{136792E3-9622-45D6-91D5-EA47553DB967}">
      <dsp:nvSpPr>
        <dsp:cNvPr id="0" name=""/>
        <dsp:cNvSpPr/>
      </dsp:nvSpPr>
      <dsp:spPr>
        <a:xfrm>
          <a:off x="389740" y="1025729"/>
          <a:ext cx="5517281" cy="4428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8540" tIns="0" rIns="208540" bIns="0" numCol="1" spcCol="1270" anchor="ctr" anchorCtr="0">
          <a:noAutofit/>
        </a:bodyPr>
        <a:lstStyle/>
        <a:p>
          <a:pPr marL="0" lvl="0" indent="0" algn="l" defTabSz="5334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Performance management</a:t>
          </a:r>
        </a:p>
      </dsp:txBody>
      <dsp:txXfrm>
        <a:off x="411356" y="1047345"/>
        <a:ext cx="5474049" cy="399568"/>
      </dsp:txXfrm>
    </dsp:sp>
    <dsp:sp modelId="{42A077AB-66D6-449A-8B9F-8E9D1BD92018}">
      <dsp:nvSpPr>
        <dsp:cNvPr id="0" name=""/>
        <dsp:cNvSpPr/>
      </dsp:nvSpPr>
      <dsp:spPr>
        <a:xfrm>
          <a:off x="0" y="2865592"/>
          <a:ext cx="7881831" cy="744187"/>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11718" tIns="312420" rIns="611718"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solidFill>
                <a:sysClr val="windowText" lastClr="000000">
                  <a:hueOff val="0"/>
                  <a:satOff val="0"/>
                  <a:lumOff val="0"/>
                  <a:alphaOff val="0"/>
                </a:sysClr>
              </a:solidFill>
              <a:latin typeface="Calibri"/>
              <a:ea typeface="+mn-ea"/>
              <a:cs typeface="+mn-cs"/>
            </a:rPr>
            <a:t>A hiring manager is interviewing a candidate who is a relative or close friend. This personal relationship could be seen as having an inappropriate influence on the hiring decision. </a:t>
          </a:r>
        </a:p>
      </dsp:txBody>
      <dsp:txXfrm>
        <a:off x="0" y="2865592"/>
        <a:ext cx="7881831" cy="744187"/>
      </dsp:txXfrm>
    </dsp:sp>
    <dsp:sp modelId="{C7D9CE52-8C09-4DAB-B52C-D09A307DBDDF}">
      <dsp:nvSpPr>
        <dsp:cNvPr id="0" name=""/>
        <dsp:cNvSpPr/>
      </dsp:nvSpPr>
      <dsp:spPr>
        <a:xfrm>
          <a:off x="389740" y="2603879"/>
          <a:ext cx="5517281" cy="4428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8540" tIns="0" rIns="208540" bIns="0" numCol="1" spcCol="1270" anchor="ctr" anchorCtr="0">
          <a:noAutofit/>
        </a:bodyPr>
        <a:lstStyle/>
        <a:p>
          <a:pPr marL="0" lvl="0" indent="0" algn="l" defTabSz="5334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Recruitment</a:t>
          </a:r>
        </a:p>
      </dsp:txBody>
      <dsp:txXfrm>
        <a:off x="411356" y="2625495"/>
        <a:ext cx="5474049"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B90902-00BC-4A1F-9609-B4759D7E0380}">
      <dsp:nvSpPr>
        <dsp:cNvPr id="0" name=""/>
        <dsp:cNvSpPr/>
      </dsp:nvSpPr>
      <dsp:spPr>
        <a:xfrm>
          <a:off x="0" y="194901"/>
          <a:ext cx="7404825" cy="7276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4697" tIns="229108"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kern="1200" dirty="0">
              <a:solidFill>
                <a:sysClr val="windowText" lastClr="000000">
                  <a:hueOff val="0"/>
                  <a:satOff val="0"/>
                  <a:lumOff val="0"/>
                  <a:alphaOff val="0"/>
                </a:sysClr>
              </a:solidFill>
              <a:latin typeface="Calibri"/>
              <a:ea typeface="+mn-ea"/>
              <a:cs typeface="+mn-cs"/>
            </a:rPr>
            <a:t>An employee’s family owns a company that supplies goods or services to the LBU, and this employee is involved in evaluating the performance of this vendor. </a:t>
          </a:r>
        </a:p>
      </dsp:txBody>
      <dsp:txXfrm>
        <a:off x="0" y="194901"/>
        <a:ext cx="7404825" cy="727650"/>
      </dsp:txXfrm>
    </dsp:sp>
    <dsp:sp modelId="{ABAB1ACD-F843-482F-A426-180FAE5FA1AF}">
      <dsp:nvSpPr>
        <dsp:cNvPr id="0" name=""/>
        <dsp:cNvSpPr/>
      </dsp:nvSpPr>
      <dsp:spPr>
        <a:xfrm>
          <a:off x="370241" y="32541"/>
          <a:ext cx="5183377" cy="32472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ysClr val="windowText" lastClr="000000">
                  <a:hueOff val="0"/>
                  <a:satOff val="0"/>
                  <a:lumOff val="0"/>
                  <a:alphaOff val="0"/>
                </a:sysClr>
              </a:solidFill>
              <a:latin typeface="Calibri"/>
              <a:ea typeface="+mn-ea"/>
              <a:cs typeface="+mn-cs"/>
            </a:rPr>
            <a:t>External vendor</a:t>
          </a:r>
          <a:endParaRPr lang="en-US" sz="1400" kern="1200" dirty="0">
            <a:solidFill>
              <a:sysClr val="windowText" lastClr="000000">
                <a:hueOff val="0"/>
                <a:satOff val="0"/>
                <a:lumOff val="0"/>
                <a:alphaOff val="0"/>
              </a:sysClr>
            </a:solidFill>
            <a:latin typeface="Calibri"/>
            <a:ea typeface="+mn-ea"/>
            <a:cs typeface="+mn-cs"/>
          </a:endParaRPr>
        </a:p>
      </dsp:txBody>
      <dsp:txXfrm>
        <a:off x="386093" y="48393"/>
        <a:ext cx="5151673" cy="293016"/>
      </dsp:txXfrm>
    </dsp:sp>
    <dsp:sp modelId="{929A6837-0D15-4DC3-9D59-1F578EC236F3}">
      <dsp:nvSpPr>
        <dsp:cNvPr id="0" name=""/>
        <dsp:cNvSpPr/>
      </dsp:nvSpPr>
      <dsp:spPr>
        <a:xfrm>
          <a:off x="0" y="1144311"/>
          <a:ext cx="7404825" cy="7276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4697" tIns="229108" rIns="57469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Calibri"/>
              <a:ea typeface="+mn-ea"/>
              <a:cs typeface="+mn-cs"/>
            </a:rPr>
            <a:t>An employee in the Marketing team gets a part-time marketing consulting job in a company that is one of the firm’s major competitors.</a:t>
          </a:r>
        </a:p>
      </dsp:txBody>
      <dsp:txXfrm>
        <a:off x="0" y="1144311"/>
        <a:ext cx="7404825" cy="727650"/>
      </dsp:txXfrm>
    </dsp:sp>
    <dsp:sp modelId="{136792E3-9622-45D6-91D5-EA47553DB967}">
      <dsp:nvSpPr>
        <dsp:cNvPr id="0" name=""/>
        <dsp:cNvSpPr/>
      </dsp:nvSpPr>
      <dsp:spPr>
        <a:xfrm>
          <a:off x="370241" y="981951"/>
          <a:ext cx="5183377" cy="32472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ysClr val="windowText" lastClr="000000">
                  <a:hueOff val="0"/>
                  <a:satOff val="0"/>
                  <a:lumOff val="0"/>
                  <a:alphaOff val="0"/>
                </a:sysClr>
              </a:solidFill>
              <a:latin typeface="Calibri"/>
              <a:ea typeface="+mn-ea"/>
              <a:cs typeface="+mn-cs"/>
            </a:rPr>
            <a:t>Working for a competitor</a:t>
          </a:r>
        </a:p>
      </dsp:txBody>
      <dsp:txXfrm>
        <a:off x="386093" y="997803"/>
        <a:ext cx="5151673" cy="293016"/>
      </dsp:txXfrm>
    </dsp:sp>
    <dsp:sp modelId="{95A79F05-CDA9-44F0-8026-E9AC5C5EA8A4}">
      <dsp:nvSpPr>
        <dsp:cNvPr id="0" name=""/>
        <dsp:cNvSpPr/>
      </dsp:nvSpPr>
      <dsp:spPr>
        <a:xfrm>
          <a:off x="0" y="2093722"/>
          <a:ext cx="7404825" cy="7276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4697" tIns="229108" rIns="57469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ysClr val="windowText" lastClr="000000">
                  <a:hueOff val="0"/>
                  <a:satOff val="0"/>
                  <a:lumOff val="0"/>
                  <a:alphaOff val="0"/>
                </a:sysClr>
              </a:solidFill>
              <a:latin typeface="Calibri"/>
              <a:ea typeface="+mn-ea"/>
              <a:cs typeface="+mn-cs"/>
            </a:rPr>
            <a:t>An Employee in the Investment Team is nominated as an External Director on the Board of a small asset management company registered abroad.</a:t>
          </a:r>
        </a:p>
      </dsp:txBody>
      <dsp:txXfrm>
        <a:off x="0" y="2093722"/>
        <a:ext cx="7404825" cy="727650"/>
      </dsp:txXfrm>
    </dsp:sp>
    <dsp:sp modelId="{E1CF0DFD-C9CE-472C-9B62-4257B25D8F19}">
      <dsp:nvSpPr>
        <dsp:cNvPr id="0" name=""/>
        <dsp:cNvSpPr/>
      </dsp:nvSpPr>
      <dsp:spPr>
        <a:xfrm>
          <a:off x="370241" y="1931361"/>
          <a:ext cx="5183377" cy="32472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ysClr val="windowText" lastClr="000000">
                  <a:hueOff val="0"/>
                  <a:satOff val="0"/>
                  <a:lumOff val="0"/>
                  <a:alphaOff val="0"/>
                </a:sysClr>
              </a:solidFill>
              <a:latin typeface="Calibri"/>
              <a:ea typeface="+mn-ea"/>
              <a:cs typeface="+mn-cs"/>
            </a:rPr>
            <a:t>External Directorship</a:t>
          </a:r>
        </a:p>
      </dsp:txBody>
      <dsp:txXfrm>
        <a:off x="386093" y="1947213"/>
        <a:ext cx="5151673" cy="2930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8795E-0012-42EB-9E27-D90AAE0A3C93}">
      <dsp:nvSpPr>
        <dsp:cNvPr id="0" name=""/>
        <dsp:cNvSpPr/>
      </dsp:nvSpPr>
      <dsp:spPr>
        <a:xfrm>
          <a:off x="1664832" y="27"/>
          <a:ext cx="1410777" cy="846466"/>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ysClr val="windowText" lastClr="000000">
                  <a:hueOff val="0"/>
                  <a:satOff val="0"/>
                  <a:lumOff val="0"/>
                  <a:alphaOff val="0"/>
                </a:sysClr>
              </a:solidFill>
              <a:latin typeface="Calibri"/>
              <a:ea typeface="+mn-ea"/>
              <a:cs typeface="+mn-cs"/>
            </a:rPr>
            <a:t>Directorships, with or without remuneration, held externally in any </a:t>
          </a:r>
          <a:r>
            <a:rPr lang="en-US" sz="1000" kern="1200" dirty="0" err="1">
              <a:solidFill>
                <a:sysClr val="windowText" lastClr="000000">
                  <a:hueOff val="0"/>
                  <a:satOff val="0"/>
                  <a:lumOff val="0"/>
                  <a:alphaOff val="0"/>
                </a:sysClr>
              </a:solidFill>
              <a:latin typeface="Calibri"/>
              <a:ea typeface="+mn-ea"/>
              <a:cs typeface="+mn-cs"/>
            </a:rPr>
            <a:t>organisation</a:t>
          </a:r>
          <a:r>
            <a:rPr lang="en-US" sz="1000" kern="1200" dirty="0">
              <a:solidFill>
                <a:sysClr val="windowText" lastClr="000000">
                  <a:hueOff val="0"/>
                  <a:satOff val="0"/>
                  <a:lumOff val="0"/>
                  <a:alphaOff val="0"/>
                </a:sysClr>
              </a:solidFill>
              <a:latin typeface="Calibri"/>
              <a:ea typeface="+mn-ea"/>
              <a:cs typeface="+mn-cs"/>
            </a:rPr>
            <a:t> outside the Prudential Group </a:t>
          </a:r>
        </a:p>
      </dsp:txBody>
      <dsp:txXfrm>
        <a:off x="1664832" y="27"/>
        <a:ext cx="1410777" cy="846466"/>
      </dsp:txXfrm>
    </dsp:sp>
    <dsp:sp modelId="{7DB57885-ED5C-4E01-BF75-7C92A5FB5F5A}">
      <dsp:nvSpPr>
        <dsp:cNvPr id="0" name=""/>
        <dsp:cNvSpPr/>
      </dsp:nvSpPr>
      <dsp:spPr>
        <a:xfrm>
          <a:off x="3216687" y="0"/>
          <a:ext cx="1410777" cy="846466"/>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ysClr val="windowText" lastClr="000000">
                  <a:hueOff val="0"/>
                  <a:satOff val="0"/>
                  <a:lumOff val="0"/>
                  <a:alphaOff val="0"/>
                </a:sysClr>
              </a:solidFill>
              <a:latin typeface="Calibri"/>
              <a:ea typeface="+mn-ea"/>
              <a:cs typeface="+mn-cs"/>
            </a:rPr>
            <a:t>Substantial shareholding (more than 5%), ownership, partnership or sole proprietorship  in any </a:t>
          </a:r>
          <a:r>
            <a:rPr lang="en-US" sz="1000" kern="1200" dirty="0" err="1">
              <a:solidFill>
                <a:sysClr val="windowText" lastClr="000000">
                  <a:hueOff val="0"/>
                  <a:satOff val="0"/>
                  <a:lumOff val="0"/>
                  <a:alphaOff val="0"/>
                </a:sysClr>
              </a:solidFill>
              <a:latin typeface="Calibri"/>
              <a:ea typeface="+mn-ea"/>
              <a:cs typeface="+mn-cs"/>
            </a:rPr>
            <a:t>organisation</a:t>
          </a:r>
          <a:endParaRPr lang="en-US" sz="1000" kern="1200" dirty="0">
            <a:solidFill>
              <a:sysClr val="windowText" lastClr="000000">
                <a:hueOff val="0"/>
                <a:satOff val="0"/>
                <a:lumOff val="0"/>
                <a:alphaOff val="0"/>
              </a:sysClr>
            </a:solidFill>
            <a:latin typeface="Calibri"/>
            <a:ea typeface="+mn-ea"/>
            <a:cs typeface="+mn-cs"/>
          </a:endParaRPr>
        </a:p>
      </dsp:txBody>
      <dsp:txXfrm>
        <a:off x="3216687" y="0"/>
        <a:ext cx="1410777" cy="846466"/>
      </dsp:txXfrm>
    </dsp:sp>
    <dsp:sp modelId="{04F9D9C8-92C2-4250-B7FF-9DFD29E2C7E9}">
      <dsp:nvSpPr>
        <dsp:cNvPr id="0" name=""/>
        <dsp:cNvSpPr/>
      </dsp:nvSpPr>
      <dsp:spPr>
        <a:xfrm>
          <a:off x="4768543" y="27"/>
          <a:ext cx="1410777" cy="846466"/>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ysClr val="windowText" lastClr="000000">
                  <a:hueOff val="0"/>
                  <a:satOff val="0"/>
                  <a:lumOff val="0"/>
                  <a:alphaOff val="0"/>
                </a:sysClr>
              </a:solidFill>
              <a:latin typeface="Calibri"/>
              <a:ea typeface="+mn-ea"/>
              <a:cs typeface="+mn-cs"/>
            </a:rPr>
            <a:t>second jobs (full-time or part-time)</a:t>
          </a:r>
        </a:p>
      </dsp:txBody>
      <dsp:txXfrm>
        <a:off x="4768543" y="27"/>
        <a:ext cx="1410777" cy="846466"/>
      </dsp:txXfrm>
    </dsp:sp>
    <dsp:sp modelId="{BEF5B212-F82C-4451-B12B-7E18ED494CD0}">
      <dsp:nvSpPr>
        <dsp:cNvPr id="0" name=""/>
        <dsp:cNvSpPr/>
      </dsp:nvSpPr>
      <dsp:spPr>
        <a:xfrm>
          <a:off x="6320398" y="27"/>
          <a:ext cx="1410777" cy="846466"/>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ysClr val="windowText" lastClr="000000">
                  <a:hueOff val="0"/>
                  <a:satOff val="0"/>
                  <a:lumOff val="0"/>
                  <a:alphaOff val="0"/>
                </a:sysClr>
              </a:solidFill>
              <a:latin typeface="Calibri"/>
              <a:ea typeface="+mn-ea"/>
              <a:cs typeface="+mn-cs"/>
            </a:rPr>
            <a:t>Your relatives who are currently employed / contracted by Prudential (including sales agents)</a:t>
          </a:r>
        </a:p>
      </dsp:txBody>
      <dsp:txXfrm>
        <a:off x="6320398" y="27"/>
        <a:ext cx="1410777" cy="8464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EB62A-EB1E-4BA8-8EA7-6ECE8E66EC04}">
      <dsp:nvSpPr>
        <dsp:cNvPr id="0" name=""/>
        <dsp:cNvSpPr/>
      </dsp:nvSpPr>
      <dsp:spPr>
        <a:xfrm>
          <a:off x="0" y="153020"/>
          <a:ext cx="8330225" cy="9292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In addition to employees' self-declaration, the company conducts staff background checks covering e.g. External Directorships. Furthermore, due diligence is performed on critical third-party engagements that take into consideration the shareholding, directorship and beneficial ownership of such third-parties. Back-end personal COI checks may be performed on a periodic basis on third-parties to identify potential undeclared external interests or relationships from staff.</a:t>
          </a:r>
        </a:p>
      </dsp:txBody>
      <dsp:txXfrm>
        <a:off x="0" y="153020"/>
        <a:ext cx="8330225" cy="929250"/>
      </dsp:txXfrm>
    </dsp:sp>
    <dsp:sp modelId="{8837F4A7-BBF5-45B1-8ED8-7AFE8174FC6C}">
      <dsp:nvSpPr>
        <dsp:cNvPr id="0" name=""/>
        <dsp:cNvSpPr/>
      </dsp:nvSpPr>
      <dsp:spPr>
        <a:xfrm>
          <a:off x="416511" y="5420"/>
          <a:ext cx="5831157" cy="2952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Staff background check, third-party due diligence and personal COI check </a:t>
          </a:r>
        </a:p>
      </dsp:txBody>
      <dsp:txXfrm>
        <a:off x="430921" y="19830"/>
        <a:ext cx="5802337" cy="266380"/>
      </dsp:txXfrm>
    </dsp:sp>
    <dsp:sp modelId="{DF5270A6-DBE2-4719-BADA-D51E0CEF0092}">
      <dsp:nvSpPr>
        <dsp:cNvPr id="0" name=""/>
        <dsp:cNvSpPr/>
      </dsp:nvSpPr>
      <dsp:spPr>
        <a:xfrm>
          <a:off x="0" y="1283871"/>
          <a:ext cx="8330225" cy="92925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Information barriers are designed to control the flow of information between different parts of an </a:t>
          </a:r>
          <a:r>
            <a:rPr lang="en-US" sz="1100" kern="1200" dirty="0" err="1">
              <a:solidFill>
                <a:sysClr val="windowText" lastClr="000000">
                  <a:hueOff val="0"/>
                  <a:satOff val="0"/>
                  <a:lumOff val="0"/>
                  <a:alphaOff val="0"/>
                </a:sysClr>
              </a:solidFill>
              <a:latin typeface="Calibri"/>
              <a:ea typeface="+mn-ea"/>
              <a:cs typeface="+mn-cs"/>
            </a:rPr>
            <a:t>organisation</a:t>
          </a:r>
          <a:r>
            <a:rPr lang="en-US" sz="1100" kern="1200" dirty="0">
              <a:solidFill>
                <a:sysClr val="windowText" lastClr="000000">
                  <a:hueOff val="0"/>
                  <a:satOff val="0"/>
                  <a:lumOff val="0"/>
                  <a:alphaOff val="0"/>
                </a:sysClr>
              </a:solidFill>
              <a:latin typeface="Calibri"/>
              <a:ea typeface="+mn-ea"/>
              <a:cs typeface="+mn-cs"/>
            </a:rPr>
            <a:t>. These barriers can be physical or procedural. Examples are physical separation barriers (by floors, walls, dedicated rooms) of functions within Prudential, and effective IT security control procedures that allow only certain groups of staff to access certain information.</a:t>
          </a:r>
        </a:p>
      </dsp:txBody>
      <dsp:txXfrm>
        <a:off x="0" y="1283871"/>
        <a:ext cx="8330225" cy="929250"/>
      </dsp:txXfrm>
    </dsp:sp>
    <dsp:sp modelId="{FE3F5E12-620E-4630-868E-D1F57493E3DB}">
      <dsp:nvSpPr>
        <dsp:cNvPr id="0" name=""/>
        <dsp:cNvSpPr/>
      </dsp:nvSpPr>
      <dsp:spPr>
        <a:xfrm>
          <a:off x="416511" y="1136271"/>
          <a:ext cx="5831157" cy="2952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GB" sz="1200" b="1" kern="1200" dirty="0">
              <a:solidFill>
                <a:sysClr val="windowText" lastClr="000000">
                  <a:hueOff val="0"/>
                  <a:satOff val="0"/>
                  <a:lumOff val="0"/>
                  <a:alphaOff val="0"/>
                </a:sysClr>
              </a:solidFill>
              <a:latin typeface="Calibri"/>
              <a:ea typeface="+mn-ea"/>
              <a:cs typeface="+mn-cs"/>
            </a:rPr>
            <a:t>Information barriers</a:t>
          </a:r>
          <a:endParaRPr lang="en-US" sz="1200" b="1" kern="1200" dirty="0">
            <a:solidFill>
              <a:sysClr val="windowText" lastClr="000000">
                <a:hueOff val="0"/>
                <a:satOff val="0"/>
                <a:lumOff val="0"/>
                <a:alphaOff val="0"/>
              </a:sysClr>
            </a:solidFill>
            <a:latin typeface="Calibri"/>
            <a:ea typeface="+mn-ea"/>
            <a:cs typeface="+mn-cs"/>
          </a:endParaRPr>
        </a:p>
      </dsp:txBody>
      <dsp:txXfrm>
        <a:off x="430921" y="1150681"/>
        <a:ext cx="5802337" cy="266380"/>
      </dsp:txXfrm>
    </dsp:sp>
    <dsp:sp modelId="{C4DE704F-556D-407F-90BE-C5EAE9274229}">
      <dsp:nvSpPr>
        <dsp:cNvPr id="0" name=""/>
        <dsp:cNvSpPr/>
      </dsp:nvSpPr>
      <dsp:spPr>
        <a:xfrm>
          <a:off x="0" y="2420141"/>
          <a:ext cx="8330225" cy="11025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Each employee's role and responsibilities should be clearly defined and should not require an employee to be involved in separate services or activities that would impair the proper management of conflicts. For example, it would be inappropriate for an employee to act as both the preparer and approver on business transactions and deals. Generally, these duties must be segregated.</a:t>
          </a:r>
        </a:p>
        <a:p>
          <a:pPr marL="114300" lvl="1" indent="-114300" algn="l" defTabSz="622300">
            <a:lnSpc>
              <a:spcPct val="90000"/>
            </a:lnSpc>
            <a:spcBef>
              <a:spcPct val="0"/>
            </a:spcBef>
            <a:spcAft>
              <a:spcPct val="15000"/>
            </a:spcAft>
            <a:buFont typeface="Arial" panose="020B0604020202020204" pitchFamily="34" charset="0"/>
            <a:buChar char="•"/>
          </a:pPr>
          <a:endParaRPr lang="en-US" sz="1100" kern="1200" dirty="0">
            <a:solidFill>
              <a:sysClr val="windowText" lastClr="000000">
                <a:hueOff val="0"/>
                <a:satOff val="0"/>
                <a:lumOff val="0"/>
                <a:alphaOff val="0"/>
              </a:sysClr>
            </a:solidFill>
            <a:latin typeface="Calibri"/>
            <a:ea typeface="+mn-ea"/>
            <a:cs typeface="+mn-cs"/>
          </a:endParaRPr>
        </a:p>
      </dsp:txBody>
      <dsp:txXfrm>
        <a:off x="0" y="2420141"/>
        <a:ext cx="8330225" cy="1102500"/>
      </dsp:txXfrm>
    </dsp:sp>
    <dsp:sp modelId="{DCAF682F-E13A-41BC-9490-ECF4893DFFE2}">
      <dsp:nvSpPr>
        <dsp:cNvPr id="0" name=""/>
        <dsp:cNvSpPr/>
      </dsp:nvSpPr>
      <dsp:spPr>
        <a:xfrm>
          <a:off x="416511" y="2267121"/>
          <a:ext cx="5831157" cy="29520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GB" sz="1200" b="1" kern="1200" dirty="0">
              <a:solidFill>
                <a:sysClr val="windowText" lastClr="000000">
                  <a:hueOff val="0"/>
                  <a:satOff val="0"/>
                  <a:lumOff val="0"/>
                  <a:alphaOff val="0"/>
                </a:sysClr>
              </a:solidFill>
              <a:latin typeface="Calibri"/>
              <a:ea typeface="+mn-ea"/>
              <a:cs typeface="+mn-cs"/>
            </a:rPr>
            <a:t>Segregation of duties</a:t>
          </a:r>
          <a:endParaRPr lang="en-US" sz="1200" b="1" kern="1200" dirty="0">
            <a:solidFill>
              <a:sysClr val="windowText" lastClr="000000">
                <a:hueOff val="0"/>
                <a:satOff val="0"/>
                <a:lumOff val="0"/>
                <a:alphaOff val="0"/>
              </a:sysClr>
            </a:solidFill>
            <a:latin typeface="Calibri"/>
            <a:ea typeface="+mn-ea"/>
            <a:cs typeface="+mn-cs"/>
          </a:endParaRPr>
        </a:p>
      </dsp:txBody>
      <dsp:txXfrm>
        <a:off x="430921" y="2281531"/>
        <a:ext cx="5802337" cy="2663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EB62A-EB1E-4BA8-8EA7-6ECE8E66EC04}">
      <dsp:nvSpPr>
        <dsp:cNvPr id="0" name=""/>
        <dsp:cNvSpPr/>
      </dsp:nvSpPr>
      <dsp:spPr>
        <a:xfrm>
          <a:off x="0" y="264872"/>
          <a:ext cx="8127098" cy="9261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Operating rules are embedded in day-to-day processes that ensure that e.g. claims are not assessed by a relative of the claims submitter, an internal investigation into an agent’s or staff’s malpractice is not performed by a close friend. In addition, system controls are put in place by LBUs to ensure employees are not able to review their own policy applications or claim requests.</a:t>
          </a:r>
        </a:p>
      </dsp:txBody>
      <dsp:txXfrm>
        <a:off x="0" y="264872"/>
        <a:ext cx="8127098" cy="926100"/>
      </dsp:txXfrm>
    </dsp:sp>
    <dsp:sp modelId="{8837F4A7-BBF5-45B1-8ED8-7AFE8174FC6C}">
      <dsp:nvSpPr>
        <dsp:cNvPr id="0" name=""/>
        <dsp:cNvSpPr/>
      </dsp:nvSpPr>
      <dsp:spPr>
        <a:xfrm>
          <a:off x="406354" y="41691"/>
          <a:ext cx="5688968" cy="3542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Operating rules and system control</a:t>
          </a:r>
        </a:p>
      </dsp:txBody>
      <dsp:txXfrm>
        <a:off x="423647" y="58984"/>
        <a:ext cx="5654382" cy="319654"/>
      </dsp:txXfrm>
    </dsp:sp>
    <dsp:sp modelId="{E398ABF6-5C3E-4944-9E2A-EACE3EF999E7}">
      <dsp:nvSpPr>
        <dsp:cNvPr id="0" name=""/>
        <dsp:cNvSpPr/>
      </dsp:nvSpPr>
      <dsp:spPr>
        <a:xfrm>
          <a:off x="0" y="1386831"/>
          <a:ext cx="8127098" cy="9261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Oversight and monitoring help in preventing COIs from </a:t>
          </a:r>
          <a:r>
            <a:rPr lang="en-US" sz="1100" kern="1200" dirty="0" err="1">
              <a:solidFill>
                <a:sysClr val="windowText" lastClr="000000">
                  <a:hueOff val="0"/>
                  <a:satOff val="0"/>
                  <a:lumOff val="0"/>
                  <a:alphaOff val="0"/>
                </a:sysClr>
              </a:solidFill>
              <a:latin typeface="Calibri"/>
              <a:ea typeface="+mn-ea"/>
              <a:cs typeface="+mn-cs"/>
            </a:rPr>
            <a:t>materialising</a:t>
          </a:r>
          <a:r>
            <a:rPr lang="en-US" sz="1100" kern="1200" dirty="0">
              <a:solidFill>
                <a:sysClr val="windowText" lastClr="000000">
                  <a:hueOff val="0"/>
                  <a:satOff val="0"/>
                  <a:lumOff val="0"/>
                  <a:alphaOff val="0"/>
                </a:sysClr>
              </a:solidFill>
              <a:latin typeface="Calibri"/>
              <a:ea typeface="+mn-ea"/>
              <a:cs typeface="+mn-cs"/>
            </a:rPr>
            <a:t>. For example, maker-checker controls in the underwriting and claims handling process support ensuring a fair process. Furthermore, reviews from the second and third line as well as oversight by relevant governance forums help identify potential COI issues and gaps in controls that manage key COI risks.</a:t>
          </a:r>
        </a:p>
      </dsp:txBody>
      <dsp:txXfrm>
        <a:off x="0" y="1386831"/>
        <a:ext cx="8127098" cy="926100"/>
      </dsp:txXfrm>
    </dsp:sp>
    <dsp:sp modelId="{40E19DAB-4FA8-49DB-B6A7-DDBFBA69836A}">
      <dsp:nvSpPr>
        <dsp:cNvPr id="0" name=""/>
        <dsp:cNvSpPr/>
      </dsp:nvSpPr>
      <dsp:spPr>
        <a:xfrm>
          <a:off x="392709" y="1102234"/>
          <a:ext cx="5688968" cy="3542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Oversight</a:t>
          </a:r>
        </a:p>
      </dsp:txBody>
      <dsp:txXfrm>
        <a:off x="410002" y="1119527"/>
        <a:ext cx="5654382" cy="319654"/>
      </dsp:txXfrm>
    </dsp:sp>
    <dsp:sp modelId="{EA8AE7E0-30A5-4052-8118-6B04D2185B30}">
      <dsp:nvSpPr>
        <dsp:cNvPr id="0" name=""/>
        <dsp:cNvSpPr/>
      </dsp:nvSpPr>
      <dsp:spPr>
        <a:xfrm>
          <a:off x="0" y="2554851"/>
          <a:ext cx="8127098" cy="926100"/>
        </a:xfrm>
        <a:prstGeom prst="rect">
          <a:avLst/>
        </a:prstGeom>
        <a:solidFill>
          <a:srgbClr val="C0504D">
            <a:alpha val="90000"/>
            <a:tint val="40000"/>
            <a:hueOff val="0"/>
            <a:satOff val="0"/>
            <a:lumOff val="0"/>
            <a:alphaOff val="0"/>
          </a:srgbClr>
        </a:solidFill>
        <a:ln w="9525" cap="flat" cmpd="sng" algn="ctr">
          <a:solidFill>
            <a:srgbClr val="C0504D">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4697" tIns="208280" rIns="574697"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100" kern="1200" dirty="0">
              <a:solidFill>
                <a:sysClr val="windowText" lastClr="000000">
                  <a:hueOff val="0"/>
                  <a:satOff val="0"/>
                  <a:lumOff val="0"/>
                  <a:alphaOff val="0"/>
                </a:sysClr>
              </a:solidFill>
              <a:latin typeface="Calibri"/>
              <a:ea typeface="+mn-ea"/>
              <a:cs typeface="+mn-cs"/>
            </a:rPr>
            <a:t>A COI key risk register that includes all key COI risk scenarios faced by the business as well as the relevant key controls is maintained and reviewed regularly with input from all relevant business functions, with the result reported to senior management and relevant governance forums where required. Any material control gaps identified during the risk assessment are required to be properly followed until they are resolved.</a:t>
          </a:r>
          <a:endParaRPr lang="en-HK" sz="1100" kern="1200" dirty="0">
            <a:solidFill>
              <a:sysClr val="windowText" lastClr="000000">
                <a:hueOff val="0"/>
                <a:satOff val="0"/>
                <a:lumOff val="0"/>
                <a:alphaOff val="0"/>
              </a:sysClr>
            </a:solidFill>
            <a:latin typeface="Calibri"/>
            <a:ea typeface="+mn-ea"/>
            <a:cs typeface="+mn-cs"/>
          </a:endParaRPr>
        </a:p>
      </dsp:txBody>
      <dsp:txXfrm>
        <a:off x="0" y="2554851"/>
        <a:ext cx="8127098" cy="926100"/>
      </dsp:txXfrm>
    </dsp:sp>
    <dsp:sp modelId="{E37E1F4A-5778-46B3-930F-CBC1CC56F1D5}">
      <dsp:nvSpPr>
        <dsp:cNvPr id="0" name=""/>
        <dsp:cNvSpPr/>
      </dsp:nvSpPr>
      <dsp:spPr>
        <a:xfrm>
          <a:off x="392709" y="2270254"/>
          <a:ext cx="5688968" cy="354240"/>
        </a:xfrm>
        <a:prstGeom prst="roundRect">
          <a:avLst/>
        </a:prstGeom>
        <a:gradFill rotWithShape="0">
          <a:gsLst>
            <a:gs pos="0">
              <a:sysClr val="window" lastClr="FFFFFF">
                <a:hueOff val="0"/>
                <a:satOff val="0"/>
                <a:lumOff val="0"/>
                <a:alphaOff val="0"/>
                <a:tint val="50000"/>
                <a:satMod val="300000"/>
              </a:sysClr>
            </a:gs>
            <a:gs pos="35000">
              <a:sysClr val="window" lastClr="FFFFFF">
                <a:hueOff val="0"/>
                <a:satOff val="0"/>
                <a:lumOff val="0"/>
                <a:alphaOff val="0"/>
                <a:tint val="37000"/>
                <a:satMod val="300000"/>
              </a:sysClr>
            </a:gs>
            <a:gs pos="100000">
              <a:sysClr val="window" lastClr="FFFFFF">
                <a:hueOff val="0"/>
                <a:satOff val="0"/>
                <a:lumOff val="0"/>
                <a:alphaOff val="0"/>
                <a:tint val="15000"/>
                <a:satMod val="350000"/>
              </a:sysClr>
            </a:gs>
          </a:gsLst>
          <a:lin ang="16200000" scaled="1"/>
        </a:gradFill>
        <a:ln w="25400" cap="flat" cmpd="sng" algn="ctr">
          <a:noFill/>
          <a:prstDash val="solid"/>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2">
          <a:scrgbClr r="0" g="0" b="0"/>
        </a:lnRef>
        <a:fillRef idx="1">
          <a:scrgbClr r="0" g="0" b="0"/>
        </a:fillRef>
        <a:effectRef idx="0">
          <a:scrgbClr r="0" g="0" b="0"/>
        </a:effectRef>
        <a:fontRef idx="minor">
          <a:schemeClr val="lt1"/>
        </a:fontRef>
      </dsp:style>
      <dsp:txBody>
        <a:bodyPr spcFirstLastPara="0" vert="horz" wrap="square" lIns="195919" tIns="0" rIns="195919" bIns="0" numCol="1" spcCol="1270" anchor="ctr" anchorCtr="0">
          <a:noAutofit/>
        </a:bodyPr>
        <a:lstStyle/>
        <a:p>
          <a:pPr marL="0" lvl="0" indent="0" algn="l" defTabSz="622300">
            <a:lnSpc>
              <a:spcPct val="90000"/>
            </a:lnSpc>
            <a:spcBef>
              <a:spcPct val="0"/>
            </a:spcBef>
            <a:spcAft>
              <a:spcPct val="35000"/>
            </a:spcAft>
            <a:buNone/>
          </a:pPr>
          <a:r>
            <a:rPr lang="en-US" sz="1200" b="1" kern="1200" dirty="0">
              <a:solidFill>
                <a:sysClr val="windowText" lastClr="000000">
                  <a:hueOff val="0"/>
                  <a:satOff val="0"/>
                  <a:lumOff val="0"/>
                  <a:alphaOff val="0"/>
                </a:sysClr>
              </a:solidFill>
              <a:latin typeface="Calibri"/>
              <a:ea typeface="+mn-ea"/>
              <a:cs typeface="+mn-cs"/>
            </a:rPr>
            <a:t>COI risk assessment </a:t>
          </a:r>
        </a:p>
      </dsp:txBody>
      <dsp:txXfrm>
        <a:off x="410002" y="2287547"/>
        <a:ext cx="5654382"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AE72A6A-0F23-40E5-908C-C2FC1A24B984}"/>
              </a:ext>
            </a:extLst>
          </p:cNvPr>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B423A94-E87D-4949-B11B-37E9EAB43C4F}"/>
              </a:ext>
            </a:extLst>
          </p:cNvPr>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F39F51ED-F007-4DA9-B639-AD09B4AEDA28}" type="datetimeFigureOut">
              <a:rPr lang="en-GB" smtClean="0"/>
              <a:t>03/04/2024</a:t>
            </a:fld>
            <a:endParaRPr lang="en-GB"/>
          </a:p>
        </p:txBody>
      </p:sp>
      <p:sp>
        <p:nvSpPr>
          <p:cNvPr id="4" name="Footer Placeholder 3">
            <a:extLst>
              <a:ext uri="{FF2B5EF4-FFF2-40B4-BE49-F238E27FC236}">
                <a16:creationId xmlns:a16="http://schemas.microsoft.com/office/drawing/2014/main" id="{DA76408C-7BB5-49F6-BC98-5D9338FF0575}"/>
              </a:ext>
            </a:extLst>
          </p:cNvPr>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5075BD2-950F-42BA-982F-3B34747F8692}"/>
              </a:ext>
            </a:extLst>
          </p:cNvPr>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074322ED-D04E-4F18-BFA2-C66FEDE015B1}" type="slidenum">
              <a:rPr lang="en-GB" smtClean="0"/>
              <a:t>‹#›</a:t>
            </a:fld>
            <a:endParaRPr lang="en-GB"/>
          </a:p>
        </p:txBody>
      </p:sp>
    </p:spTree>
    <p:extLst>
      <p:ext uri="{BB962C8B-B14F-4D97-AF65-F5344CB8AC3E}">
        <p14:creationId xmlns:p14="http://schemas.microsoft.com/office/powerpoint/2010/main" val="3676425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20A99CD8-16BA-4019-9B6B-D232F3FB7790}" type="datetimeFigureOut">
              <a:rPr lang="en-GB" smtClean="0"/>
              <a:t>03/04/2024</a:t>
            </a:fld>
            <a:endParaRPr lang="en-GB"/>
          </a:p>
        </p:txBody>
      </p:sp>
      <p:sp>
        <p:nvSpPr>
          <p:cNvPr id="4" name="Slide Image Placeholder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A87BE469-4EEC-4862-A5E1-28ECEC75725C}" type="slidenum">
              <a:rPr lang="en-GB" smtClean="0"/>
              <a:t>‹#›</a:t>
            </a:fld>
            <a:endParaRPr lang="en-GB"/>
          </a:p>
        </p:txBody>
      </p:sp>
    </p:spTree>
    <p:extLst>
      <p:ext uri="{BB962C8B-B14F-4D97-AF65-F5344CB8AC3E}">
        <p14:creationId xmlns:p14="http://schemas.microsoft.com/office/powerpoint/2010/main" val="3126978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Page">
    <p:spTree>
      <p:nvGrpSpPr>
        <p:cNvPr id="1" name=""/>
        <p:cNvGrpSpPr/>
        <p:nvPr/>
      </p:nvGrpSpPr>
      <p:grpSpPr>
        <a:xfrm>
          <a:off x="0" y="0"/>
          <a:ext cx="0" cy="0"/>
          <a:chOff x="0" y="0"/>
          <a:chExt cx="0" cy="0"/>
        </a:xfrm>
      </p:grpSpPr>
      <p:pic>
        <p:nvPicPr>
          <p:cNvPr id="11" name="Picture 3"/>
          <p:cNvPicPr>
            <a:picLocks noChangeAspect="1" noChangeArrowheads="1"/>
          </p:cNvPicPr>
          <p:nvPr userDrawn="1"/>
        </p:nvPicPr>
        <p:blipFill>
          <a:blip r:embed="rId2"/>
          <a:srcRect l="12501" t="29888" r="21959"/>
          <a:stretch>
            <a:fillRect/>
          </a:stretch>
        </p:blipFill>
        <p:spPr bwMode="auto">
          <a:xfrm>
            <a:off x="0" y="0"/>
            <a:ext cx="9144001" cy="3562952"/>
          </a:xfrm>
          <a:prstGeom prst="rect">
            <a:avLst/>
          </a:prstGeom>
          <a:noFill/>
          <a:ln w="9525">
            <a:noFill/>
            <a:miter lim="800000"/>
            <a:headEnd/>
            <a:tailEnd/>
          </a:ln>
          <a:effectLst/>
        </p:spPr>
      </p:pic>
      <p:sp>
        <p:nvSpPr>
          <p:cNvPr id="3" name="Text Placeholder 2"/>
          <p:cNvSpPr>
            <a:spLocks noGrp="1"/>
          </p:cNvSpPr>
          <p:nvPr>
            <p:ph type="body" idx="1" hasCustomPrompt="1"/>
          </p:nvPr>
        </p:nvSpPr>
        <p:spPr>
          <a:xfrm>
            <a:off x="685800" y="4579620"/>
            <a:ext cx="363306" cy="159018"/>
          </a:xfrm>
          <a:prstGeom prst="rect">
            <a:avLst/>
          </a:prstGeom>
        </p:spPr>
        <p:txBody>
          <a:bodyPr wrap="none" lIns="0" tIns="0" rIns="0" bIns="0" anchor="t" anchorCtr="0">
            <a:spAutoFit/>
          </a:bodyPr>
          <a:lstStyle>
            <a:lvl1pPr marL="0" indent="0">
              <a:lnSpc>
                <a:spcPts val="1200"/>
              </a:lnSpc>
              <a:spcBef>
                <a:spcPts val="0"/>
              </a:spcBef>
              <a:buNone/>
              <a:defRPr sz="1200" baseline="0">
                <a:solidFill>
                  <a:srgbClr val="68737A"/>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Date</a:t>
            </a:r>
          </a:p>
        </p:txBody>
      </p:sp>
      <p:sp>
        <p:nvSpPr>
          <p:cNvPr id="14" name="Text Placeholder 2"/>
          <p:cNvSpPr>
            <a:spLocks noGrp="1"/>
          </p:cNvSpPr>
          <p:nvPr>
            <p:ph type="body" idx="11" hasCustomPrompt="1"/>
          </p:nvPr>
        </p:nvSpPr>
        <p:spPr>
          <a:xfrm>
            <a:off x="2243409" y="4579620"/>
            <a:ext cx="924231" cy="159018"/>
          </a:xfrm>
          <a:prstGeom prst="rect">
            <a:avLst/>
          </a:prstGeom>
        </p:spPr>
        <p:txBody>
          <a:bodyPr wrap="none" lIns="0" tIns="0" rIns="0" bIns="0" anchor="t" anchorCtr="0">
            <a:spAutoFit/>
          </a:bodyPr>
          <a:lstStyle>
            <a:lvl1pPr marL="0" indent="0">
              <a:lnSpc>
                <a:spcPts val="1200"/>
              </a:lnSpc>
              <a:spcBef>
                <a:spcPts val="0"/>
              </a:spcBef>
              <a:buNone/>
              <a:defRPr sz="1200" baseline="0">
                <a:solidFill>
                  <a:srgbClr val="68737A"/>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Department</a:t>
            </a:r>
          </a:p>
        </p:txBody>
      </p:sp>
      <p:sp>
        <p:nvSpPr>
          <p:cNvPr id="9" name="TextBox 8"/>
          <p:cNvSpPr txBox="1"/>
          <p:nvPr/>
        </p:nvSpPr>
        <p:spPr>
          <a:xfrm>
            <a:off x="8134350" y="4908550"/>
            <a:ext cx="914400" cy="914400"/>
          </a:xfrm>
          <a:prstGeom prst="rect">
            <a:avLst/>
          </a:prstGeom>
        </p:spPr>
        <p:txBody>
          <a:bodyPr vert="horz" wrap="none" lIns="91440" tIns="45720" rIns="91440" bIns="45720" rtlCol="0" anchor="ctr">
            <a:normAutofit/>
          </a:bodyPr>
          <a:lstStyle/>
          <a:p>
            <a:pPr marL="0" marR="0" indent="0" algn="ctr" defTabSz="457200" rtl="0" eaLnBrk="1" fontAlgn="auto" latinLnBrk="0" hangingPunct="1">
              <a:lnSpc>
                <a:spcPct val="100000"/>
              </a:lnSpc>
              <a:spcBef>
                <a:spcPct val="0"/>
              </a:spcBef>
              <a:spcAft>
                <a:spcPts val="0"/>
              </a:spcAft>
              <a:buClrTx/>
              <a:buSzTx/>
              <a:buFontTx/>
              <a:buNone/>
              <a:tabLst/>
            </a:pPr>
            <a:endParaRPr kumimoji="0" lang="en-US" sz="4400" b="0" i="0" u="none" strike="noStrike" kern="1200" cap="none" spc="0" normalizeH="0" baseline="0" noProof="0">
              <a:ln>
                <a:noFill/>
              </a:ln>
              <a:solidFill>
                <a:schemeClr val="tx1"/>
              </a:solidFill>
              <a:effectLst/>
              <a:uLnTx/>
              <a:uFillTx/>
              <a:latin typeface="Verdana"/>
              <a:ea typeface="+mj-ea"/>
              <a:cs typeface="+mj-cs"/>
            </a:endParaRPr>
          </a:p>
        </p:txBody>
      </p:sp>
      <p:pic>
        <p:nvPicPr>
          <p:cNvPr id="15" name="Picture 2"/>
          <p:cNvPicPr>
            <a:picLocks noChangeAspect="1" noChangeArrowheads="1"/>
          </p:cNvPicPr>
          <p:nvPr/>
        </p:nvPicPr>
        <p:blipFill>
          <a:blip r:embed="rId3"/>
          <a:srcRect/>
          <a:stretch>
            <a:fillRect/>
          </a:stretch>
        </p:blipFill>
        <p:spPr bwMode="auto">
          <a:xfrm>
            <a:off x="685800" y="402621"/>
            <a:ext cx="1336802" cy="603250"/>
          </a:xfrm>
          <a:prstGeom prst="rect">
            <a:avLst/>
          </a:prstGeom>
          <a:noFill/>
          <a:ln w="9525">
            <a:noFill/>
            <a:miter lim="800000"/>
            <a:headEnd/>
            <a:tailEnd/>
          </a:ln>
          <a:effectLst/>
        </p:spPr>
      </p:pic>
      <p:sp>
        <p:nvSpPr>
          <p:cNvPr id="16" name="TextBox 15"/>
          <p:cNvSpPr txBox="1"/>
          <p:nvPr/>
        </p:nvSpPr>
        <p:spPr>
          <a:xfrm>
            <a:off x="8134350" y="4908550"/>
            <a:ext cx="914400" cy="914400"/>
          </a:xfrm>
          <a:prstGeom prst="rect">
            <a:avLst/>
          </a:prstGeom>
        </p:spPr>
        <p:txBody>
          <a:bodyPr vert="horz" wrap="none" lIns="91440" tIns="45720" rIns="91440" bIns="45720" rtlCol="0" anchor="ctr">
            <a:normAutofit/>
          </a:bodyPr>
          <a:lstStyle/>
          <a:p>
            <a:pPr marL="0" marR="0" indent="0" algn="ctr" defTabSz="457200" rtl="0" eaLnBrk="1" fontAlgn="auto" latinLnBrk="0" hangingPunct="1">
              <a:lnSpc>
                <a:spcPct val="100000"/>
              </a:lnSpc>
              <a:spcBef>
                <a:spcPct val="0"/>
              </a:spcBef>
              <a:spcAft>
                <a:spcPts val="0"/>
              </a:spcAft>
              <a:buClrTx/>
              <a:buSzTx/>
              <a:buFontTx/>
              <a:buNone/>
              <a:tabLst/>
            </a:pPr>
            <a:endParaRPr kumimoji="0" lang="en-US" sz="4400" b="0" i="0" u="none" strike="noStrike" kern="1200" cap="none" spc="0" normalizeH="0" baseline="0" noProof="0">
              <a:ln>
                <a:noFill/>
              </a:ln>
              <a:solidFill>
                <a:schemeClr val="tx1"/>
              </a:solidFill>
              <a:effectLst/>
              <a:uLnTx/>
              <a:uFillTx/>
              <a:latin typeface="Verdana"/>
              <a:ea typeface="+mj-ea"/>
              <a:cs typeface="+mj-cs"/>
            </a:endParaRPr>
          </a:p>
        </p:txBody>
      </p:sp>
      <p:sp>
        <p:nvSpPr>
          <p:cNvPr id="2" name="Title 1"/>
          <p:cNvSpPr>
            <a:spLocks noGrp="1"/>
          </p:cNvSpPr>
          <p:nvPr>
            <p:ph type="title" hasCustomPrompt="1"/>
          </p:nvPr>
        </p:nvSpPr>
        <p:spPr>
          <a:xfrm>
            <a:off x="685800" y="3411937"/>
            <a:ext cx="7494037" cy="995999"/>
          </a:xfrm>
          <a:prstGeom prst="rect">
            <a:avLst/>
          </a:prstGeom>
        </p:spPr>
        <p:txBody>
          <a:bodyPr wrap="square" lIns="0" tIns="0" rIns="0" bIns="0" anchor="b" anchorCtr="0">
            <a:noAutofit/>
          </a:bodyPr>
          <a:lstStyle>
            <a:lvl1pPr algn="l">
              <a:lnSpc>
                <a:spcPts val="3800"/>
              </a:lnSpc>
              <a:defRPr sz="2800" b="0" cap="none">
                <a:solidFill>
                  <a:srgbClr val="68737A"/>
                </a:solidFill>
              </a:defRPr>
            </a:lvl1pPr>
          </a:lstStyle>
          <a:p>
            <a:r>
              <a:rPr lang="en-US" dirty="0"/>
              <a:t>Click to edit </a:t>
            </a:r>
            <a:br>
              <a:rPr lang="en-US" dirty="0"/>
            </a:br>
            <a:r>
              <a:rPr lang="en-US" dirty="0"/>
              <a:t>master text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97C1E-5D03-B74B-8E0A-279962218740}"/>
              </a:ext>
            </a:extLst>
          </p:cNvPr>
          <p:cNvPicPr>
            <a:picLocks noChangeAspect="1"/>
          </p:cNvPicPr>
          <p:nvPr userDrawn="1"/>
        </p:nvPicPr>
        <p:blipFill rotWithShape="1">
          <a:blip r:embed="rId2"/>
          <a:srcRect t="35907" b="5105"/>
          <a:stretch/>
        </p:blipFill>
        <p:spPr>
          <a:xfrm>
            <a:off x="0" y="2109458"/>
            <a:ext cx="9144000" cy="3034042"/>
          </a:xfrm>
          <a:prstGeom prst="rect">
            <a:avLst/>
          </a:prstGeom>
        </p:spPr>
      </p:pic>
      <p:sp>
        <p:nvSpPr>
          <p:cNvPr id="3" name="Text Placeholder 2"/>
          <p:cNvSpPr>
            <a:spLocks noGrp="1"/>
          </p:cNvSpPr>
          <p:nvPr>
            <p:ph type="body" idx="1" hasCustomPrompt="1"/>
          </p:nvPr>
        </p:nvSpPr>
        <p:spPr>
          <a:xfrm>
            <a:off x="685800" y="1184973"/>
            <a:ext cx="7734302" cy="325069"/>
          </a:xfrm>
          <a:prstGeom prst="rect">
            <a:avLst/>
          </a:prstGeom>
        </p:spPr>
        <p:txBody>
          <a:bodyPr wrap="square" lIns="18288" tIns="0" rIns="0" bIns="0" anchor="t" anchorCtr="0">
            <a:noAutofit/>
          </a:bodyPr>
          <a:lstStyle>
            <a:lvl1pPr marL="0" indent="0">
              <a:lnSpc>
                <a:spcPts val="2000"/>
              </a:lnSpc>
              <a:spcBef>
                <a:spcPts val="0"/>
              </a:spcBef>
              <a:buNone/>
              <a:defRPr sz="1800" baseline="0">
                <a:solidFill>
                  <a:srgbClr val="68737A"/>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a:t>
            </a:r>
          </a:p>
        </p:txBody>
      </p:sp>
      <p:sp>
        <p:nvSpPr>
          <p:cNvPr id="2" name="Title 1"/>
          <p:cNvSpPr>
            <a:spLocks noGrp="1"/>
          </p:cNvSpPr>
          <p:nvPr>
            <p:ph type="title" hasCustomPrompt="1"/>
          </p:nvPr>
        </p:nvSpPr>
        <p:spPr>
          <a:xfrm>
            <a:off x="685800" y="1510042"/>
            <a:ext cx="7734300" cy="1061708"/>
          </a:xfrm>
          <a:prstGeom prst="rect">
            <a:avLst/>
          </a:prstGeom>
        </p:spPr>
        <p:txBody>
          <a:bodyPr wrap="square" lIns="0" tIns="0" rIns="0" bIns="0" anchor="t">
            <a:noAutofit/>
          </a:bodyPr>
          <a:lstStyle>
            <a:lvl1pPr algn="l">
              <a:lnSpc>
                <a:spcPts val="3400"/>
              </a:lnSpc>
              <a:defRPr sz="3000" b="0" cap="none">
                <a:solidFill>
                  <a:srgbClr val="68737A"/>
                </a:solidFill>
              </a:defRPr>
            </a:lvl1pPr>
          </a:lstStyle>
          <a:p>
            <a:r>
              <a:rPr lang="en-US" dirty="0"/>
              <a:t>Click to edit master text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461529"/>
            <a:ext cx="7200026" cy="296662"/>
          </a:xfrm>
          <a:prstGeom prst="rect">
            <a:avLst/>
          </a:prstGeom>
        </p:spPr>
        <p:txBody>
          <a:bodyPr wrap="square" lIns="0" tIns="0" rIns="0" bIns="0" anchor="t" anchorCtr="0">
            <a:noAutofit/>
          </a:bodyPr>
          <a:lstStyle>
            <a:lvl1pPr algn="l">
              <a:lnSpc>
                <a:spcPts val="2800"/>
              </a:lnSpc>
              <a:defRPr sz="2400" b="0" baseline="0">
                <a:solidFill>
                  <a:srgbClr val="68737A"/>
                </a:solidFill>
              </a:defRPr>
            </a:lvl1pPr>
          </a:lstStyle>
          <a:p>
            <a:r>
              <a:rPr lang="en-US" dirty="0"/>
              <a:t>Click to edit master text style</a:t>
            </a:r>
          </a:p>
        </p:txBody>
      </p:sp>
      <p:pic>
        <p:nvPicPr>
          <p:cNvPr id="8" name="Picture 2"/>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7" name="Footer Placeholder 4"/>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1"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sp>
        <p:nvSpPr>
          <p:cNvPr id="9" name="Text Placeholder 4">
            <a:extLst>
              <a:ext uri="{FF2B5EF4-FFF2-40B4-BE49-F238E27FC236}">
                <a16:creationId xmlns:a16="http://schemas.microsoft.com/office/drawing/2014/main" id="{A1F4906D-0223-E04B-8578-CF01B3F1929F}"/>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pic>
        <p:nvPicPr>
          <p:cNvPr id="10" name="Picture 2"/>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2" name="Footer Placeholder 4"/>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3"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sp>
        <p:nvSpPr>
          <p:cNvPr id="16" name="Content Placeholder 15">
            <a:extLst>
              <a:ext uri="{FF2B5EF4-FFF2-40B4-BE49-F238E27FC236}">
                <a16:creationId xmlns:a16="http://schemas.microsoft.com/office/drawing/2014/main" id="{1D6298DA-E31F-2F40-A903-04C7B5D5DAC6}"/>
              </a:ext>
            </a:extLst>
          </p:cNvPr>
          <p:cNvSpPr>
            <a:spLocks noGrp="1"/>
          </p:cNvSpPr>
          <p:nvPr>
            <p:ph sz="quarter" idx="10"/>
          </p:nvPr>
        </p:nvSpPr>
        <p:spPr/>
        <p:txBody>
          <a:bodyPr/>
          <a:lstStyle>
            <a:lvl1pPr marL="171450" marR="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lvl1pPr>
            <a:lvl2pPr marL="347472" marR="0" indent="-171450" algn="l" defTabSz="457200" rtl="0" eaLnBrk="1" fontAlgn="auto" latinLnBrk="0" hangingPunct="1">
              <a:lnSpc>
                <a:spcPct val="100000"/>
              </a:lnSpc>
              <a:spcBef>
                <a:spcPts val="0"/>
              </a:spcBef>
              <a:spcAft>
                <a:spcPts val="600"/>
              </a:spcAft>
              <a:buClrTx/>
              <a:buSzTx/>
              <a:buFont typeface="System Font Regular"/>
              <a:buChar char="–"/>
              <a:tabLst/>
              <a:defRPr/>
            </a:lvl2pPr>
            <a:lvl3pPr marL="521208" marR="0" indent="-171450" algn="l" defTabSz="457200" rtl="0" eaLnBrk="1" fontAlgn="auto" latinLnBrk="0" hangingPunct="1">
              <a:lnSpc>
                <a:spcPct val="100000"/>
              </a:lnSpc>
              <a:spcBef>
                <a:spcPts val="0"/>
              </a:spcBef>
              <a:spcAft>
                <a:spcPts val="600"/>
              </a:spcAft>
              <a:buClrTx/>
              <a:buSzTx/>
              <a:buFont typeface="Courier New" panose="020F0502020204030204" pitchFamily="34" charset="0"/>
              <a:buChar char="o"/>
              <a:tabLst/>
              <a:defRPr/>
            </a:lvl3pPr>
            <a:lvl4pPr marL="694944" marR="0" indent="-171450" algn="l" defTabSz="173736" rtl="0" eaLnBrk="1" fontAlgn="auto" latinLnBrk="0" hangingPunct="1">
              <a:lnSpc>
                <a:spcPct val="100000"/>
              </a:lnSpc>
              <a:spcBef>
                <a:spcPts val="0"/>
              </a:spcBef>
              <a:spcAft>
                <a:spcPts val="600"/>
              </a:spcAft>
              <a:buClrTx/>
              <a:buSzTx/>
              <a:buFont typeface="Wingdings" pitchFamily="2" charset="2"/>
              <a:buChar char="Ø"/>
              <a:tabLst/>
              <a:defRPr/>
            </a:lvl4pPr>
            <a:lvl5pPr marL="868680" marR="0" indent="-169863" algn="l" defTabSz="457200" rtl="0" eaLnBrk="1" fontAlgn="auto" latinLnBrk="0" hangingPunct="1">
              <a:lnSpc>
                <a:spcPct val="100000"/>
              </a:lnSpc>
              <a:spcBef>
                <a:spcPts val="0"/>
              </a:spcBef>
              <a:spcAft>
                <a:spcPts val="600"/>
              </a:spcAft>
              <a:buClrTx/>
              <a:buSzTx/>
              <a:buFont typeface="Wingdings" pitchFamily="2" charset="2"/>
              <a:buChar char="§"/>
              <a:tabLst/>
              <a:defRPr/>
            </a:lvl5pPr>
            <a:lvl6pPr marL="1042416" marR="0" indent="-171450" algn="l" defTabSz="457200" rtl="0" eaLnBrk="1" fontAlgn="auto" latinLnBrk="0" hangingPunct="1">
              <a:lnSpc>
                <a:spcPct val="100000"/>
              </a:lnSpc>
              <a:spcBef>
                <a:spcPts val="0"/>
              </a:spcBef>
              <a:spcAft>
                <a:spcPts val="600"/>
              </a:spcAft>
              <a:buClrTx/>
              <a:buSzTx/>
              <a:buFont typeface="Arial"/>
              <a:buChar char="•"/>
              <a:tabLst/>
              <a:defRPr/>
            </a:lvl6pPr>
          </a:lstStyle>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pPr>
            <a:r>
              <a:rPr kumimoji="0" lang="en-US" sz="1200" b="0" i="0" u="none" strike="noStrike" kern="1200" cap="none" spc="0" normalizeH="0" baseline="0" noProof="0">
                <a:ln>
                  <a:noFill/>
                </a:ln>
                <a:solidFill>
                  <a:srgbClr val="687379"/>
                </a:solidFill>
                <a:effectLst/>
                <a:uLnTx/>
                <a:uFillTx/>
                <a:latin typeface="Verdana"/>
                <a:ea typeface="+mn-ea"/>
                <a:cs typeface="+mn-cs"/>
              </a:rPr>
              <a:t>Click to edit Master text styles</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pPr>
            <a:r>
              <a:rPr kumimoji="0" lang="en-US" sz="1200" b="0" i="0" u="none" strike="noStrike" kern="1200" cap="none" spc="0" normalizeH="0" baseline="0" noProof="0">
                <a:ln>
                  <a:noFill/>
                </a:ln>
                <a:solidFill>
                  <a:srgbClr val="687379"/>
                </a:solidFill>
                <a:effectLst/>
                <a:uLnTx/>
                <a:uFillTx/>
                <a:latin typeface="Verdana"/>
                <a:ea typeface="+mn-ea"/>
                <a:cs typeface="+mn-cs"/>
              </a:rPr>
              <a:t>Second level</a:t>
            </a:r>
          </a:p>
          <a:p>
            <a:pPr marL="171450" marR="0" lvl="2"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pPr>
            <a:r>
              <a:rPr kumimoji="0" lang="en-US" sz="1200" b="0" i="0" u="none" strike="noStrike" kern="1200" cap="none" spc="0" normalizeH="0" baseline="0" noProof="0">
                <a:ln>
                  <a:noFill/>
                </a:ln>
                <a:solidFill>
                  <a:srgbClr val="687379"/>
                </a:solidFill>
                <a:effectLst/>
                <a:uLnTx/>
                <a:uFillTx/>
                <a:latin typeface="Verdana"/>
                <a:ea typeface="+mn-ea"/>
                <a:cs typeface="+mn-cs"/>
              </a:rPr>
              <a:t>Third level</a:t>
            </a:r>
          </a:p>
          <a:p>
            <a:pPr marL="171450" marR="0" lvl="3"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pPr>
            <a:r>
              <a:rPr kumimoji="0" lang="en-US" sz="1200" b="0" i="0" u="none" strike="noStrike" kern="1200" cap="none" spc="0" normalizeH="0" baseline="0" noProof="0">
                <a:ln>
                  <a:noFill/>
                </a:ln>
                <a:solidFill>
                  <a:srgbClr val="687379"/>
                </a:solidFill>
                <a:effectLst/>
                <a:uLnTx/>
                <a:uFillTx/>
                <a:latin typeface="Verdana"/>
                <a:ea typeface="+mn-ea"/>
                <a:cs typeface="+mn-cs"/>
              </a:rPr>
              <a:t>Fourth level</a:t>
            </a:r>
          </a:p>
          <a:p>
            <a:pPr marL="171450" marR="0" lvl="4"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a:pPr>
            <a:r>
              <a:rPr kumimoji="0" lang="en-US" sz="1200" b="0" i="0" u="none" strike="noStrike" kern="1200" cap="none" spc="0" normalizeH="0" baseline="0" noProof="0">
                <a:ln>
                  <a:noFill/>
                </a:ln>
                <a:solidFill>
                  <a:srgbClr val="687379"/>
                </a:solidFill>
                <a:effectLst/>
                <a:uLnTx/>
                <a:uFillTx/>
                <a:latin typeface="Verdana"/>
                <a:ea typeface="+mn-ea"/>
                <a:cs typeface="+mn-cs"/>
              </a:rPr>
              <a:t>Fifth level</a:t>
            </a:r>
            <a:endParaRPr kumimoji="0" lang="en-US" sz="900" b="0" i="0" u="none" strike="noStrike" kern="1200" cap="none" spc="0" normalizeH="0" baseline="0" noProof="0" dirty="0">
              <a:ln>
                <a:noFill/>
              </a:ln>
              <a:solidFill>
                <a:srgbClr val="687379"/>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4"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sp>
        <p:nvSpPr>
          <p:cNvPr id="7" name="Text Placeholder 4">
            <a:extLst>
              <a:ext uri="{FF2B5EF4-FFF2-40B4-BE49-F238E27FC236}">
                <a16:creationId xmlns:a16="http://schemas.microsoft.com/office/drawing/2014/main" id="{F3DFAC8B-A433-0044-BBC9-5EEB613305DB}"/>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itle 1">
            <a:extLst>
              <a:ext uri="{FF2B5EF4-FFF2-40B4-BE49-F238E27FC236}">
                <a16:creationId xmlns:a16="http://schemas.microsoft.com/office/drawing/2014/main" id="{FEDBA31E-2D54-5F44-B830-E952E5857F64}"/>
              </a:ext>
            </a:extLst>
          </p:cNvPr>
          <p:cNvSpPr>
            <a:spLocks noGrp="1"/>
          </p:cNvSpPr>
          <p:nvPr>
            <p:ph type="title" hasCustomPrompt="1"/>
          </p:nvPr>
        </p:nvSpPr>
        <p:spPr>
          <a:xfrm>
            <a:off x="685800" y="461529"/>
            <a:ext cx="7200026" cy="296662"/>
          </a:xfrm>
          <a:prstGeom prst="rect">
            <a:avLst/>
          </a:prstGeom>
        </p:spPr>
        <p:txBody>
          <a:bodyPr wrap="square" lIns="0" tIns="0" rIns="0" bIns="0" anchor="t" anchorCtr="0">
            <a:noAutofit/>
          </a:bodyPr>
          <a:lstStyle>
            <a:lvl1pPr algn="l">
              <a:lnSpc>
                <a:spcPts val="2800"/>
              </a:lnSpc>
              <a:defRPr sz="2400" b="0" baseline="0">
                <a:solidFill>
                  <a:srgbClr val="68737A"/>
                </a:solidFill>
              </a:defRPr>
            </a:lvl1pPr>
          </a:lstStyle>
          <a:p>
            <a:r>
              <a:rPr lang="en-US" dirty="0"/>
              <a:t>Click to edit master text style</a:t>
            </a:r>
          </a:p>
        </p:txBody>
      </p:sp>
      <p:sp>
        <p:nvSpPr>
          <p:cNvPr id="9" name="Footer Placeholder 4">
            <a:extLst>
              <a:ext uri="{FF2B5EF4-FFF2-40B4-BE49-F238E27FC236}">
                <a16:creationId xmlns:a16="http://schemas.microsoft.com/office/drawing/2014/main" id="{D579A68D-AE76-5F48-856E-5AD1201DC09A}"/>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pic>
        <p:nvPicPr>
          <p:cNvPr id="10" name="Picture 2"/>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2"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sp>
        <p:nvSpPr>
          <p:cNvPr id="13" name="Footer Placeholder 4">
            <a:extLst>
              <a:ext uri="{FF2B5EF4-FFF2-40B4-BE49-F238E27FC236}">
                <a16:creationId xmlns:a16="http://schemas.microsoft.com/office/drawing/2014/main" id="{D579A68D-AE76-5F48-856E-5AD1201DC09A}"/>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9" name="Text Placeholder 2">
            <a:extLst>
              <a:ext uri="{FF2B5EF4-FFF2-40B4-BE49-F238E27FC236}">
                <a16:creationId xmlns:a16="http://schemas.microsoft.com/office/drawing/2014/main" id="{D53AC07C-B011-2E40-A2CE-C67B5AD832CE}"/>
              </a:ext>
            </a:extLst>
          </p:cNvPr>
          <p:cNvSpPr>
            <a:spLocks noGrp="1"/>
          </p:cNvSpPr>
          <p:nvPr>
            <p:ph type="body" idx="11" hasCustomPrompt="1"/>
          </p:nvPr>
        </p:nvSpPr>
        <p:spPr>
          <a:xfrm>
            <a:off x="685800" y="461529"/>
            <a:ext cx="7196400" cy="424688"/>
          </a:xfrm>
          <a:prstGeom prst="rect">
            <a:avLst/>
          </a:prstGeom>
        </p:spPr>
        <p:txBody>
          <a:bodyPr lIns="0" tIns="0" rIns="0" bIns="0" anchor="t" anchorCtr="0">
            <a:noAutofit/>
          </a:bodyPr>
          <a:lstStyle>
            <a:lvl1pPr marL="0" indent="0">
              <a:lnSpc>
                <a:spcPts val="2800"/>
              </a:lnSpc>
              <a:spcBef>
                <a:spcPts val="0"/>
              </a:spcBef>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a:t>
            </a:r>
          </a:p>
        </p:txBody>
      </p:sp>
      <p:sp>
        <p:nvSpPr>
          <p:cNvPr id="9" name="Text Placeholder 4">
            <a:extLst>
              <a:ext uri="{FF2B5EF4-FFF2-40B4-BE49-F238E27FC236}">
                <a16:creationId xmlns:a16="http://schemas.microsoft.com/office/drawing/2014/main" id="{F28394C2-C78C-2F4F-AC8F-D053059C6D1E}"/>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Footer Placeholder 4">
            <a:extLst>
              <a:ext uri="{FF2B5EF4-FFF2-40B4-BE49-F238E27FC236}">
                <a16:creationId xmlns:a16="http://schemas.microsoft.com/office/drawing/2014/main" id="{F9FB5E5B-2511-0C47-ADEE-0DD02DA4EA32}"/>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3"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4"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5" name="Footer Placeholder 4">
            <a:extLst>
              <a:ext uri="{FF2B5EF4-FFF2-40B4-BE49-F238E27FC236}">
                <a16:creationId xmlns:a16="http://schemas.microsoft.com/office/drawing/2014/main" id="{F9FB5E5B-2511-0C47-ADEE-0DD02DA4EA32}"/>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3" name="Content Placeholder 2">
            <a:extLst>
              <a:ext uri="{FF2B5EF4-FFF2-40B4-BE49-F238E27FC236}">
                <a16:creationId xmlns:a16="http://schemas.microsoft.com/office/drawing/2014/main" id="{9DE31ABD-F129-5E41-8007-F49756362679}"/>
              </a:ext>
            </a:extLst>
          </p:cNvPr>
          <p:cNvSpPr>
            <a:spLocks noGrp="1"/>
          </p:cNvSpPr>
          <p:nvPr>
            <p:ph sz="quarter" idx="12"/>
          </p:nvPr>
        </p:nvSpPr>
        <p:spPr>
          <a:xfrm>
            <a:off x="685800" y="1047750"/>
            <a:ext cx="3785038"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4">
            <a:extLst>
              <a:ext uri="{FF2B5EF4-FFF2-40B4-BE49-F238E27FC236}">
                <a16:creationId xmlns:a16="http://schemas.microsoft.com/office/drawing/2014/main" id="{35B34382-9CC4-C147-B0F8-E7681434C048}"/>
              </a:ext>
            </a:extLst>
          </p:cNvPr>
          <p:cNvSpPr>
            <a:spLocks noGrp="1"/>
          </p:cNvSpPr>
          <p:nvPr>
            <p:ph sz="quarter" idx="13"/>
          </p:nvPr>
        </p:nvSpPr>
        <p:spPr>
          <a:xfrm>
            <a:off x="4635062" y="1047750"/>
            <a:ext cx="3785038"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9" name="Text Placeholder 2">
            <a:extLst>
              <a:ext uri="{FF2B5EF4-FFF2-40B4-BE49-F238E27FC236}">
                <a16:creationId xmlns:a16="http://schemas.microsoft.com/office/drawing/2014/main" id="{D53AC07C-B011-2E40-A2CE-C67B5AD832CE}"/>
              </a:ext>
            </a:extLst>
          </p:cNvPr>
          <p:cNvSpPr>
            <a:spLocks noGrp="1"/>
          </p:cNvSpPr>
          <p:nvPr>
            <p:ph type="body" idx="11" hasCustomPrompt="1"/>
          </p:nvPr>
        </p:nvSpPr>
        <p:spPr>
          <a:xfrm>
            <a:off x="685800" y="461529"/>
            <a:ext cx="7196400" cy="424688"/>
          </a:xfrm>
          <a:prstGeom prst="rect">
            <a:avLst/>
          </a:prstGeom>
        </p:spPr>
        <p:txBody>
          <a:bodyPr lIns="0" tIns="0" rIns="0" bIns="0" anchor="t" anchorCtr="0">
            <a:noAutofit/>
          </a:bodyPr>
          <a:lstStyle>
            <a:lvl1pPr marL="0" indent="0">
              <a:lnSpc>
                <a:spcPts val="2800"/>
              </a:lnSpc>
              <a:spcBef>
                <a:spcPts val="0"/>
              </a:spcBef>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a:t>
            </a:r>
          </a:p>
        </p:txBody>
      </p:sp>
      <p:sp>
        <p:nvSpPr>
          <p:cNvPr id="10" name="Text Placeholder 4">
            <a:extLst>
              <a:ext uri="{FF2B5EF4-FFF2-40B4-BE49-F238E27FC236}">
                <a16:creationId xmlns:a16="http://schemas.microsoft.com/office/drawing/2014/main" id="{C648BB1C-C50F-A14A-84D8-0B85DEF49A7C}"/>
              </a:ext>
            </a:extLst>
          </p:cNvPr>
          <p:cNvSpPr>
            <a:spLocks noGrp="1"/>
          </p:cNvSpPr>
          <p:nvPr>
            <p:ph type="body" sz="quarter" idx="3" hasCustomPrompt="1"/>
          </p:nvPr>
        </p:nvSpPr>
        <p:spPr>
          <a:xfrm>
            <a:off x="685801"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Footer Placeholder 4">
            <a:extLst>
              <a:ext uri="{FF2B5EF4-FFF2-40B4-BE49-F238E27FC236}">
                <a16:creationId xmlns:a16="http://schemas.microsoft.com/office/drawing/2014/main" id="{36C6339C-A307-C240-A352-8D2FB22A315B}"/>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3"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5"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6" name="Footer Placeholder 4">
            <a:extLst>
              <a:ext uri="{FF2B5EF4-FFF2-40B4-BE49-F238E27FC236}">
                <a16:creationId xmlns:a16="http://schemas.microsoft.com/office/drawing/2014/main" id="{36C6339C-A307-C240-A352-8D2FB22A315B}"/>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3" name="Content Placeholder 2">
            <a:extLst>
              <a:ext uri="{FF2B5EF4-FFF2-40B4-BE49-F238E27FC236}">
                <a16:creationId xmlns:a16="http://schemas.microsoft.com/office/drawing/2014/main" id="{D3C2CD6A-8392-C24F-872D-9F43890124E7}"/>
              </a:ext>
            </a:extLst>
          </p:cNvPr>
          <p:cNvSpPr>
            <a:spLocks noGrp="1"/>
          </p:cNvSpPr>
          <p:nvPr>
            <p:ph sz="quarter" idx="12"/>
          </p:nvPr>
        </p:nvSpPr>
        <p:spPr>
          <a:xfrm>
            <a:off x="685800" y="1047750"/>
            <a:ext cx="1867995"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9C373DC7-FD4B-4F44-AF69-5797EE6FEFEA}"/>
              </a:ext>
            </a:extLst>
          </p:cNvPr>
          <p:cNvSpPr>
            <a:spLocks noGrp="1"/>
          </p:cNvSpPr>
          <p:nvPr>
            <p:ph sz="quarter" idx="13"/>
          </p:nvPr>
        </p:nvSpPr>
        <p:spPr>
          <a:xfrm>
            <a:off x="2688130" y="1047750"/>
            <a:ext cx="1867995"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a:extLst>
              <a:ext uri="{FF2B5EF4-FFF2-40B4-BE49-F238E27FC236}">
                <a16:creationId xmlns:a16="http://schemas.microsoft.com/office/drawing/2014/main" id="{8F3477A4-D10B-6245-96C3-3DC9EF2562A4}"/>
              </a:ext>
            </a:extLst>
          </p:cNvPr>
          <p:cNvSpPr>
            <a:spLocks noGrp="1"/>
          </p:cNvSpPr>
          <p:nvPr>
            <p:ph sz="quarter" idx="14"/>
          </p:nvPr>
        </p:nvSpPr>
        <p:spPr>
          <a:xfrm>
            <a:off x="4690460" y="1047750"/>
            <a:ext cx="372964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2592"/>
          </a:xfrm>
          <a:prstGeom prst="rect">
            <a:avLst/>
          </a:prstGeom>
        </p:spPr>
        <p:txBody>
          <a:bodyPr vert="horz" wrap="squar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9" name="Text Placeholder 2">
            <a:extLst>
              <a:ext uri="{FF2B5EF4-FFF2-40B4-BE49-F238E27FC236}">
                <a16:creationId xmlns:a16="http://schemas.microsoft.com/office/drawing/2014/main" id="{D53AC07C-B011-2E40-A2CE-C67B5AD832CE}"/>
              </a:ext>
            </a:extLst>
          </p:cNvPr>
          <p:cNvSpPr>
            <a:spLocks noGrp="1"/>
          </p:cNvSpPr>
          <p:nvPr>
            <p:ph type="body" idx="11" hasCustomPrompt="1"/>
          </p:nvPr>
        </p:nvSpPr>
        <p:spPr>
          <a:xfrm>
            <a:off x="685800" y="461529"/>
            <a:ext cx="7196400" cy="424688"/>
          </a:xfrm>
          <a:prstGeom prst="rect">
            <a:avLst/>
          </a:prstGeom>
        </p:spPr>
        <p:txBody>
          <a:bodyPr lIns="0" tIns="0" rIns="0" bIns="0" anchor="t" anchorCtr="0">
            <a:noAutofit/>
          </a:bodyPr>
          <a:lstStyle>
            <a:lvl1pPr marL="0" indent="0">
              <a:lnSpc>
                <a:spcPts val="2800"/>
              </a:lnSpc>
              <a:spcBef>
                <a:spcPts val="0"/>
              </a:spcBef>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a:t>
            </a:r>
          </a:p>
        </p:txBody>
      </p:sp>
      <p:sp>
        <p:nvSpPr>
          <p:cNvPr id="10" name="Text Placeholder 4">
            <a:extLst>
              <a:ext uri="{FF2B5EF4-FFF2-40B4-BE49-F238E27FC236}">
                <a16:creationId xmlns:a16="http://schemas.microsoft.com/office/drawing/2014/main" id="{C648BB1C-C50F-A14A-84D8-0B85DEF49A7C}"/>
              </a:ext>
            </a:extLst>
          </p:cNvPr>
          <p:cNvSpPr>
            <a:spLocks noGrp="1"/>
          </p:cNvSpPr>
          <p:nvPr>
            <p:ph type="body" sz="quarter" idx="3" hasCustomPrompt="1"/>
          </p:nvPr>
        </p:nvSpPr>
        <p:spPr>
          <a:xfrm>
            <a:off x="685801"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Footer Placeholder 4">
            <a:extLst>
              <a:ext uri="{FF2B5EF4-FFF2-40B4-BE49-F238E27FC236}">
                <a16:creationId xmlns:a16="http://schemas.microsoft.com/office/drawing/2014/main" id="{36C6339C-A307-C240-A352-8D2FB22A315B}"/>
              </a:ext>
            </a:extLst>
          </p:cNvPr>
          <p:cNvSpPr txBox="1">
            <a:spLocks/>
          </p:cNvSpPr>
          <p:nvPr/>
        </p:nvSpPr>
        <p:spPr>
          <a:xfrm>
            <a:off x="7917577" y="4821774"/>
            <a:ext cx="532197" cy="102592"/>
          </a:xfrm>
          <a:prstGeom prst="rect">
            <a:avLst/>
          </a:prstGeom>
        </p:spPr>
        <p:txBody>
          <a:bodyPr vert="horz" wrap="squar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3" name="Slide Number Placeholder 5"/>
          <p:cNvSpPr txBox="1">
            <a:spLocks/>
          </p:cNvSpPr>
          <p:nvPr/>
        </p:nvSpPr>
        <p:spPr>
          <a:xfrm>
            <a:off x="8563560" y="4821774"/>
            <a:ext cx="154990" cy="102592"/>
          </a:xfrm>
          <a:prstGeom prst="rect">
            <a:avLst/>
          </a:prstGeom>
        </p:spPr>
        <p:txBody>
          <a:bodyPr vert="horz" wrap="squar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5"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6" name="Footer Placeholder 4">
            <a:extLst>
              <a:ext uri="{FF2B5EF4-FFF2-40B4-BE49-F238E27FC236}">
                <a16:creationId xmlns:a16="http://schemas.microsoft.com/office/drawing/2014/main" id="{36C6339C-A307-C240-A352-8D2FB22A315B}"/>
              </a:ext>
            </a:extLst>
          </p:cNvPr>
          <p:cNvSpPr txBox="1">
            <a:spLocks/>
          </p:cNvSpPr>
          <p:nvPr/>
        </p:nvSpPr>
        <p:spPr>
          <a:xfrm>
            <a:off x="7917577" y="4821774"/>
            <a:ext cx="532197" cy="102592"/>
          </a:xfrm>
          <a:prstGeom prst="rect">
            <a:avLst/>
          </a:prstGeom>
        </p:spPr>
        <p:txBody>
          <a:bodyPr vert="horz" wrap="squar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24" name="Text Placeholder 23">
            <a:extLst>
              <a:ext uri="{FF2B5EF4-FFF2-40B4-BE49-F238E27FC236}">
                <a16:creationId xmlns:a16="http://schemas.microsoft.com/office/drawing/2014/main" id="{37BD72D8-176B-F640-B53D-6FA5654F6B22}"/>
              </a:ext>
            </a:extLst>
          </p:cNvPr>
          <p:cNvSpPr>
            <a:spLocks noGrp="1"/>
          </p:cNvSpPr>
          <p:nvPr>
            <p:ph type="body" sz="quarter" idx="12"/>
          </p:nvPr>
        </p:nvSpPr>
        <p:spPr>
          <a:xfrm>
            <a:off x="685801" y="1047751"/>
            <a:ext cx="1197238" cy="3170099"/>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27">
            <a:extLst>
              <a:ext uri="{FF2B5EF4-FFF2-40B4-BE49-F238E27FC236}">
                <a16:creationId xmlns:a16="http://schemas.microsoft.com/office/drawing/2014/main" id="{86E8D891-84BA-1B47-95B7-EDFC5290E782}"/>
              </a:ext>
            </a:extLst>
          </p:cNvPr>
          <p:cNvSpPr>
            <a:spLocks noGrp="1"/>
          </p:cNvSpPr>
          <p:nvPr>
            <p:ph type="body" sz="quarter" idx="13"/>
          </p:nvPr>
        </p:nvSpPr>
        <p:spPr>
          <a:xfrm>
            <a:off x="1989699" y="1047750"/>
            <a:ext cx="1197238" cy="3170099"/>
          </a:xfrm>
        </p:spPr>
        <p:txBody>
          <a:bodyPr>
            <a:spAutoFit/>
          </a:bodyPr>
          <a:lstStyle>
            <a:lvl1pPr>
              <a:defRPr/>
            </a:lvl1pPr>
            <a:lvl2pPr>
              <a:defRPr/>
            </a:lvl2pPr>
            <a:lvl5pPr marL="690562"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Text Placeholder 29">
            <a:extLst>
              <a:ext uri="{FF2B5EF4-FFF2-40B4-BE49-F238E27FC236}">
                <a16:creationId xmlns:a16="http://schemas.microsoft.com/office/drawing/2014/main" id="{D658F0FF-13D4-9D4D-9E3A-70ED2DFA1353}"/>
              </a:ext>
            </a:extLst>
          </p:cNvPr>
          <p:cNvSpPr>
            <a:spLocks noGrp="1"/>
          </p:cNvSpPr>
          <p:nvPr>
            <p:ph type="body" sz="quarter" idx="14"/>
          </p:nvPr>
        </p:nvSpPr>
        <p:spPr>
          <a:xfrm>
            <a:off x="3293597" y="1047750"/>
            <a:ext cx="1197238" cy="317009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31">
            <a:extLst>
              <a:ext uri="{FF2B5EF4-FFF2-40B4-BE49-F238E27FC236}">
                <a16:creationId xmlns:a16="http://schemas.microsoft.com/office/drawing/2014/main" id="{4C9D8122-75C2-8848-AECF-2047913B90FF}"/>
              </a:ext>
            </a:extLst>
          </p:cNvPr>
          <p:cNvSpPr>
            <a:spLocks noGrp="1"/>
          </p:cNvSpPr>
          <p:nvPr>
            <p:ph type="body" sz="quarter" idx="15"/>
          </p:nvPr>
        </p:nvSpPr>
        <p:spPr>
          <a:xfrm>
            <a:off x="4597495" y="1047750"/>
            <a:ext cx="1197238" cy="317009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33">
            <a:extLst>
              <a:ext uri="{FF2B5EF4-FFF2-40B4-BE49-F238E27FC236}">
                <a16:creationId xmlns:a16="http://schemas.microsoft.com/office/drawing/2014/main" id="{CEC3704E-D093-D14E-BB99-D08DFA76D02C}"/>
              </a:ext>
            </a:extLst>
          </p:cNvPr>
          <p:cNvSpPr>
            <a:spLocks noGrp="1"/>
          </p:cNvSpPr>
          <p:nvPr>
            <p:ph type="body" sz="quarter" idx="16"/>
          </p:nvPr>
        </p:nvSpPr>
        <p:spPr>
          <a:xfrm>
            <a:off x="5901393" y="1047750"/>
            <a:ext cx="1197238" cy="317009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35">
            <a:extLst>
              <a:ext uri="{FF2B5EF4-FFF2-40B4-BE49-F238E27FC236}">
                <a16:creationId xmlns:a16="http://schemas.microsoft.com/office/drawing/2014/main" id="{F8C4D134-FCE9-5E4E-955C-46AC0C52F164}"/>
              </a:ext>
            </a:extLst>
          </p:cNvPr>
          <p:cNvSpPr>
            <a:spLocks noGrp="1"/>
          </p:cNvSpPr>
          <p:nvPr>
            <p:ph type="body" sz="quarter" idx="17"/>
          </p:nvPr>
        </p:nvSpPr>
        <p:spPr>
          <a:xfrm>
            <a:off x="7205292" y="1047750"/>
            <a:ext cx="1197238" cy="317009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759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ong Title and Content 1">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8" name="Text Placeholder 4">
            <a:extLst>
              <a:ext uri="{FF2B5EF4-FFF2-40B4-BE49-F238E27FC236}">
                <a16:creationId xmlns:a16="http://schemas.microsoft.com/office/drawing/2014/main" id="{986811D3-7A07-9242-BAFA-E533DF084A53}"/>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BB969646-FFB4-7148-AB89-00E0182AA3AB}"/>
              </a:ext>
            </a:extLst>
          </p:cNvPr>
          <p:cNvSpPr>
            <a:spLocks noGrp="1"/>
          </p:cNvSpPr>
          <p:nvPr>
            <p:ph type="body" idx="11" hasCustomPrompt="1"/>
          </p:nvPr>
        </p:nvSpPr>
        <p:spPr>
          <a:xfrm>
            <a:off x="685800" y="461529"/>
            <a:ext cx="7200026" cy="792000"/>
          </a:xfrm>
          <a:prstGeom prst="rect">
            <a:avLst/>
          </a:prstGeom>
        </p:spPr>
        <p:txBody>
          <a:bodyPr lIns="0" tIns="0" rIns="0" bIns="0" anchor="t" anchorCtr="0">
            <a:normAutofit/>
          </a:bodyPr>
          <a:lstStyle>
            <a:lvl1pPr marL="0" indent="0">
              <a:lnSpc>
                <a:spcPts val="2800"/>
              </a:lnSpc>
              <a:spcBef>
                <a:spcPts val="0"/>
              </a:spcBef>
              <a:spcAft>
                <a:spcPts val="0"/>
              </a:spcAft>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 with long title copywriting</a:t>
            </a:r>
          </a:p>
        </p:txBody>
      </p:sp>
      <p:sp>
        <p:nvSpPr>
          <p:cNvPr id="9" name="Footer Placeholder 4">
            <a:extLst>
              <a:ext uri="{FF2B5EF4-FFF2-40B4-BE49-F238E27FC236}">
                <a16:creationId xmlns:a16="http://schemas.microsoft.com/office/drawing/2014/main" id="{8CF4C638-3DC8-5D43-944E-016C4BA817EF}"/>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0"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3"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4" name="Footer Placeholder 4">
            <a:extLst>
              <a:ext uri="{FF2B5EF4-FFF2-40B4-BE49-F238E27FC236}">
                <a16:creationId xmlns:a16="http://schemas.microsoft.com/office/drawing/2014/main" id="{8CF4C638-3DC8-5D43-944E-016C4BA817EF}"/>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4" name="Content Placeholder 3">
            <a:extLst>
              <a:ext uri="{FF2B5EF4-FFF2-40B4-BE49-F238E27FC236}">
                <a16:creationId xmlns:a16="http://schemas.microsoft.com/office/drawing/2014/main" id="{ADC45F45-3A74-5D44-A3B4-411EF61867CF}"/>
              </a:ext>
            </a:extLst>
          </p:cNvPr>
          <p:cNvSpPr>
            <a:spLocks noGrp="1"/>
          </p:cNvSpPr>
          <p:nvPr>
            <p:ph sz="quarter" idx="12"/>
          </p:nvPr>
        </p:nvSpPr>
        <p:spPr>
          <a:xfrm>
            <a:off x="685800" y="1495425"/>
            <a:ext cx="7734300"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ong Title Only">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4"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sp>
        <p:nvSpPr>
          <p:cNvPr id="7" name="Text Placeholder 4">
            <a:extLst>
              <a:ext uri="{FF2B5EF4-FFF2-40B4-BE49-F238E27FC236}">
                <a16:creationId xmlns:a16="http://schemas.microsoft.com/office/drawing/2014/main" id="{F3DFAC8B-A433-0044-BBC9-5EEB613305DB}"/>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2">
            <a:extLst>
              <a:ext uri="{FF2B5EF4-FFF2-40B4-BE49-F238E27FC236}">
                <a16:creationId xmlns:a16="http://schemas.microsoft.com/office/drawing/2014/main" id="{2EAFFD62-5278-7246-A35D-5D648DE8922F}"/>
              </a:ext>
            </a:extLst>
          </p:cNvPr>
          <p:cNvSpPr>
            <a:spLocks noGrp="1"/>
          </p:cNvSpPr>
          <p:nvPr>
            <p:ph type="body" idx="11" hasCustomPrompt="1"/>
          </p:nvPr>
        </p:nvSpPr>
        <p:spPr>
          <a:xfrm>
            <a:off x="685800" y="461529"/>
            <a:ext cx="7200026" cy="792000"/>
          </a:xfrm>
          <a:prstGeom prst="rect">
            <a:avLst/>
          </a:prstGeom>
        </p:spPr>
        <p:txBody>
          <a:bodyPr lIns="0" tIns="0" rIns="0" bIns="0" anchor="t" anchorCtr="0">
            <a:normAutofit/>
          </a:bodyPr>
          <a:lstStyle>
            <a:lvl1pPr marL="0" indent="0">
              <a:lnSpc>
                <a:spcPts val="2800"/>
              </a:lnSpc>
              <a:spcBef>
                <a:spcPts val="0"/>
              </a:spcBef>
              <a:spcAft>
                <a:spcPts val="0"/>
              </a:spcAft>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 with long title copywriting</a:t>
            </a:r>
          </a:p>
        </p:txBody>
      </p:sp>
      <p:sp>
        <p:nvSpPr>
          <p:cNvPr id="8" name="Footer Placeholder 4">
            <a:extLst>
              <a:ext uri="{FF2B5EF4-FFF2-40B4-BE49-F238E27FC236}">
                <a16:creationId xmlns:a16="http://schemas.microsoft.com/office/drawing/2014/main" id="{AD06EF2F-09F2-7346-8091-EF6BCFE89074}"/>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Tree>
    <p:extLst>
      <p:ext uri="{BB962C8B-B14F-4D97-AF65-F5344CB8AC3E}">
        <p14:creationId xmlns:p14="http://schemas.microsoft.com/office/powerpoint/2010/main" val="3057385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ong Title and Content 2">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9" name="Text Placeholder 4">
            <a:extLst>
              <a:ext uri="{FF2B5EF4-FFF2-40B4-BE49-F238E27FC236}">
                <a16:creationId xmlns:a16="http://schemas.microsoft.com/office/drawing/2014/main" id="{F28394C2-C78C-2F4F-AC8F-D053059C6D1E}"/>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2">
            <a:extLst>
              <a:ext uri="{FF2B5EF4-FFF2-40B4-BE49-F238E27FC236}">
                <a16:creationId xmlns:a16="http://schemas.microsoft.com/office/drawing/2014/main" id="{91B453D8-2CCB-F349-B3C5-71DED3B1E67C}"/>
              </a:ext>
            </a:extLst>
          </p:cNvPr>
          <p:cNvSpPr>
            <a:spLocks noGrp="1"/>
          </p:cNvSpPr>
          <p:nvPr>
            <p:ph type="body" idx="11" hasCustomPrompt="1"/>
          </p:nvPr>
        </p:nvSpPr>
        <p:spPr>
          <a:xfrm>
            <a:off x="685800" y="461529"/>
            <a:ext cx="7200026" cy="792000"/>
          </a:xfrm>
          <a:prstGeom prst="rect">
            <a:avLst/>
          </a:prstGeom>
        </p:spPr>
        <p:txBody>
          <a:bodyPr lIns="0" tIns="0" rIns="0" bIns="0" anchor="t" anchorCtr="0">
            <a:normAutofit/>
          </a:bodyPr>
          <a:lstStyle>
            <a:lvl1pPr marL="0" indent="0">
              <a:lnSpc>
                <a:spcPts val="2800"/>
              </a:lnSpc>
              <a:spcBef>
                <a:spcPts val="0"/>
              </a:spcBef>
              <a:spcAft>
                <a:spcPts val="0"/>
              </a:spcAft>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 with long title copywriting</a:t>
            </a:r>
          </a:p>
        </p:txBody>
      </p:sp>
      <p:sp>
        <p:nvSpPr>
          <p:cNvPr id="10" name="Footer Placeholder 4">
            <a:extLst>
              <a:ext uri="{FF2B5EF4-FFF2-40B4-BE49-F238E27FC236}">
                <a16:creationId xmlns:a16="http://schemas.microsoft.com/office/drawing/2014/main" id="{32B379F4-E7A1-DF46-A00A-70115D64C283}"/>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4"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5"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6" name="Footer Placeholder 4">
            <a:extLst>
              <a:ext uri="{FF2B5EF4-FFF2-40B4-BE49-F238E27FC236}">
                <a16:creationId xmlns:a16="http://schemas.microsoft.com/office/drawing/2014/main" id="{32B379F4-E7A1-DF46-A00A-70115D64C283}"/>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7" name="Content Placeholder 3">
            <a:extLst>
              <a:ext uri="{FF2B5EF4-FFF2-40B4-BE49-F238E27FC236}">
                <a16:creationId xmlns:a16="http://schemas.microsoft.com/office/drawing/2014/main" id="{8A98B763-528D-1E4B-A9C3-DD74A48A59F6}"/>
              </a:ext>
            </a:extLst>
          </p:cNvPr>
          <p:cNvSpPr>
            <a:spLocks noGrp="1"/>
          </p:cNvSpPr>
          <p:nvPr>
            <p:ph sz="quarter" idx="12"/>
          </p:nvPr>
        </p:nvSpPr>
        <p:spPr>
          <a:xfrm>
            <a:off x="685800" y="1495425"/>
            <a:ext cx="3785038"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a:extLst>
              <a:ext uri="{FF2B5EF4-FFF2-40B4-BE49-F238E27FC236}">
                <a16:creationId xmlns:a16="http://schemas.microsoft.com/office/drawing/2014/main" id="{EFDE8B11-E622-B545-B01E-737D424EB055}"/>
              </a:ext>
            </a:extLst>
          </p:cNvPr>
          <p:cNvSpPr>
            <a:spLocks noGrp="1"/>
          </p:cNvSpPr>
          <p:nvPr>
            <p:ph sz="quarter" idx="13"/>
          </p:nvPr>
        </p:nvSpPr>
        <p:spPr>
          <a:xfrm>
            <a:off x="4635062" y="1495424"/>
            <a:ext cx="3785038"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ong Title and Content 3">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0" name="Text Placeholder 4">
            <a:extLst>
              <a:ext uri="{FF2B5EF4-FFF2-40B4-BE49-F238E27FC236}">
                <a16:creationId xmlns:a16="http://schemas.microsoft.com/office/drawing/2014/main" id="{C648BB1C-C50F-A14A-84D8-0B85DEF49A7C}"/>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ABE388AB-E1A4-DF49-B427-39341F88605C}"/>
              </a:ext>
            </a:extLst>
          </p:cNvPr>
          <p:cNvSpPr>
            <a:spLocks noGrp="1"/>
          </p:cNvSpPr>
          <p:nvPr>
            <p:ph type="body" idx="11" hasCustomPrompt="1"/>
          </p:nvPr>
        </p:nvSpPr>
        <p:spPr>
          <a:xfrm>
            <a:off x="685800" y="461529"/>
            <a:ext cx="7200026" cy="792000"/>
          </a:xfrm>
          <a:prstGeom prst="rect">
            <a:avLst/>
          </a:prstGeom>
        </p:spPr>
        <p:txBody>
          <a:bodyPr lIns="0" tIns="0" rIns="0" bIns="0" anchor="t" anchorCtr="0">
            <a:normAutofit/>
          </a:bodyPr>
          <a:lstStyle>
            <a:lvl1pPr marL="0" indent="0">
              <a:lnSpc>
                <a:spcPts val="2800"/>
              </a:lnSpc>
              <a:spcBef>
                <a:spcPts val="0"/>
              </a:spcBef>
              <a:spcAft>
                <a:spcPts val="0"/>
              </a:spcAft>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 with long title copywriting</a:t>
            </a:r>
          </a:p>
        </p:txBody>
      </p:sp>
      <p:sp>
        <p:nvSpPr>
          <p:cNvPr id="13" name="Footer Placeholder 4">
            <a:extLst>
              <a:ext uri="{FF2B5EF4-FFF2-40B4-BE49-F238E27FC236}">
                <a16:creationId xmlns:a16="http://schemas.microsoft.com/office/drawing/2014/main" id="{62437B32-2594-0D46-8C17-03FA0AE37E95}"/>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5"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6"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7" name="Footer Placeholder 4">
            <a:extLst>
              <a:ext uri="{FF2B5EF4-FFF2-40B4-BE49-F238E27FC236}">
                <a16:creationId xmlns:a16="http://schemas.microsoft.com/office/drawing/2014/main" id="{62437B32-2594-0D46-8C17-03FA0AE37E95}"/>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8" name="Content Placeholder 2">
            <a:extLst>
              <a:ext uri="{FF2B5EF4-FFF2-40B4-BE49-F238E27FC236}">
                <a16:creationId xmlns:a16="http://schemas.microsoft.com/office/drawing/2014/main" id="{1CE9CD11-24D5-214C-B6BE-3B675237F2F4}"/>
              </a:ext>
            </a:extLst>
          </p:cNvPr>
          <p:cNvSpPr>
            <a:spLocks noGrp="1"/>
          </p:cNvSpPr>
          <p:nvPr>
            <p:ph sz="quarter" idx="12"/>
          </p:nvPr>
        </p:nvSpPr>
        <p:spPr>
          <a:xfrm>
            <a:off x="685800" y="1495424"/>
            <a:ext cx="1867995"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a:extLst>
              <a:ext uri="{FF2B5EF4-FFF2-40B4-BE49-F238E27FC236}">
                <a16:creationId xmlns:a16="http://schemas.microsoft.com/office/drawing/2014/main" id="{ACE83162-7C8C-2D44-BE4C-956F0CA0C579}"/>
              </a:ext>
            </a:extLst>
          </p:cNvPr>
          <p:cNvSpPr>
            <a:spLocks noGrp="1"/>
          </p:cNvSpPr>
          <p:nvPr>
            <p:ph sz="quarter" idx="13"/>
          </p:nvPr>
        </p:nvSpPr>
        <p:spPr>
          <a:xfrm>
            <a:off x="2688130" y="1495424"/>
            <a:ext cx="1867995"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2">
            <a:extLst>
              <a:ext uri="{FF2B5EF4-FFF2-40B4-BE49-F238E27FC236}">
                <a16:creationId xmlns:a16="http://schemas.microsoft.com/office/drawing/2014/main" id="{B97221F4-86E2-D340-8769-E91E636C145C}"/>
              </a:ext>
            </a:extLst>
          </p:cNvPr>
          <p:cNvSpPr>
            <a:spLocks noGrp="1"/>
          </p:cNvSpPr>
          <p:nvPr>
            <p:ph sz="quarter" idx="14"/>
          </p:nvPr>
        </p:nvSpPr>
        <p:spPr>
          <a:xfrm>
            <a:off x="4690460" y="1495424"/>
            <a:ext cx="3729640"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ng Title and Content 4">
    <p:spTree>
      <p:nvGrpSpPr>
        <p:cNvPr id="1" name=""/>
        <p:cNvGrpSpPr/>
        <p:nvPr/>
      </p:nvGrpSpPr>
      <p:grpSpPr>
        <a:xfrm>
          <a:off x="0" y="0"/>
          <a:ext cx="0" cy="0"/>
          <a:chOff x="0" y="0"/>
          <a:chExt cx="0" cy="0"/>
        </a:xfrm>
      </p:grpSpPr>
      <p:sp>
        <p:nvSpPr>
          <p:cNvPr id="6"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2"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0" name="Text Placeholder 4">
            <a:extLst>
              <a:ext uri="{FF2B5EF4-FFF2-40B4-BE49-F238E27FC236}">
                <a16:creationId xmlns:a16="http://schemas.microsoft.com/office/drawing/2014/main" id="{C648BB1C-C50F-A14A-84D8-0B85DEF49A7C}"/>
              </a:ext>
            </a:extLst>
          </p:cNvPr>
          <p:cNvSpPr>
            <a:spLocks noGrp="1"/>
          </p:cNvSpPr>
          <p:nvPr>
            <p:ph type="body" sz="quarter" idx="3" hasCustomPrompt="1"/>
          </p:nvPr>
        </p:nvSpPr>
        <p:spPr>
          <a:xfrm>
            <a:off x="685800" y="263620"/>
            <a:ext cx="7200026" cy="145837"/>
          </a:xfrm>
          <a:prstGeom prst="rect">
            <a:avLst/>
          </a:prstGeom>
        </p:spPr>
        <p:txBody>
          <a:bodyPr lIns="9144" tIns="0" rIns="0" bIns="0" anchor="t" anchorCtr="0">
            <a:noAutofit/>
          </a:bodyPr>
          <a:lstStyle>
            <a:lvl1pPr marL="0" indent="0">
              <a:lnSpc>
                <a:spcPts val="1200"/>
              </a:lnSpc>
              <a:spcBef>
                <a:spcPts val="0"/>
              </a:spcBef>
              <a:buNone/>
              <a:defRPr sz="12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ABE388AB-E1A4-DF49-B427-39341F88605C}"/>
              </a:ext>
            </a:extLst>
          </p:cNvPr>
          <p:cNvSpPr>
            <a:spLocks noGrp="1"/>
          </p:cNvSpPr>
          <p:nvPr>
            <p:ph type="body" idx="11" hasCustomPrompt="1"/>
          </p:nvPr>
        </p:nvSpPr>
        <p:spPr>
          <a:xfrm>
            <a:off x="685800" y="461529"/>
            <a:ext cx="7200026" cy="792000"/>
          </a:xfrm>
          <a:prstGeom prst="rect">
            <a:avLst/>
          </a:prstGeom>
        </p:spPr>
        <p:txBody>
          <a:bodyPr lIns="0" tIns="0" rIns="0" bIns="0" anchor="t" anchorCtr="0">
            <a:normAutofit/>
          </a:bodyPr>
          <a:lstStyle>
            <a:lvl1pPr marL="0" indent="0">
              <a:lnSpc>
                <a:spcPts val="2800"/>
              </a:lnSpc>
              <a:spcBef>
                <a:spcPts val="0"/>
              </a:spcBef>
              <a:spcAft>
                <a:spcPts val="0"/>
              </a:spcAft>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 with long title copywriting</a:t>
            </a:r>
          </a:p>
        </p:txBody>
      </p:sp>
      <p:sp>
        <p:nvSpPr>
          <p:cNvPr id="13" name="Footer Placeholder 4">
            <a:extLst>
              <a:ext uri="{FF2B5EF4-FFF2-40B4-BE49-F238E27FC236}">
                <a16:creationId xmlns:a16="http://schemas.microsoft.com/office/drawing/2014/main" id="{62437B32-2594-0D46-8C17-03FA0AE37E95}"/>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5" name="Slide Number Placeholder 5"/>
          <p:cNvSpPr txBox="1">
            <a:spLocks/>
          </p:cNvSpPr>
          <p:nvPr/>
        </p:nvSpPr>
        <p:spPr>
          <a:xfrm>
            <a:off x="8563560" y="4821774"/>
            <a:ext cx="154990" cy="107722"/>
          </a:xfrm>
          <a:prstGeom prst="rect">
            <a:avLst/>
          </a:prstGeom>
        </p:spPr>
        <p:txBody>
          <a:bodyPr vert="horz" wrap="none" lIns="0" tIns="0" rIns="0" bIns="0" rtlCol="0" anchor="t" anchorCtr="0">
            <a:spAutoFit/>
          </a:bodyPr>
          <a:lstStyle>
            <a:lvl1pPr algn="r">
              <a:defRPr sz="1200">
                <a:solidFill>
                  <a:schemeClr val="tx1">
                    <a:tint val="75000"/>
                  </a:schemeClr>
                </a:solidFill>
                <a:latin typeface="Verdana"/>
              </a:defRPr>
            </a:lvl1pPr>
          </a:lstStyle>
          <a:p>
            <a:pPr marL="0" marR="0" lvl="0" indent="0" algn="r" defTabSz="457200" rtl="0" eaLnBrk="1" fontAlgn="auto" latinLnBrk="0" hangingPunct="1">
              <a:lnSpc>
                <a:spcPts val="800"/>
              </a:lnSpc>
              <a:spcBef>
                <a:spcPts val="0"/>
              </a:spcBef>
              <a:spcAft>
                <a:spcPts val="0"/>
              </a:spcAft>
              <a:buClrTx/>
              <a:buSzTx/>
              <a:buFontTx/>
              <a:buNone/>
              <a:tabLst/>
              <a:defRPr/>
            </a:pPr>
            <a:fld id="{B04C7F51-0DDD-404E-A28A-E5625C45B73C}" type="slidenum">
              <a:rPr kumimoji="0" lang="en-US" sz="700" b="0" i="0" u="none" strike="noStrike" kern="1200" cap="none" spc="0" normalizeH="0" baseline="0" noProof="0" smtClean="0">
                <a:ln>
                  <a:noFill/>
                </a:ln>
                <a:solidFill>
                  <a:srgbClr val="68737A"/>
                </a:solidFill>
                <a:effectLst/>
                <a:uLnTx/>
                <a:uFillTx/>
                <a:latin typeface="Verdana"/>
                <a:ea typeface="+mn-ea"/>
                <a:cs typeface="+mn-cs"/>
              </a:rPr>
              <a:pPr marL="0" marR="0" lvl="0" indent="0" algn="r" defTabSz="457200" rtl="0" eaLnBrk="1" fontAlgn="auto" latinLnBrk="0" hangingPunct="1">
                <a:lnSpc>
                  <a:spcPts val="8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68737A"/>
              </a:solidFill>
              <a:effectLst/>
              <a:uLnTx/>
              <a:uFillTx/>
              <a:latin typeface="Verdana"/>
              <a:ea typeface="+mn-ea"/>
              <a:cs typeface="+mn-cs"/>
            </a:endParaRPr>
          </a:p>
        </p:txBody>
      </p:sp>
      <p:pic>
        <p:nvPicPr>
          <p:cNvPr id="16" name="Picture 2">
            <a:extLst>
              <a:ext uri="{FF2B5EF4-FFF2-40B4-BE49-F238E27FC236}">
                <a16:creationId xmlns:a16="http://schemas.microsoft.com/office/drawing/2014/main" id="{487929CF-C370-024C-86DE-D897B4671BFA}"/>
              </a:ext>
            </a:extLst>
          </p:cNvPr>
          <p:cNvPicPr>
            <a:picLocks noChangeAspect="1" noChangeArrowheads="1"/>
          </p:cNvPicPr>
          <p:nvPr/>
        </p:nvPicPr>
        <p:blipFill>
          <a:blip r:embed="rId2"/>
          <a:srcRect/>
          <a:stretch>
            <a:fillRect/>
          </a:stretch>
        </p:blipFill>
        <p:spPr bwMode="auto">
          <a:xfrm>
            <a:off x="8187690" y="381000"/>
            <a:ext cx="530860" cy="424688"/>
          </a:xfrm>
          <a:prstGeom prst="rect">
            <a:avLst/>
          </a:prstGeom>
          <a:noFill/>
          <a:ln w="9525">
            <a:noFill/>
            <a:miter lim="800000"/>
            <a:headEnd/>
            <a:tailEnd/>
          </a:ln>
          <a:effectLst/>
        </p:spPr>
      </p:pic>
      <p:sp>
        <p:nvSpPr>
          <p:cNvPr id="17" name="Footer Placeholder 4">
            <a:extLst>
              <a:ext uri="{FF2B5EF4-FFF2-40B4-BE49-F238E27FC236}">
                <a16:creationId xmlns:a16="http://schemas.microsoft.com/office/drawing/2014/main" id="{62437B32-2594-0D46-8C17-03FA0AE37E95}"/>
              </a:ext>
            </a:extLst>
          </p:cNvPr>
          <p:cNvSpPr txBox="1">
            <a:spLocks/>
          </p:cNvSpPr>
          <p:nvPr/>
        </p:nvSpPr>
        <p:spPr>
          <a:xfrm>
            <a:off x="7917577" y="4821774"/>
            <a:ext cx="532197" cy="102592"/>
          </a:xfrm>
          <a:prstGeom prst="rect">
            <a:avLst/>
          </a:prstGeom>
        </p:spPr>
        <p:txBody>
          <a:bodyPr vert="horz" wrap="none" lIns="0" tIns="0" rIns="0" bIns="0" rtlCol="0" anchor="t" anchorCtr="0">
            <a:spAutoFit/>
          </a:bodyPr>
          <a:lstStyle>
            <a:lvl1pPr algn="ctr">
              <a:defRPr sz="1200">
                <a:solidFill>
                  <a:schemeClr val="tx1">
                    <a:tint val="75000"/>
                  </a:schemeClr>
                </a:solidFill>
                <a:latin typeface="Verdana"/>
              </a:defRPr>
            </a:lvl1pPr>
          </a:lstStyle>
          <a:p>
            <a:pPr marL="0" marR="0" lvl="0" indent="0" algn="l" defTabSz="457200" rtl="0" eaLnBrk="1" fontAlgn="auto" latinLnBrk="0" hangingPunct="1">
              <a:lnSpc>
                <a:spcPts val="8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1"/>
                </a:solidFill>
                <a:effectLst/>
                <a:uLnTx/>
                <a:uFillTx/>
                <a:latin typeface="Verdana"/>
                <a:ea typeface="+mn-ea"/>
                <a:cs typeface="+mn-cs"/>
              </a:rPr>
              <a:t>Confidential</a:t>
            </a:r>
          </a:p>
        </p:txBody>
      </p:sp>
      <p:sp>
        <p:nvSpPr>
          <p:cNvPr id="14" name="Text Placeholder 23">
            <a:extLst>
              <a:ext uri="{FF2B5EF4-FFF2-40B4-BE49-F238E27FC236}">
                <a16:creationId xmlns:a16="http://schemas.microsoft.com/office/drawing/2014/main" id="{A523E239-1D7F-9048-8FD6-4E5A8353F604}"/>
              </a:ext>
            </a:extLst>
          </p:cNvPr>
          <p:cNvSpPr>
            <a:spLocks noGrp="1"/>
          </p:cNvSpPr>
          <p:nvPr>
            <p:ph type="body" sz="quarter" idx="12"/>
          </p:nvPr>
        </p:nvSpPr>
        <p:spPr>
          <a:xfrm>
            <a:off x="685801" y="1495425"/>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7">
            <a:extLst>
              <a:ext uri="{FF2B5EF4-FFF2-40B4-BE49-F238E27FC236}">
                <a16:creationId xmlns:a16="http://schemas.microsoft.com/office/drawing/2014/main" id="{19273D99-9830-D345-80C1-21410D674971}"/>
              </a:ext>
            </a:extLst>
          </p:cNvPr>
          <p:cNvSpPr>
            <a:spLocks noGrp="1"/>
          </p:cNvSpPr>
          <p:nvPr>
            <p:ph type="body" sz="quarter" idx="13"/>
          </p:nvPr>
        </p:nvSpPr>
        <p:spPr>
          <a:xfrm>
            <a:off x="1989699" y="1495424"/>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9">
            <a:extLst>
              <a:ext uri="{FF2B5EF4-FFF2-40B4-BE49-F238E27FC236}">
                <a16:creationId xmlns:a16="http://schemas.microsoft.com/office/drawing/2014/main" id="{AC6D3C91-9ECB-CB46-BE75-06FFB359375B}"/>
              </a:ext>
            </a:extLst>
          </p:cNvPr>
          <p:cNvSpPr>
            <a:spLocks noGrp="1"/>
          </p:cNvSpPr>
          <p:nvPr>
            <p:ph type="body" sz="quarter" idx="14"/>
          </p:nvPr>
        </p:nvSpPr>
        <p:spPr>
          <a:xfrm>
            <a:off x="3293597" y="1495424"/>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1">
            <a:extLst>
              <a:ext uri="{FF2B5EF4-FFF2-40B4-BE49-F238E27FC236}">
                <a16:creationId xmlns:a16="http://schemas.microsoft.com/office/drawing/2014/main" id="{7722FB60-71AB-AB45-A465-0EC228C7998B}"/>
              </a:ext>
            </a:extLst>
          </p:cNvPr>
          <p:cNvSpPr>
            <a:spLocks noGrp="1"/>
          </p:cNvSpPr>
          <p:nvPr>
            <p:ph type="body" sz="quarter" idx="15"/>
          </p:nvPr>
        </p:nvSpPr>
        <p:spPr>
          <a:xfrm>
            <a:off x="4597495" y="1495424"/>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33">
            <a:extLst>
              <a:ext uri="{FF2B5EF4-FFF2-40B4-BE49-F238E27FC236}">
                <a16:creationId xmlns:a16="http://schemas.microsoft.com/office/drawing/2014/main" id="{652AE153-B7D8-984E-AB0A-ADF2B07D2AFA}"/>
              </a:ext>
            </a:extLst>
          </p:cNvPr>
          <p:cNvSpPr>
            <a:spLocks noGrp="1"/>
          </p:cNvSpPr>
          <p:nvPr>
            <p:ph type="body" sz="quarter" idx="16"/>
          </p:nvPr>
        </p:nvSpPr>
        <p:spPr>
          <a:xfrm>
            <a:off x="5901393" y="1495424"/>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5">
            <a:extLst>
              <a:ext uri="{FF2B5EF4-FFF2-40B4-BE49-F238E27FC236}">
                <a16:creationId xmlns:a16="http://schemas.microsoft.com/office/drawing/2014/main" id="{E2E49344-BD5D-1342-B403-D3C27D813409}"/>
              </a:ext>
            </a:extLst>
          </p:cNvPr>
          <p:cNvSpPr>
            <a:spLocks noGrp="1"/>
          </p:cNvSpPr>
          <p:nvPr>
            <p:ph type="body" sz="quarter" idx="17"/>
          </p:nvPr>
        </p:nvSpPr>
        <p:spPr>
          <a:xfrm>
            <a:off x="7205292" y="1495424"/>
            <a:ext cx="1197238" cy="2908489"/>
          </a:xfrm>
        </p:spPr>
        <p:txBody>
          <a:bodyPr>
            <a:spAutoFit/>
          </a:bodyPr>
          <a:lstStyle>
            <a:lvl1pPr>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937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61709"/>
            <a:ext cx="7201599" cy="296662"/>
          </a:xfrm>
          <a:prstGeom prst="rect">
            <a:avLst/>
          </a:prstGeom>
        </p:spPr>
        <p:txBody>
          <a:bodyPr vert="horz" lIns="0" tIns="0" rIns="0" bIns="0" rtlCol="0" anchor="t" anchorCtr="0">
            <a:noAutofit/>
          </a:bodyPr>
          <a:lstStyle/>
          <a:p>
            <a:pPr lvl="0"/>
            <a:r>
              <a:rPr lang="en-GB" dirty="0"/>
              <a:t>Click to edit master text style</a:t>
            </a:r>
          </a:p>
        </p:txBody>
      </p:sp>
      <p:sp>
        <p:nvSpPr>
          <p:cNvPr id="7" name="Text Placeholder 2">
            <a:extLst>
              <a:ext uri="{FF2B5EF4-FFF2-40B4-BE49-F238E27FC236}">
                <a16:creationId xmlns:a16="http://schemas.microsoft.com/office/drawing/2014/main" id="{06FF409E-B97D-FD4B-A992-AE90454D600D}"/>
              </a:ext>
            </a:extLst>
          </p:cNvPr>
          <p:cNvSpPr>
            <a:spLocks noGrp="1"/>
          </p:cNvSpPr>
          <p:nvPr>
            <p:ph type="body" idx="1"/>
          </p:nvPr>
        </p:nvSpPr>
        <p:spPr>
          <a:xfrm>
            <a:off x="685800" y="1047750"/>
            <a:ext cx="7734300" cy="3657600"/>
          </a:xfrm>
          <a:prstGeom prst="rect">
            <a:avLst/>
          </a:prstGeom>
        </p:spPr>
        <p:txBody>
          <a:bodyPr vert="horz" lIns="9144"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579786"/>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1" r:id="rId4"/>
    <p:sldLayoutId id="2147483683" r:id="rId5"/>
    <p:sldLayoutId id="2147483684" r:id="rId6"/>
    <p:sldLayoutId id="2147483690" r:id="rId7"/>
    <p:sldLayoutId id="2147483687" r:id="rId8"/>
    <p:sldLayoutId id="2147483672" r:id="rId9"/>
    <p:sldLayoutId id="2147483688" r:id="rId10"/>
    <p:sldLayoutId id="2147483689" r:id="rId11"/>
    <p:sldLayoutId id="2147483691" r:id="rId12"/>
  </p:sldLayoutIdLst>
  <p:hf sldNum="0" hdr="0" ftr="0" dt="0"/>
  <p:txStyles>
    <p:titleStyle>
      <a:lvl1pPr algn="l" defTabSz="457200" rtl="0" eaLnBrk="1" latinLnBrk="0" hangingPunct="1">
        <a:lnSpc>
          <a:spcPts val="2800"/>
        </a:lnSpc>
        <a:spcBef>
          <a:spcPct val="0"/>
        </a:spcBef>
        <a:buNone/>
        <a:defRPr sz="2400" kern="1200">
          <a:solidFill>
            <a:srgbClr val="68737A"/>
          </a:solidFill>
          <a:latin typeface="Verdana"/>
          <a:ea typeface="+mj-ea"/>
          <a:cs typeface="+mj-cs"/>
        </a:defRPr>
      </a:lvl1pPr>
    </p:titleStyle>
    <p:bodyStyle>
      <a:lvl1pPr marL="171450" marR="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tab pos="450850" algn="l"/>
          <a:tab pos="909638" algn="l"/>
          <a:tab pos="1368425" algn="l"/>
          <a:tab pos="1814513" algn="l"/>
        </a:tabLst>
        <a:defRPr sz="1200" kern="1200" baseline="0">
          <a:solidFill>
            <a:schemeClr val="tx1"/>
          </a:solidFill>
          <a:latin typeface="Verdana"/>
          <a:ea typeface="+mn-ea"/>
          <a:cs typeface="+mn-cs"/>
        </a:defRPr>
      </a:lvl1pPr>
      <a:lvl2pPr marL="347472" indent="-171450" algn="l" defTabSz="457200" rtl="0" eaLnBrk="1" latinLnBrk="0" hangingPunct="1">
        <a:lnSpc>
          <a:spcPct val="100000"/>
        </a:lnSpc>
        <a:spcBef>
          <a:spcPts val="0"/>
        </a:spcBef>
        <a:spcAft>
          <a:spcPts val="600"/>
        </a:spcAft>
        <a:buFont typeface="System Font Regular"/>
        <a:buChar char="–"/>
        <a:tabLst/>
        <a:defRPr sz="1200" kern="1200">
          <a:solidFill>
            <a:schemeClr val="tx1"/>
          </a:solidFill>
          <a:latin typeface="Verdana"/>
          <a:ea typeface="+mn-ea"/>
          <a:cs typeface="+mn-cs"/>
        </a:defRPr>
      </a:lvl2pPr>
      <a:lvl3pPr marL="521208" indent="-171450" algn="l" defTabSz="457200" rtl="0" eaLnBrk="1" latinLnBrk="0" hangingPunct="1">
        <a:lnSpc>
          <a:spcPct val="100000"/>
        </a:lnSpc>
        <a:spcBef>
          <a:spcPts val="0"/>
        </a:spcBef>
        <a:spcAft>
          <a:spcPts val="600"/>
        </a:spcAft>
        <a:buFont typeface="Courier New" panose="020F0502020204030204" pitchFamily="34" charset="0"/>
        <a:buChar char="o"/>
        <a:tabLst/>
        <a:defRPr sz="1100" kern="1200">
          <a:solidFill>
            <a:schemeClr val="tx1"/>
          </a:solidFill>
          <a:latin typeface="Verdana"/>
          <a:ea typeface="+mn-ea"/>
          <a:cs typeface="+mn-cs"/>
        </a:defRPr>
      </a:lvl3pPr>
      <a:lvl4pPr marL="694944" indent="-171450" algn="l" defTabSz="173736" rtl="0" eaLnBrk="1" latinLnBrk="0" hangingPunct="1">
        <a:lnSpc>
          <a:spcPct val="100000"/>
        </a:lnSpc>
        <a:spcBef>
          <a:spcPts val="0"/>
        </a:spcBef>
        <a:spcAft>
          <a:spcPts val="600"/>
        </a:spcAft>
        <a:buFont typeface="Wingdings" pitchFamily="2" charset="2"/>
        <a:buChar char="Ø"/>
        <a:tabLst/>
        <a:defRPr sz="1000" kern="1200">
          <a:solidFill>
            <a:schemeClr val="tx1"/>
          </a:solidFill>
          <a:latin typeface="Verdana"/>
          <a:ea typeface="+mn-ea"/>
          <a:cs typeface="+mn-cs"/>
        </a:defRPr>
      </a:lvl4pPr>
      <a:lvl5pPr marL="868680" indent="-169863" algn="l" defTabSz="457200" rtl="0" eaLnBrk="1" latinLnBrk="0" hangingPunct="1">
        <a:lnSpc>
          <a:spcPct val="100000"/>
        </a:lnSpc>
        <a:spcBef>
          <a:spcPts val="0"/>
        </a:spcBef>
        <a:spcAft>
          <a:spcPts val="600"/>
        </a:spcAft>
        <a:buFont typeface="Wingdings" pitchFamily="2" charset="2"/>
        <a:buChar char="§"/>
        <a:tabLst/>
        <a:defRPr sz="900" kern="1200">
          <a:solidFill>
            <a:schemeClr val="tx1"/>
          </a:solidFill>
          <a:latin typeface="Verdana"/>
          <a:ea typeface="+mn-ea"/>
          <a:cs typeface="+mn-cs"/>
        </a:defRPr>
      </a:lvl5pPr>
      <a:lvl6pPr marL="1042416" indent="-171450" algn="l" defTabSz="457200" rtl="0" eaLnBrk="1" latinLnBrk="0" hangingPunct="1">
        <a:spcBef>
          <a:spcPts val="0"/>
        </a:spcBef>
        <a:spcAft>
          <a:spcPts val="600"/>
        </a:spcAft>
        <a:buFont typeface="Arial"/>
        <a:buChar char="•"/>
        <a:tabLst/>
        <a:defRPr sz="9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432" userDrawn="1">
          <p15:clr>
            <a:srgbClr val="F26B43"/>
          </p15:clr>
        </p15:guide>
        <p15:guide id="4" pos="5304" userDrawn="1">
          <p15:clr>
            <a:srgbClr val="F26B43"/>
          </p15:clr>
        </p15:guide>
        <p15:guide id="5" orient="horz" pos="2964" userDrawn="1">
          <p15:clr>
            <a:srgbClr val="F26B43"/>
          </p15:clr>
        </p15:guide>
        <p15:guide id="6" orient="horz" pos="6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rudentialgroup.starcompliance.com/" TargetMode="External"/><Relationship Id="rId2" Type="http://schemas.openxmlformats.org/officeDocument/2006/relationships/image" Target="../media/image5.png"/><Relationship Id="rId1" Type="http://schemas.openxmlformats.org/officeDocument/2006/relationships/slideLayout" Target="../slideLayouts/slideLayout9.xml"/><Relationship Id="rId5" Type="http://schemas.openxmlformats.org/officeDocument/2006/relationships/hyperlink" Target="mailto:regional.starcompliance.COE@prudential.com.sg" TargetMode="External"/><Relationship Id="rId4" Type="http://schemas.openxmlformats.org/officeDocument/2006/relationships/hyperlink" Target="https://www.1-hub.com/sites/group-risk-compliance-security-site/SitePageModern/85172/conflict-of-interes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hyperlink" Target="https://www.1-hub.com/sites/group-risk-compliance-security-site/SitePageModern/85172/conflict-of-interest" TargetMode="Externa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www.1-hub.com/sites/group-risk-compliance-security-site/SitePageModern/85172/conflict-of-interest" TargetMode="External"/><Relationship Id="rId2" Type="http://schemas.openxmlformats.org/officeDocument/2006/relationships/hyperlink" Target="https://prudentialgroup.starcompliance.com/"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E9326D-A98B-B244-8122-077E95D60B23}"/>
              </a:ext>
            </a:extLst>
          </p:cNvPr>
          <p:cNvSpPr>
            <a:spLocks noGrp="1"/>
          </p:cNvSpPr>
          <p:nvPr>
            <p:ph type="body" idx="1"/>
          </p:nvPr>
        </p:nvSpPr>
        <p:spPr>
          <a:xfrm>
            <a:off x="685800" y="4579620"/>
            <a:ext cx="796693" cy="153888"/>
          </a:xfrm>
        </p:spPr>
        <p:txBody>
          <a:bodyPr/>
          <a:lstStyle/>
          <a:p>
            <a:r>
              <a:rPr lang="en-US" dirty="0"/>
              <a:t>April 2024</a:t>
            </a:r>
          </a:p>
        </p:txBody>
      </p:sp>
      <p:sp>
        <p:nvSpPr>
          <p:cNvPr id="3" name="Text Placeholder 2">
            <a:extLst>
              <a:ext uri="{FF2B5EF4-FFF2-40B4-BE49-F238E27FC236}">
                <a16:creationId xmlns:a16="http://schemas.microsoft.com/office/drawing/2014/main" id="{0A28E503-7D94-CA45-B7A3-EDC2737DA0C7}"/>
              </a:ext>
            </a:extLst>
          </p:cNvPr>
          <p:cNvSpPr>
            <a:spLocks noGrp="1"/>
          </p:cNvSpPr>
          <p:nvPr>
            <p:ph type="body" idx="11"/>
          </p:nvPr>
        </p:nvSpPr>
        <p:spPr>
          <a:xfrm>
            <a:off x="2243409" y="4579620"/>
            <a:ext cx="1471557" cy="153888"/>
          </a:xfrm>
        </p:spPr>
        <p:txBody>
          <a:bodyPr/>
          <a:lstStyle/>
          <a:p>
            <a:r>
              <a:rPr lang="en-US" dirty="0"/>
              <a:t>Group Compliance </a:t>
            </a:r>
          </a:p>
        </p:txBody>
      </p:sp>
      <p:sp>
        <p:nvSpPr>
          <p:cNvPr id="4" name="Title 3">
            <a:extLst>
              <a:ext uri="{FF2B5EF4-FFF2-40B4-BE49-F238E27FC236}">
                <a16:creationId xmlns:a16="http://schemas.microsoft.com/office/drawing/2014/main" id="{EFEB8F49-7229-134D-81FE-111D77041092}"/>
              </a:ext>
            </a:extLst>
          </p:cNvPr>
          <p:cNvSpPr>
            <a:spLocks noGrp="1"/>
          </p:cNvSpPr>
          <p:nvPr>
            <p:ph type="title"/>
          </p:nvPr>
        </p:nvSpPr>
        <p:spPr/>
        <p:txBody>
          <a:bodyPr/>
          <a:lstStyle/>
          <a:p>
            <a:r>
              <a:rPr lang="en-US" dirty="0"/>
              <a:t>Conflicts of Interest Induction Training</a:t>
            </a:r>
          </a:p>
        </p:txBody>
      </p:sp>
    </p:spTree>
    <p:extLst>
      <p:ext uri="{BB962C8B-B14F-4D97-AF65-F5344CB8AC3E}">
        <p14:creationId xmlns:p14="http://schemas.microsoft.com/office/powerpoint/2010/main" val="112987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B0DD370-BCE2-44D7-AA88-AC3D37D4F708}"/>
              </a:ext>
            </a:extLst>
          </p:cNvPr>
          <p:cNvSpPr>
            <a:spLocks noGrp="1"/>
          </p:cNvSpPr>
          <p:nvPr>
            <p:ph type="body" sz="quarter" idx="3"/>
          </p:nvPr>
        </p:nvSpPr>
        <p:spPr/>
        <p:txBody>
          <a:bodyPr/>
          <a:lstStyle/>
          <a:p>
            <a:r>
              <a:rPr lang="en-HK" dirty="0"/>
              <a:t>Conflicts of Interest Induction Training</a:t>
            </a:r>
          </a:p>
        </p:txBody>
      </p:sp>
      <p:sp>
        <p:nvSpPr>
          <p:cNvPr id="5" name="Text Placeholder 4">
            <a:extLst>
              <a:ext uri="{FF2B5EF4-FFF2-40B4-BE49-F238E27FC236}">
                <a16:creationId xmlns:a16="http://schemas.microsoft.com/office/drawing/2014/main" id="{2275B9C4-2A8C-4AAA-9DC5-96F40FC077DA}"/>
              </a:ext>
            </a:extLst>
          </p:cNvPr>
          <p:cNvSpPr>
            <a:spLocks noGrp="1"/>
          </p:cNvSpPr>
          <p:nvPr>
            <p:ph type="body" idx="11"/>
          </p:nvPr>
        </p:nvSpPr>
        <p:spPr>
          <a:xfrm>
            <a:off x="685800" y="429070"/>
            <a:ext cx="7200026" cy="792000"/>
          </a:xfrm>
        </p:spPr>
        <p:txBody>
          <a:bodyPr/>
          <a:lstStyle/>
          <a:p>
            <a:r>
              <a:rPr lang="en-HK" dirty="0"/>
              <a:t>Introduction</a:t>
            </a:r>
          </a:p>
        </p:txBody>
      </p:sp>
      <p:sp>
        <p:nvSpPr>
          <p:cNvPr id="6" name="TextBox 5">
            <a:extLst>
              <a:ext uri="{FF2B5EF4-FFF2-40B4-BE49-F238E27FC236}">
                <a16:creationId xmlns:a16="http://schemas.microsoft.com/office/drawing/2014/main" id="{4B45A220-5370-450F-B4AC-B74AC7BE9ECA}"/>
              </a:ext>
            </a:extLst>
          </p:cNvPr>
          <p:cNvSpPr txBox="1"/>
          <p:nvPr/>
        </p:nvSpPr>
        <p:spPr>
          <a:xfrm>
            <a:off x="277577" y="725131"/>
            <a:ext cx="6011390" cy="1662767"/>
          </a:xfrm>
          <a:prstGeom prst="roundRect">
            <a:avLst>
              <a:gd name="adj" fmla="val 4503"/>
            </a:avLst>
          </a:prstGeom>
          <a:ln w="9525">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At Prudential, we adhere to the highest professional and ethical standards of conduct, which includes our commitment to treating customers fairly. In order to protect the interests of Prudential’s customers, the Group and its employees, we all share the responsibility of identifying and managing conflicts of interest (COIs). Even the perception that personal interests influence business judgement could be detrimental to Prudential or to its key stakeholders such as customers, shareholders, investors and employees.</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prstClr val="black"/>
              </a:solidFill>
              <a:effectLst/>
              <a:uLnTx/>
              <a:uFillTx/>
              <a:latin typeface="Calibri"/>
              <a:ea typeface="+mn-ea"/>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GB" sz="1000" i="0" u="none" strike="noStrike" kern="0" cap="none" spc="0" normalizeH="0" baseline="0" noProof="0" dirty="0">
                <a:ln>
                  <a:noFill/>
                </a:ln>
                <a:solidFill>
                  <a:prstClr val="black"/>
                </a:solidFill>
                <a:effectLst/>
                <a:uLnTx/>
                <a:uFillTx/>
                <a:latin typeface="Calibri"/>
                <a:ea typeface="+mn-ea"/>
                <a:cs typeface="+mn-cs"/>
              </a:rPr>
              <a:t>The term “COI” </a:t>
            </a:r>
            <a:r>
              <a:rPr kumimoji="0" lang="en-US" sz="1000" b="0" i="0" u="none" strike="noStrike" kern="0" cap="none" spc="0" normalizeH="0" baseline="0" noProof="0" dirty="0">
                <a:ln>
                  <a:noFill/>
                </a:ln>
                <a:solidFill>
                  <a:prstClr val="black"/>
                </a:solidFill>
                <a:effectLst/>
                <a:uLnTx/>
                <a:uFillTx/>
                <a:latin typeface="Calibri"/>
                <a:ea typeface="+mn-ea"/>
                <a:cs typeface="+mn-cs"/>
              </a:rPr>
              <a:t>should be interpreted broadly to capture any actual, perceived or potential situation where the Prudential Group or a Business Unit (BU)/Local Business Unit (LBU) or employee/contractor has a vested interest (commercial, professional and/or personal), that could be seen as having inappropriate influence on decision making and compromising the interests of another person or legal entity. </a:t>
            </a:r>
            <a:endParaRPr kumimoji="0" lang="en-GB" sz="1000" b="0" i="0" u="none" strike="noStrike" kern="0" cap="none" spc="0" normalizeH="0" baseline="0" noProof="0" dirty="0">
              <a:ln>
                <a:noFill/>
              </a:ln>
              <a:solidFill>
                <a:prstClr val="black"/>
              </a:solidFill>
              <a:effectLst/>
              <a:uLnTx/>
              <a:uFillTx/>
              <a:latin typeface="Calibri"/>
              <a:ea typeface="+mn-ea"/>
              <a:cs typeface="+mn-cs"/>
            </a:endParaRPr>
          </a:p>
        </p:txBody>
      </p:sp>
      <p:pic>
        <p:nvPicPr>
          <p:cNvPr id="7" name="Picture 6" descr="Shape, arrow&#10;&#10;Description automatically generated">
            <a:extLst>
              <a:ext uri="{FF2B5EF4-FFF2-40B4-BE49-F238E27FC236}">
                <a16:creationId xmlns:a16="http://schemas.microsoft.com/office/drawing/2014/main" id="{9E7C37F9-8D30-4628-B82C-A0565D94A4FF}"/>
              </a:ext>
            </a:extLst>
          </p:cNvPr>
          <p:cNvPicPr>
            <a:picLocks noChangeAspect="1"/>
          </p:cNvPicPr>
          <p:nvPr/>
        </p:nvPicPr>
        <p:blipFill>
          <a:blip r:embed="rId2"/>
          <a:stretch>
            <a:fillRect/>
          </a:stretch>
        </p:blipFill>
        <p:spPr>
          <a:xfrm>
            <a:off x="6406093" y="819647"/>
            <a:ext cx="2394544" cy="1505912"/>
          </a:xfrm>
          <a:prstGeom prst="rect">
            <a:avLst/>
          </a:prstGeom>
        </p:spPr>
      </p:pic>
      <p:grpSp>
        <p:nvGrpSpPr>
          <p:cNvPr id="8" name="Group 7">
            <a:extLst>
              <a:ext uri="{FF2B5EF4-FFF2-40B4-BE49-F238E27FC236}">
                <a16:creationId xmlns:a16="http://schemas.microsoft.com/office/drawing/2014/main" id="{B666BFF1-86BA-424E-AB13-5798A8EDF42E}"/>
              </a:ext>
            </a:extLst>
          </p:cNvPr>
          <p:cNvGrpSpPr/>
          <p:nvPr/>
        </p:nvGrpSpPr>
        <p:grpSpPr>
          <a:xfrm>
            <a:off x="310470" y="2325559"/>
            <a:ext cx="8523060" cy="1726170"/>
            <a:chOff x="277577" y="3129241"/>
            <a:chExt cx="8523060" cy="1639744"/>
          </a:xfrm>
        </p:grpSpPr>
        <p:sp>
          <p:nvSpPr>
            <p:cNvPr id="9" name="Rectangle: Rounded Corners 8">
              <a:extLst>
                <a:ext uri="{FF2B5EF4-FFF2-40B4-BE49-F238E27FC236}">
                  <a16:creationId xmlns:a16="http://schemas.microsoft.com/office/drawing/2014/main" id="{BD6B8060-18C9-42AF-8026-DBD925188BFD}"/>
                </a:ext>
              </a:extLst>
            </p:cNvPr>
            <p:cNvSpPr/>
            <p:nvPr/>
          </p:nvSpPr>
          <p:spPr>
            <a:xfrm>
              <a:off x="277577" y="3410834"/>
              <a:ext cx="8523060" cy="182003"/>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88900" marR="0" lvl="0" indent="-88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Identify and, where possible, avoid situations that could result in a COI, unless the conflict is disclosed and managed under the BU's/LBU's COI framework</a:t>
              </a:r>
            </a:p>
          </p:txBody>
        </p:sp>
        <p:sp>
          <p:nvSpPr>
            <p:cNvPr id="10" name="Rectangle: Rounded Corners 9">
              <a:extLst>
                <a:ext uri="{FF2B5EF4-FFF2-40B4-BE49-F238E27FC236}">
                  <a16:creationId xmlns:a16="http://schemas.microsoft.com/office/drawing/2014/main" id="{6235677C-1854-4416-99C2-1364104434D0}"/>
                </a:ext>
              </a:extLst>
            </p:cNvPr>
            <p:cNvSpPr/>
            <p:nvPr/>
          </p:nvSpPr>
          <p:spPr>
            <a:xfrm>
              <a:off x="277577" y="3676122"/>
              <a:ext cx="8523060" cy="297000"/>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88900" indent="-88900" defTabSz="914400">
                <a:buFont typeface="Arial" panose="020B0604020202020204" pitchFamily="34" charset="0"/>
                <a:buChar char="•"/>
              </a:pPr>
              <a:r>
                <a:rPr lang="en-US" sz="1000" kern="0" dirty="0">
                  <a:solidFill>
                    <a:prstClr val="black"/>
                  </a:solidFill>
                  <a:latin typeface="Calibri"/>
                </a:rPr>
                <a:t>Notify your line manager or HR or any other designated person as specified in your local procedures in writing, whenever you identify a conflict so that steps can be taken to manage the situation.</a:t>
              </a:r>
            </a:p>
          </p:txBody>
        </p:sp>
        <p:sp>
          <p:nvSpPr>
            <p:cNvPr id="11" name="Rectangle: Rounded Corners 10">
              <a:extLst>
                <a:ext uri="{FF2B5EF4-FFF2-40B4-BE49-F238E27FC236}">
                  <a16:creationId xmlns:a16="http://schemas.microsoft.com/office/drawing/2014/main" id="{0267AF04-3C42-4EEB-994E-9C1D3C32C9D3}"/>
                </a:ext>
              </a:extLst>
            </p:cNvPr>
            <p:cNvSpPr/>
            <p:nvPr/>
          </p:nvSpPr>
          <p:spPr>
            <a:xfrm>
              <a:off x="277577" y="4056407"/>
              <a:ext cx="8523060" cy="182003"/>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88900" marR="0" lvl="0" indent="-88900" defTabSz="914400" fontAlgn="auto">
                <a:lnSpc>
                  <a:spcPct val="100000"/>
                </a:lnSpc>
                <a:spcBef>
                  <a:spcPts val="0"/>
                </a:spcBef>
                <a:spcAft>
                  <a:spcPts val="0"/>
                </a:spcAft>
                <a:buClrTx/>
                <a:buSzTx/>
                <a:buFont typeface="Arial" panose="020B0604020202020204" pitchFamily="34" charset="0"/>
                <a:buChar char="•"/>
                <a:tabLst/>
                <a:defRPr/>
              </a:pPr>
              <a:r>
                <a:rPr lang="en-US" sz="1000" kern="0" dirty="0">
                  <a:solidFill>
                    <a:prstClr val="black"/>
                  </a:solidFill>
                  <a:latin typeface="Calibri"/>
                </a:rPr>
                <a:t>Attend all required training on COI.</a:t>
              </a:r>
            </a:p>
          </p:txBody>
        </p:sp>
        <p:sp>
          <p:nvSpPr>
            <p:cNvPr id="12" name="Rectangle: Rounded Corners 11">
              <a:extLst>
                <a:ext uri="{FF2B5EF4-FFF2-40B4-BE49-F238E27FC236}">
                  <a16:creationId xmlns:a16="http://schemas.microsoft.com/office/drawing/2014/main" id="{ACBEEDB4-8871-46F7-BE36-A488275AF015}"/>
                </a:ext>
              </a:extLst>
            </p:cNvPr>
            <p:cNvSpPr/>
            <p:nvPr/>
          </p:nvSpPr>
          <p:spPr>
            <a:xfrm>
              <a:off x="277577" y="4321695"/>
              <a:ext cx="8523060" cy="182003"/>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88900" marR="0" lvl="0" indent="-88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0" dirty="0">
                  <a:solidFill>
                    <a:prstClr val="black"/>
                  </a:solidFill>
                  <a:latin typeface="Calibri"/>
                </a:rPr>
                <a:t>Observe the Group COI Policy and relevant Guidance Note and use it in conjunction with all other applicable BU/LBU policies and procedures.</a:t>
              </a:r>
            </a:p>
          </p:txBody>
        </p:sp>
        <p:sp>
          <p:nvSpPr>
            <p:cNvPr id="13" name="Rectangle: Rounded Corners 12">
              <a:extLst>
                <a:ext uri="{FF2B5EF4-FFF2-40B4-BE49-F238E27FC236}">
                  <a16:creationId xmlns:a16="http://schemas.microsoft.com/office/drawing/2014/main" id="{EBB7B3FF-4077-451C-A7CB-B57362E05377}"/>
                </a:ext>
              </a:extLst>
            </p:cNvPr>
            <p:cNvSpPr/>
            <p:nvPr/>
          </p:nvSpPr>
          <p:spPr>
            <a:xfrm>
              <a:off x="277577" y="4586982"/>
              <a:ext cx="8523060" cy="182003"/>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88900" marR="0" lvl="0" indent="-88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In the case of line managers, oversee and supervise the appropriate management of COIs declared by employees or contractors reporting to you, if any.</a:t>
              </a:r>
            </a:p>
          </p:txBody>
        </p:sp>
        <p:sp>
          <p:nvSpPr>
            <p:cNvPr id="14" name="Rectangle: Rounded Corners 13">
              <a:extLst>
                <a:ext uri="{FF2B5EF4-FFF2-40B4-BE49-F238E27FC236}">
                  <a16:creationId xmlns:a16="http://schemas.microsoft.com/office/drawing/2014/main" id="{35FD50E6-AA41-4C3B-87BA-D3057410C279}"/>
                </a:ext>
              </a:extLst>
            </p:cNvPr>
            <p:cNvSpPr/>
            <p:nvPr/>
          </p:nvSpPr>
          <p:spPr>
            <a:xfrm>
              <a:off x="277577" y="3129241"/>
              <a:ext cx="8523060" cy="198308"/>
            </a:xfrm>
            <a:prstGeom prst="roundRect">
              <a:avLst/>
            </a:prstGeom>
            <a:solidFill>
              <a:srgbClr val="FF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white"/>
                  </a:solidFill>
                  <a:effectLst/>
                  <a:uLnTx/>
                  <a:uFillTx/>
                  <a:latin typeface="Calibri"/>
                  <a:ea typeface="+mn-ea"/>
                  <a:cs typeface="+mn-cs"/>
                </a:rPr>
                <a:t>You are required to;</a:t>
              </a:r>
            </a:p>
          </p:txBody>
        </p:sp>
      </p:grpSp>
      <p:sp>
        <p:nvSpPr>
          <p:cNvPr id="15" name="TextBox 14">
            <a:extLst>
              <a:ext uri="{FF2B5EF4-FFF2-40B4-BE49-F238E27FC236}">
                <a16:creationId xmlns:a16="http://schemas.microsoft.com/office/drawing/2014/main" id="{26054D03-DA72-4165-8E6A-15644F4EEE0B}"/>
              </a:ext>
            </a:extLst>
          </p:cNvPr>
          <p:cNvSpPr txBox="1"/>
          <p:nvPr/>
        </p:nvSpPr>
        <p:spPr>
          <a:xfrm>
            <a:off x="0" y="4794201"/>
            <a:ext cx="7855263"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800" i="1" kern="0" dirty="0">
                <a:solidFill>
                  <a:prstClr val="black"/>
                </a:solidFill>
                <a:latin typeface="Calibri"/>
              </a:rPr>
              <a:t>Note: In this training course, unless specified otherwise, any reference to the term "employee(s)" should also be read as to include contractor(s), including but not limited to any contingent, short-term casual workers, interns, people on work experience, consultants and those who undertake work for, but are not employed by Prudential.</a:t>
            </a:r>
          </a:p>
        </p:txBody>
      </p:sp>
      <p:sp>
        <p:nvSpPr>
          <p:cNvPr id="2" name="TextBox 1">
            <a:extLst>
              <a:ext uri="{FF2B5EF4-FFF2-40B4-BE49-F238E27FC236}">
                <a16:creationId xmlns:a16="http://schemas.microsoft.com/office/drawing/2014/main" id="{9B196489-EDE6-619E-66F9-CE256A4F0981}"/>
              </a:ext>
            </a:extLst>
          </p:cNvPr>
          <p:cNvSpPr txBox="1"/>
          <p:nvPr/>
        </p:nvSpPr>
        <p:spPr>
          <a:xfrm>
            <a:off x="0" y="4104124"/>
            <a:ext cx="9144000" cy="669414"/>
          </a:xfrm>
          <a:prstGeom prst="rect">
            <a:avLst/>
          </a:prstGeom>
          <a:solidFill>
            <a:sysClr val="window" lastClr="FFFFFF">
              <a:lumMod val="95000"/>
            </a:sysClr>
          </a:solidFill>
          <a:ln w="9525" cap="flat" cmpd="sng" algn="ctr">
            <a:solidFill>
              <a:sysClr val="windowText" lastClr="000000"/>
            </a:solidFill>
            <a:prstDash val="solid"/>
          </a:ln>
          <a:effectLst/>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prstClr val="black"/>
                </a:solidFill>
                <a:effectLst/>
                <a:uLnTx/>
                <a:uFillTx/>
                <a:latin typeface="Calibri"/>
                <a:ea typeface="+mn-ea"/>
                <a:cs typeface="+mn-cs"/>
              </a:rPr>
              <a:t>You are also required to complete your </a:t>
            </a:r>
            <a:r>
              <a:rPr kumimoji="0" lang="en-US" sz="1050" b="1" i="0" u="sng" strike="noStrike" kern="0" cap="none" spc="0" normalizeH="0" baseline="0" noProof="0" dirty="0">
                <a:ln>
                  <a:noFill/>
                </a:ln>
                <a:solidFill>
                  <a:srgbClr val="000000"/>
                </a:solidFill>
                <a:effectLst/>
                <a:uLnTx/>
                <a:uFillTx/>
                <a:latin typeface="Calibri"/>
                <a:ea typeface="+mn-ea"/>
                <a:cs typeface="+mn-cs"/>
              </a:rPr>
              <a:t>initial COI Certification</a:t>
            </a:r>
            <a:r>
              <a:rPr kumimoji="0" lang="en-US" sz="1050" b="1" i="0" strike="noStrike" kern="0" cap="none" spc="0" normalizeH="0" baseline="0" noProof="0" dirty="0">
                <a:ln>
                  <a:noFill/>
                </a:ln>
                <a:solidFill>
                  <a:srgbClr val="000000"/>
                </a:solidFill>
                <a:effectLst/>
                <a:uLnTx/>
                <a:uFillTx/>
                <a:latin typeface="Calibri"/>
                <a:ea typeface="+mn-ea"/>
                <a:cs typeface="+mn-cs"/>
              </a:rPr>
              <a:t> </a:t>
            </a:r>
            <a:r>
              <a:rPr kumimoji="0" lang="en-US" sz="1050" b="1" i="0" u="none" strike="noStrike" kern="0" cap="none" spc="0" normalizeH="0" baseline="0" noProof="0" dirty="0">
                <a:ln>
                  <a:noFill/>
                </a:ln>
                <a:solidFill>
                  <a:prstClr val="black"/>
                </a:solidFill>
                <a:effectLst/>
                <a:uLnTx/>
                <a:uFillTx/>
                <a:latin typeface="Calibri"/>
                <a:ea typeface="+mn-ea"/>
                <a:cs typeface="+mn-cs"/>
              </a:rPr>
              <a:t>on </a:t>
            </a:r>
            <a:r>
              <a:rPr lang="en-US" sz="1050" b="1" kern="0" dirty="0" err="1">
                <a:solidFill>
                  <a:prstClr val="black"/>
                </a:solidFill>
                <a:latin typeface="Calibri"/>
              </a:rPr>
              <a:t>StarCompliance</a:t>
            </a:r>
            <a:r>
              <a:rPr lang="en-US" sz="1050" b="1" kern="0" dirty="0">
                <a:solidFill>
                  <a:prstClr val="black"/>
                </a:solidFill>
                <a:latin typeface="Calibri"/>
              </a:rPr>
              <a:t> within 1 month after onboarding. This certification is to confirm that you do </a:t>
            </a:r>
            <a:r>
              <a:rPr lang="en-US" sz="1050" b="1" i="1" kern="0" dirty="0">
                <a:solidFill>
                  <a:prstClr val="black"/>
                </a:solidFill>
                <a:latin typeface="Calibri"/>
              </a:rPr>
              <a:t>not </a:t>
            </a:r>
            <a:r>
              <a:rPr lang="en-US" sz="1050" b="1" kern="0" dirty="0">
                <a:solidFill>
                  <a:prstClr val="black"/>
                </a:solidFill>
                <a:latin typeface="Calibri"/>
              </a:rPr>
              <a:t>have a COI to declare, or if you do, to make such a declaration in StarCompliance. You can access StarCompliance</a:t>
            </a:r>
            <a:r>
              <a:rPr kumimoji="0" lang="en-US" sz="1050" b="1" i="0" u="none" strike="noStrike" kern="0" cap="none" spc="0" normalizeH="0" baseline="0" noProof="0" dirty="0">
                <a:ln>
                  <a:noFill/>
                </a:ln>
                <a:solidFill>
                  <a:prstClr val="black"/>
                </a:solidFill>
                <a:effectLst/>
                <a:uLnTx/>
                <a:uFillTx/>
                <a:latin typeface="Calibri"/>
                <a:ea typeface="+mn-ea"/>
                <a:cs typeface="+mn-cs"/>
              </a:rPr>
              <a:t> via this </a:t>
            </a:r>
            <a:r>
              <a:rPr kumimoji="0" lang="en-US" sz="1050" b="1" i="0" u="none" strike="noStrike" kern="0" cap="none" spc="0" normalizeH="0" baseline="0" noProof="0" dirty="0">
                <a:ln>
                  <a:noFill/>
                </a:ln>
                <a:solidFill>
                  <a:prstClr val="black"/>
                </a:solidFill>
                <a:effectLst/>
                <a:uLnTx/>
                <a:uFillTx/>
                <a:latin typeface="Calibri"/>
                <a:ea typeface="+mn-ea"/>
                <a:cs typeface="+mn-cs"/>
                <a:hlinkClick r:id="rId3"/>
              </a:rPr>
              <a:t>link, </a:t>
            </a:r>
            <a:r>
              <a:rPr kumimoji="0" lang="en-US" sz="1050" b="1" i="0" u="none" strike="noStrike" kern="0" cap="none" spc="0" normalizeH="0" baseline="0" noProof="0" dirty="0">
                <a:ln>
                  <a:noFill/>
                </a:ln>
                <a:solidFill>
                  <a:prstClr val="black"/>
                </a:solidFill>
                <a:effectLst/>
                <a:uLnTx/>
                <a:uFillTx/>
                <a:latin typeface="Calibri"/>
                <a:ea typeface="+mn-ea"/>
                <a:cs typeface="+mn-cs"/>
              </a:rPr>
              <a:t>via your StarCompliance welcome e-mail,</a:t>
            </a:r>
            <a:r>
              <a:rPr lang="en-US" sz="1050" b="1" kern="0" dirty="0">
                <a:solidFill>
                  <a:prstClr val="black"/>
                </a:solidFill>
                <a:latin typeface="Calibri"/>
              </a:rPr>
              <a:t> or via the </a:t>
            </a:r>
            <a:r>
              <a:rPr lang="en-US" sz="1050" b="1" kern="0" dirty="0">
                <a:solidFill>
                  <a:prstClr val="black"/>
                </a:solidFill>
                <a:latin typeface="Calibri"/>
                <a:hlinkClick r:id="rId4"/>
              </a:rPr>
              <a:t>1-PRU COI website</a:t>
            </a:r>
            <a:r>
              <a:rPr lang="en-US" sz="1050" b="1" kern="0" dirty="0">
                <a:solidFill>
                  <a:prstClr val="black"/>
                </a:solidFill>
                <a:latin typeface="Calibri"/>
              </a:rPr>
              <a:t>.*</a:t>
            </a:r>
            <a:endParaRPr lang="en-US" sz="600" b="1" kern="0" dirty="0">
              <a:solidFill>
                <a:prstClr val="black"/>
              </a:solidFill>
              <a:latin typeface="Calibri"/>
            </a:endParaRPr>
          </a:p>
          <a:p>
            <a:pPr marL="0" marR="0" lvl="0" indent="0" algn="just" defTabSz="914400" eaLnBrk="1" fontAlgn="auto" latinLnBrk="0" hangingPunct="1">
              <a:lnSpc>
                <a:spcPct val="100000"/>
              </a:lnSpc>
              <a:spcBef>
                <a:spcPts val="0"/>
              </a:spcBef>
              <a:spcAft>
                <a:spcPts val="0"/>
              </a:spcAft>
              <a:buClrTx/>
              <a:buSzTx/>
              <a:buFontTx/>
              <a:buNone/>
              <a:tabLst/>
              <a:defRPr/>
            </a:pPr>
            <a:endParaRPr lang="en-US" sz="600" b="1" kern="0" dirty="0">
              <a:solidFill>
                <a:prstClr val="black"/>
              </a:solidFill>
              <a:latin typeface="Calibri"/>
            </a:endParaRPr>
          </a:p>
        </p:txBody>
      </p:sp>
      <p:sp>
        <p:nvSpPr>
          <p:cNvPr id="3" name="TextBox 2">
            <a:extLst>
              <a:ext uri="{FF2B5EF4-FFF2-40B4-BE49-F238E27FC236}">
                <a16:creationId xmlns:a16="http://schemas.microsoft.com/office/drawing/2014/main" id="{7FF21D3C-1925-BF25-0D70-B7CCD0666B57}"/>
              </a:ext>
            </a:extLst>
          </p:cNvPr>
          <p:cNvSpPr txBox="1"/>
          <p:nvPr/>
        </p:nvSpPr>
        <p:spPr>
          <a:xfrm>
            <a:off x="3165230" y="4504452"/>
            <a:ext cx="6052117" cy="261610"/>
          </a:xfrm>
          <a:prstGeom prst="rect">
            <a:avLst/>
          </a:prstGeom>
          <a:noFill/>
        </p:spPr>
        <p:txBody>
          <a:bodyPr wrap="square" lIns="0" tIns="0" rIns="0" bIns="0" rtlCol="0">
            <a:spAutoFit/>
          </a:bodyPr>
          <a:lstStyle/>
          <a:p>
            <a:pPr algn="l"/>
            <a:r>
              <a:rPr lang="en-HK" sz="850" i="1" kern="0" dirty="0">
                <a:solidFill>
                  <a:prstClr val="black"/>
                </a:solidFill>
                <a:latin typeface="Calibri"/>
              </a:rPr>
              <a:t>* You can access StarCompliance and any of the links on this slide from an office device and/or within an office environment. Should you have any issues in accessing </a:t>
            </a:r>
            <a:r>
              <a:rPr lang="en-HK" sz="850" i="1" kern="0" dirty="0" err="1">
                <a:solidFill>
                  <a:prstClr val="black"/>
                </a:solidFill>
                <a:latin typeface="Calibri"/>
              </a:rPr>
              <a:t>StarCompliance</a:t>
            </a:r>
            <a:r>
              <a:rPr lang="en-HK" sz="850" i="1" kern="0" dirty="0">
                <a:solidFill>
                  <a:prstClr val="black"/>
                </a:solidFill>
                <a:latin typeface="Calibri"/>
              </a:rPr>
              <a:t>, please contact COE Team. Their email is </a:t>
            </a:r>
            <a:r>
              <a:rPr lang="en-HK" sz="850" i="1" kern="0" dirty="0">
                <a:solidFill>
                  <a:prstClr val="black"/>
                </a:solidFill>
                <a:latin typeface="Calibri"/>
                <a:hlinkClick r:id="rId5"/>
              </a:rPr>
              <a:t>regional.starcompliance.COE@prudential.com.sg</a:t>
            </a:r>
            <a:r>
              <a:rPr lang="en-HK" sz="850" i="1" kern="0" dirty="0">
                <a:solidFill>
                  <a:prstClr val="black"/>
                </a:solidFill>
                <a:latin typeface="Calibri"/>
              </a:rPr>
              <a:t>.  </a:t>
            </a:r>
          </a:p>
        </p:txBody>
      </p:sp>
    </p:spTree>
    <p:extLst>
      <p:ext uri="{BB962C8B-B14F-4D97-AF65-F5344CB8AC3E}">
        <p14:creationId xmlns:p14="http://schemas.microsoft.com/office/powerpoint/2010/main" val="108649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Why managing COIs is important</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Managing COI</a:t>
            </a:r>
          </a:p>
        </p:txBody>
      </p:sp>
      <p:sp>
        <p:nvSpPr>
          <p:cNvPr id="38" name="TextBox 37">
            <a:extLst>
              <a:ext uri="{FF2B5EF4-FFF2-40B4-BE49-F238E27FC236}">
                <a16:creationId xmlns:a16="http://schemas.microsoft.com/office/drawing/2014/main" id="{F06C9D86-18DB-48FB-805C-D7768F1F6A7E}"/>
              </a:ext>
            </a:extLst>
          </p:cNvPr>
          <p:cNvSpPr txBox="1"/>
          <p:nvPr/>
        </p:nvSpPr>
        <p:spPr>
          <a:xfrm>
            <a:off x="263862" y="972174"/>
            <a:ext cx="7884368" cy="400110"/>
          </a:xfrm>
          <a:prstGeom prst="rect">
            <a:avLst/>
          </a:prstGeom>
          <a:noFill/>
        </p:spPr>
        <p:txBody>
          <a:bodyPr wrap="square" rtlCol="0">
            <a:spAutoFit/>
          </a:bodyPr>
          <a:lstStyle/>
          <a:p>
            <a:r>
              <a:rPr lang="en-US" sz="1000" dirty="0">
                <a:solidFill>
                  <a:prstClr val="black"/>
                </a:solidFill>
                <a:latin typeface="Calibri"/>
              </a:rPr>
              <a:t>Failure to identify and manage COIs can result in substantial and far-reaching consequences for individual employees, BUs/LBUs as well as the Prudential Group. This could include:</a:t>
            </a:r>
          </a:p>
        </p:txBody>
      </p:sp>
      <p:graphicFrame>
        <p:nvGraphicFramePr>
          <p:cNvPr id="39" name="Table 12">
            <a:extLst>
              <a:ext uri="{FF2B5EF4-FFF2-40B4-BE49-F238E27FC236}">
                <a16:creationId xmlns:a16="http://schemas.microsoft.com/office/drawing/2014/main" id="{B3B5B787-D3D0-4E6E-9538-1FC82E9FFEA6}"/>
              </a:ext>
            </a:extLst>
          </p:cNvPr>
          <p:cNvGraphicFramePr>
            <a:graphicFrameLocks noGrp="1"/>
          </p:cNvGraphicFramePr>
          <p:nvPr>
            <p:extLst>
              <p:ext uri="{D42A27DB-BD31-4B8C-83A1-F6EECF244321}">
                <p14:modId xmlns:p14="http://schemas.microsoft.com/office/powerpoint/2010/main" val="791413160"/>
              </p:ext>
            </p:extLst>
          </p:nvPr>
        </p:nvGraphicFramePr>
        <p:xfrm>
          <a:off x="777923" y="1633179"/>
          <a:ext cx="1976746" cy="807191"/>
        </p:xfrm>
        <a:graphic>
          <a:graphicData uri="http://schemas.openxmlformats.org/drawingml/2006/table">
            <a:tbl>
              <a:tblPr firstRow="1" bandRow="1"/>
              <a:tblGrid>
                <a:gridCol w="1976746">
                  <a:extLst>
                    <a:ext uri="{9D8B030D-6E8A-4147-A177-3AD203B41FA5}">
                      <a16:colId xmlns:a16="http://schemas.microsoft.com/office/drawing/2014/main" val="2058051325"/>
                    </a:ext>
                  </a:extLst>
                </a:gridCol>
              </a:tblGrid>
              <a:tr h="807191">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Individual Liabilities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629120064"/>
                  </a:ext>
                </a:extLst>
              </a:tr>
            </a:tbl>
          </a:graphicData>
        </a:graphic>
      </p:graphicFrame>
      <p:graphicFrame>
        <p:nvGraphicFramePr>
          <p:cNvPr id="40" name="Table 39">
            <a:extLst>
              <a:ext uri="{FF2B5EF4-FFF2-40B4-BE49-F238E27FC236}">
                <a16:creationId xmlns:a16="http://schemas.microsoft.com/office/drawing/2014/main" id="{1DC8A3AD-C56E-45A6-9387-AB8A180BDA90}"/>
              </a:ext>
            </a:extLst>
          </p:cNvPr>
          <p:cNvGraphicFramePr>
            <a:graphicFrameLocks noGrp="1"/>
          </p:cNvGraphicFramePr>
          <p:nvPr>
            <p:extLst>
              <p:ext uri="{D42A27DB-BD31-4B8C-83A1-F6EECF244321}">
                <p14:modId xmlns:p14="http://schemas.microsoft.com/office/powerpoint/2010/main" val="952194876"/>
              </p:ext>
            </p:extLst>
          </p:nvPr>
        </p:nvGraphicFramePr>
        <p:xfrm>
          <a:off x="2926087" y="1712889"/>
          <a:ext cx="5310338" cy="636594"/>
        </p:xfrm>
        <a:graphic>
          <a:graphicData uri="http://schemas.openxmlformats.org/drawingml/2006/table">
            <a:tbl>
              <a:tblPr firstRow="1" bandRow="1"/>
              <a:tblGrid>
                <a:gridCol w="5310338">
                  <a:extLst>
                    <a:ext uri="{9D8B030D-6E8A-4147-A177-3AD203B41FA5}">
                      <a16:colId xmlns:a16="http://schemas.microsoft.com/office/drawing/2014/main" val="2058051325"/>
                    </a:ext>
                  </a:extLst>
                </a:gridCol>
              </a:tblGrid>
              <a:tr h="636594">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Individual employees involved may face legal and regulatory actions in addition to disciplinary actions, such as dismissal, imposed by the company.</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lumMod val="20000"/>
                        <a:lumOff val="80000"/>
                      </a:srgbClr>
                    </a:solidFill>
                  </a:tcPr>
                </a:tc>
                <a:extLst>
                  <a:ext uri="{0D108BD9-81ED-4DB2-BD59-A6C34878D82A}">
                    <a16:rowId xmlns:a16="http://schemas.microsoft.com/office/drawing/2014/main" val="2629120064"/>
                  </a:ext>
                </a:extLst>
              </a:tr>
            </a:tbl>
          </a:graphicData>
        </a:graphic>
      </p:graphicFrame>
      <p:graphicFrame>
        <p:nvGraphicFramePr>
          <p:cNvPr id="41" name="Table 12">
            <a:extLst>
              <a:ext uri="{FF2B5EF4-FFF2-40B4-BE49-F238E27FC236}">
                <a16:creationId xmlns:a16="http://schemas.microsoft.com/office/drawing/2014/main" id="{11D85D04-01E0-4E6E-B280-9CA02FFC6FB1}"/>
              </a:ext>
            </a:extLst>
          </p:cNvPr>
          <p:cNvGraphicFramePr>
            <a:graphicFrameLocks noGrp="1"/>
          </p:cNvGraphicFramePr>
          <p:nvPr>
            <p:extLst>
              <p:ext uri="{D42A27DB-BD31-4B8C-83A1-F6EECF244321}">
                <p14:modId xmlns:p14="http://schemas.microsoft.com/office/powerpoint/2010/main" val="2408917249"/>
              </p:ext>
            </p:extLst>
          </p:nvPr>
        </p:nvGraphicFramePr>
        <p:xfrm>
          <a:off x="777923" y="2591724"/>
          <a:ext cx="1976746" cy="807191"/>
        </p:xfrm>
        <a:graphic>
          <a:graphicData uri="http://schemas.openxmlformats.org/drawingml/2006/table">
            <a:tbl>
              <a:tblPr firstRow="1" bandRow="1"/>
              <a:tblGrid>
                <a:gridCol w="1976746">
                  <a:extLst>
                    <a:ext uri="{9D8B030D-6E8A-4147-A177-3AD203B41FA5}">
                      <a16:colId xmlns:a16="http://schemas.microsoft.com/office/drawing/2014/main" val="2058051325"/>
                    </a:ext>
                  </a:extLst>
                </a:gridCol>
              </a:tblGrid>
              <a:tr h="807191">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Regulatory fines and Sanctions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629120064"/>
                  </a:ext>
                </a:extLst>
              </a:tr>
            </a:tbl>
          </a:graphicData>
        </a:graphic>
      </p:graphicFrame>
      <p:graphicFrame>
        <p:nvGraphicFramePr>
          <p:cNvPr id="42" name="Table 41">
            <a:extLst>
              <a:ext uri="{FF2B5EF4-FFF2-40B4-BE49-F238E27FC236}">
                <a16:creationId xmlns:a16="http://schemas.microsoft.com/office/drawing/2014/main" id="{409D8A7D-D028-4420-B9AC-E2B8B6E1F881}"/>
              </a:ext>
            </a:extLst>
          </p:cNvPr>
          <p:cNvGraphicFramePr>
            <a:graphicFrameLocks noGrp="1"/>
          </p:cNvGraphicFramePr>
          <p:nvPr>
            <p:extLst>
              <p:ext uri="{D42A27DB-BD31-4B8C-83A1-F6EECF244321}">
                <p14:modId xmlns:p14="http://schemas.microsoft.com/office/powerpoint/2010/main" val="3181001299"/>
              </p:ext>
            </p:extLst>
          </p:nvPr>
        </p:nvGraphicFramePr>
        <p:xfrm>
          <a:off x="2926087" y="2620048"/>
          <a:ext cx="5310338" cy="750542"/>
        </p:xfrm>
        <a:graphic>
          <a:graphicData uri="http://schemas.openxmlformats.org/drawingml/2006/table">
            <a:tbl>
              <a:tblPr firstRow="1" bandRow="1"/>
              <a:tblGrid>
                <a:gridCol w="5310338">
                  <a:extLst>
                    <a:ext uri="{9D8B030D-6E8A-4147-A177-3AD203B41FA5}">
                      <a16:colId xmlns:a16="http://schemas.microsoft.com/office/drawing/2014/main" val="2058051325"/>
                    </a:ext>
                  </a:extLst>
                </a:gridCol>
              </a:tblGrid>
              <a:tr h="750542">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Many regulators around the world enforce requirements regarding the management of COIs. Failure to comply with these requirements may lead to significant regulatory fines and sanctions imposed on the company.</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lumMod val="20000"/>
                        <a:lumOff val="80000"/>
                      </a:srgbClr>
                    </a:solidFill>
                  </a:tcPr>
                </a:tc>
                <a:extLst>
                  <a:ext uri="{0D108BD9-81ED-4DB2-BD59-A6C34878D82A}">
                    <a16:rowId xmlns:a16="http://schemas.microsoft.com/office/drawing/2014/main" val="2629120064"/>
                  </a:ext>
                </a:extLst>
              </a:tr>
            </a:tbl>
          </a:graphicData>
        </a:graphic>
      </p:graphicFrame>
      <p:graphicFrame>
        <p:nvGraphicFramePr>
          <p:cNvPr id="43" name="Table 12">
            <a:extLst>
              <a:ext uri="{FF2B5EF4-FFF2-40B4-BE49-F238E27FC236}">
                <a16:creationId xmlns:a16="http://schemas.microsoft.com/office/drawing/2014/main" id="{B2EE2B6D-0CC0-4EB8-A91C-B0A68F47777C}"/>
              </a:ext>
            </a:extLst>
          </p:cNvPr>
          <p:cNvGraphicFramePr>
            <a:graphicFrameLocks noGrp="1"/>
          </p:cNvGraphicFramePr>
          <p:nvPr>
            <p:extLst>
              <p:ext uri="{D42A27DB-BD31-4B8C-83A1-F6EECF244321}">
                <p14:modId xmlns:p14="http://schemas.microsoft.com/office/powerpoint/2010/main" val="1102655139"/>
              </p:ext>
            </p:extLst>
          </p:nvPr>
        </p:nvGraphicFramePr>
        <p:xfrm>
          <a:off x="777923" y="3550270"/>
          <a:ext cx="1976746" cy="595369"/>
        </p:xfrm>
        <a:graphic>
          <a:graphicData uri="http://schemas.openxmlformats.org/drawingml/2006/table">
            <a:tbl>
              <a:tblPr firstRow="1" bandRow="1"/>
              <a:tblGrid>
                <a:gridCol w="1976746">
                  <a:extLst>
                    <a:ext uri="{9D8B030D-6E8A-4147-A177-3AD203B41FA5}">
                      <a16:colId xmlns:a16="http://schemas.microsoft.com/office/drawing/2014/main" val="2058051325"/>
                    </a:ext>
                  </a:extLst>
                </a:gridCol>
              </a:tblGrid>
              <a:tr h="595369">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Reputational Damage</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629120064"/>
                  </a:ext>
                </a:extLst>
              </a:tr>
            </a:tbl>
          </a:graphicData>
        </a:graphic>
      </p:graphicFrame>
      <p:graphicFrame>
        <p:nvGraphicFramePr>
          <p:cNvPr id="44" name="Table 43">
            <a:extLst>
              <a:ext uri="{FF2B5EF4-FFF2-40B4-BE49-F238E27FC236}">
                <a16:creationId xmlns:a16="http://schemas.microsoft.com/office/drawing/2014/main" id="{65205041-B620-4B7D-9569-4ADC75687A93}"/>
              </a:ext>
            </a:extLst>
          </p:cNvPr>
          <p:cNvGraphicFramePr>
            <a:graphicFrameLocks noGrp="1"/>
          </p:cNvGraphicFramePr>
          <p:nvPr>
            <p:extLst>
              <p:ext uri="{D42A27DB-BD31-4B8C-83A1-F6EECF244321}">
                <p14:modId xmlns:p14="http://schemas.microsoft.com/office/powerpoint/2010/main" val="1022880301"/>
              </p:ext>
            </p:extLst>
          </p:nvPr>
        </p:nvGraphicFramePr>
        <p:xfrm>
          <a:off x="2926087" y="3571161"/>
          <a:ext cx="5310338" cy="553586"/>
        </p:xfrm>
        <a:graphic>
          <a:graphicData uri="http://schemas.openxmlformats.org/drawingml/2006/table">
            <a:tbl>
              <a:tblPr firstRow="1" bandRow="1"/>
              <a:tblGrid>
                <a:gridCol w="5310338">
                  <a:extLst>
                    <a:ext uri="{9D8B030D-6E8A-4147-A177-3AD203B41FA5}">
                      <a16:colId xmlns:a16="http://schemas.microsoft.com/office/drawing/2014/main" val="2058051325"/>
                    </a:ext>
                  </a:extLst>
                </a:gridCol>
              </a:tblGrid>
              <a:tr h="553586">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rPr>
                        <a:t>Improper COI management may cause significant reputational damage that in turn may lead to negative impact on our customers, a loss of customers and revenues</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lumMod val="20000"/>
                        <a:lumOff val="80000"/>
                      </a:srgbClr>
                    </a:solidFill>
                  </a:tcPr>
                </a:tc>
                <a:extLst>
                  <a:ext uri="{0D108BD9-81ED-4DB2-BD59-A6C34878D82A}">
                    <a16:rowId xmlns:a16="http://schemas.microsoft.com/office/drawing/2014/main" val="2629120064"/>
                  </a:ext>
                </a:extLst>
              </a:tr>
            </a:tbl>
          </a:graphicData>
        </a:graphic>
      </p:graphicFrame>
    </p:spTree>
    <p:extLst>
      <p:ext uri="{BB962C8B-B14F-4D97-AF65-F5344CB8AC3E}">
        <p14:creationId xmlns:p14="http://schemas.microsoft.com/office/powerpoint/2010/main" val="374625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dirty="0"/>
              <a:t>COI Categories</a:t>
            </a:r>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COI Categories</a:t>
            </a:r>
          </a:p>
        </p:txBody>
      </p:sp>
      <p:sp>
        <p:nvSpPr>
          <p:cNvPr id="10" name="Rectangle: Rounded Corners 9">
            <a:extLst>
              <a:ext uri="{FF2B5EF4-FFF2-40B4-BE49-F238E27FC236}">
                <a16:creationId xmlns:a16="http://schemas.microsoft.com/office/drawing/2014/main" id="{EF804907-1FC1-4FFC-9EA2-CDD75FBC2CC4}"/>
              </a:ext>
            </a:extLst>
          </p:cNvPr>
          <p:cNvSpPr/>
          <p:nvPr/>
        </p:nvSpPr>
        <p:spPr>
          <a:xfrm>
            <a:off x="468186" y="4082113"/>
            <a:ext cx="8332407" cy="599858"/>
          </a:xfrm>
          <a:prstGeom prst="roundRect">
            <a:avLst/>
          </a:prstGeom>
          <a:solidFill>
            <a:srgbClr val="F7E9E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A COI that is inherent to our business activities or corporate structure and requires ongoing management through a range of Group and BU/LBU operational and governance procedures.</a:t>
            </a:r>
          </a:p>
        </p:txBody>
      </p:sp>
      <p:sp>
        <p:nvSpPr>
          <p:cNvPr id="11" name="Rectangle: Rounded Corners 10">
            <a:extLst>
              <a:ext uri="{FF2B5EF4-FFF2-40B4-BE49-F238E27FC236}">
                <a16:creationId xmlns:a16="http://schemas.microsoft.com/office/drawing/2014/main" id="{22DB4990-A4FD-42FA-98A5-2DEF2190733F}"/>
              </a:ext>
            </a:extLst>
          </p:cNvPr>
          <p:cNvSpPr/>
          <p:nvPr/>
        </p:nvSpPr>
        <p:spPr>
          <a:xfrm>
            <a:off x="447666" y="1393805"/>
            <a:ext cx="8332406" cy="766717"/>
          </a:xfrm>
          <a:prstGeom prst="roundRect">
            <a:avLst/>
          </a:prstGeom>
          <a:solidFill>
            <a:srgbClr val="F7E9E9"/>
          </a:solidFill>
          <a:ln w="9525" cap="flat" cmpd="sng" algn="ctr">
            <a:noFill/>
            <a:prstDash val="solid"/>
          </a:ln>
          <a:effectLst>
            <a:outerShdw blurRad="40000" dist="23000" dir="5400000" rotWithShape="0">
              <a:srgbClr val="000000">
                <a:alpha val="35000"/>
              </a:srgbClr>
            </a:outerShdw>
          </a:effectLst>
        </p:spPr>
        <p:txBody>
          <a:bodyPr rtlCol="0" anchor="ctr"/>
          <a:lstStyle/>
          <a:p>
            <a:pPr defTabSz="914400"/>
            <a:r>
              <a:rPr lang="en-US" sz="1200" kern="0" dirty="0">
                <a:solidFill>
                  <a:prstClr val="black"/>
                </a:solidFill>
                <a:latin typeface="Calibri"/>
              </a:rPr>
              <a:t>A COI that arises from the personal circumstances of an employee or contractor due to their outside financial or non-financial interest or personal relationships. Personal conflicts of interest may be subject to additional controls in order to ensure that they do not </a:t>
            </a:r>
            <a:r>
              <a:rPr lang="en-US" sz="1200" kern="0" dirty="0" err="1">
                <a:solidFill>
                  <a:prstClr val="black"/>
                </a:solidFill>
                <a:latin typeface="Calibri"/>
              </a:rPr>
              <a:t>materialise</a:t>
            </a:r>
            <a:r>
              <a:rPr lang="en-US" sz="1200" kern="0" dirty="0">
                <a:solidFill>
                  <a:prstClr val="black"/>
                </a:solidFill>
                <a:latin typeface="Calibri"/>
              </a:rPr>
              <a:t>.</a:t>
            </a:r>
          </a:p>
        </p:txBody>
      </p:sp>
      <p:sp>
        <p:nvSpPr>
          <p:cNvPr id="12" name="Rectangle: Rounded Corners 11">
            <a:extLst>
              <a:ext uri="{FF2B5EF4-FFF2-40B4-BE49-F238E27FC236}">
                <a16:creationId xmlns:a16="http://schemas.microsoft.com/office/drawing/2014/main" id="{EA657D89-EAA3-4B51-91B5-F4B6C15A819F}"/>
              </a:ext>
            </a:extLst>
          </p:cNvPr>
          <p:cNvSpPr/>
          <p:nvPr/>
        </p:nvSpPr>
        <p:spPr>
          <a:xfrm>
            <a:off x="468186" y="2713750"/>
            <a:ext cx="8311885" cy="879790"/>
          </a:xfrm>
          <a:prstGeom prst="roundRect">
            <a:avLst/>
          </a:prstGeom>
          <a:solidFill>
            <a:srgbClr val="F7E9E9"/>
          </a:solidFill>
          <a:ln w="9525" cap="flat" cmpd="sng" algn="ctr">
            <a:noFill/>
            <a:prstDash val="solid"/>
          </a:ln>
          <a:effectLst>
            <a:outerShdw blurRad="40000" dist="23000" dir="5400000" rotWithShape="0">
              <a:srgbClr val="000000">
                <a:alpha val="35000"/>
              </a:srgbClr>
            </a:outerShdw>
          </a:effectLst>
        </p:spPr>
        <p:txBody>
          <a:bodyPr rtlCol="0" anchor="ctr"/>
          <a:lstStyle/>
          <a:p>
            <a:pPr defTabSz="914400"/>
            <a:r>
              <a:rPr lang="en-US" sz="1200" kern="0" dirty="0">
                <a:solidFill>
                  <a:prstClr val="black"/>
                </a:solidFill>
                <a:latin typeface="Calibri"/>
              </a:rPr>
              <a:t>A COI that arises from specific circumstances for example, during a corporate transaction, change to the business model or any activity or decision-making event in course of day-to-day operations. Situational COIs are therefore time limited in nature and require additional controls to be in place for a specified duration to ensure that the COI does not </a:t>
            </a:r>
            <a:r>
              <a:rPr lang="en-US" sz="1200" kern="0" dirty="0" err="1">
                <a:solidFill>
                  <a:prstClr val="black"/>
                </a:solidFill>
                <a:latin typeface="Calibri"/>
              </a:rPr>
              <a:t>materialise</a:t>
            </a:r>
            <a:r>
              <a:rPr lang="en-US" sz="1200" kern="0" dirty="0">
                <a:solidFill>
                  <a:prstClr val="black"/>
                </a:solidFill>
                <a:latin typeface="Calibri"/>
              </a:rPr>
              <a:t>.</a:t>
            </a:r>
          </a:p>
        </p:txBody>
      </p:sp>
      <p:sp>
        <p:nvSpPr>
          <p:cNvPr id="13" name="Rectangle: Rounded Corners 12">
            <a:extLst>
              <a:ext uri="{FF2B5EF4-FFF2-40B4-BE49-F238E27FC236}">
                <a16:creationId xmlns:a16="http://schemas.microsoft.com/office/drawing/2014/main" id="{D5B41A24-7E8C-4861-9910-881E932630D8}"/>
              </a:ext>
            </a:extLst>
          </p:cNvPr>
          <p:cNvSpPr/>
          <p:nvPr/>
        </p:nvSpPr>
        <p:spPr>
          <a:xfrm>
            <a:off x="216598" y="3692342"/>
            <a:ext cx="1742360" cy="492055"/>
          </a:xfrm>
          <a:prstGeom prst="roundRect">
            <a:avLst/>
          </a:prstGeom>
          <a:solidFill>
            <a:srgbClr val="FBD1D5"/>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87379"/>
                </a:solidFill>
                <a:effectLst/>
                <a:uLnTx/>
                <a:uFillTx/>
                <a:latin typeface="Calibri"/>
                <a:ea typeface="+mn-ea"/>
                <a:cs typeface="+mn-cs"/>
              </a:rPr>
              <a:t>Structural</a:t>
            </a:r>
          </a:p>
        </p:txBody>
      </p:sp>
      <p:sp>
        <p:nvSpPr>
          <p:cNvPr id="14" name="Rectangle: Rounded Corners 13">
            <a:extLst>
              <a:ext uri="{FF2B5EF4-FFF2-40B4-BE49-F238E27FC236}">
                <a16:creationId xmlns:a16="http://schemas.microsoft.com/office/drawing/2014/main" id="{288B7F8D-07DB-4730-A2A5-81B34CDFC360}"/>
              </a:ext>
            </a:extLst>
          </p:cNvPr>
          <p:cNvSpPr/>
          <p:nvPr/>
        </p:nvSpPr>
        <p:spPr>
          <a:xfrm>
            <a:off x="216598" y="986523"/>
            <a:ext cx="1742360" cy="492055"/>
          </a:xfrm>
          <a:prstGeom prst="roundRect">
            <a:avLst/>
          </a:prstGeom>
          <a:solidFill>
            <a:srgbClr val="FBD1D5"/>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87379"/>
                </a:solidFill>
                <a:effectLst/>
                <a:uLnTx/>
                <a:uFillTx/>
                <a:latin typeface="Calibri"/>
                <a:ea typeface="+mn-ea"/>
                <a:cs typeface="+mn-cs"/>
              </a:rPr>
              <a:t>Personal</a:t>
            </a:r>
          </a:p>
        </p:txBody>
      </p:sp>
      <p:sp>
        <p:nvSpPr>
          <p:cNvPr id="15" name="Rectangle: Rounded Corners 14">
            <a:extLst>
              <a:ext uri="{FF2B5EF4-FFF2-40B4-BE49-F238E27FC236}">
                <a16:creationId xmlns:a16="http://schemas.microsoft.com/office/drawing/2014/main" id="{92C86524-6C82-4623-8C0A-5E2FECFDCDD2}"/>
              </a:ext>
            </a:extLst>
          </p:cNvPr>
          <p:cNvSpPr/>
          <p:nvPr/>
        </p:nvSpPr>
        <p:spPr>
          <a:xfrm>
            <a:off x="216598" y="2298637"/>
            <a:ext cx="1742360" cy="490511"/>
          </a:xfrm>
          <a:prstGeom prst="roundRect">
            <a:avLst/>
          </a:prstGeom>
          <a:solidFill>
            <a:srgbClr val="FBD1D5"/>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87379"/>
                </a:solidFill>
                <a:effectLst/>
                <a:uLnTx/>
                <a:uFillTx/>
                <a:latin typeface="Calibri"/>
                <a:ea typeface="+mn-ea"/>
                <a:cs typeface="+mn-cs"/>
              </a:rPr>
              <a:t>Situational</a:t>
            </a:r>
          </a:p>
        </p:txBody>
      </p:sp>
    </p:spTree>
    <p:extLst>
      <p:ext uri="{BB962C8B-B14F-4D97-AF65-F5344CB8AC3E}">
        <p14:creationId xmlns:p14="http://schemas.microsoft.com/office/powerpoint/2010/main" val="1808243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dirty="0"/>
              <a:t>COI Categories – Personal and Situational</a:t>
            </a:r>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COI Categories</a:t>
            </a:r>
          </a:p>
        </p:txBody>
      </p:sp>
      <p:sp>
        <p:nvSpPr>
          <p:cNvPr id="12" name="Rectangle 11">
            <a:extLst>
              <a:ext uri="{FF2B5EF4-FFF2-40B4-BE49-F238E27FC236}">
                <a16:creationId xmlns:a16="http://schemas.microsoft.com/office/drawing/2014/main" id="{572DAE70-F5DE-4989-9CF9-DFF138DC35DD}"/>
              </a:ext>
            </a:extLst>
          </p:cNvPr>
          <p:cNvSpPr/>
          <p:nvPr/>
        </p:nvSpPr>
        <p:spPr>
          <a:xfrm>
            <a:off x="287524" y="1117574"/>
            <a:ext cx="8568951" cy="704399"/>
          </a:xfrm>
          <a:prstGeom prst="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Holding an outside interest such as an External Directorship, Substantial Shareholding (more than 5%), ownership, partnership, </a:t>
            </a:r>
            <a:r>
              <a:rPr lang="en-US" sz="1000" kern="0" dirty="0">
                <a:solidFill>
                  <a:prstClr val="black"/>
                </a:solidFill>
                <a:latin typeface="Calibri"/>
              </a:rPr>
              <a:t>or sole proprietorship</a:t>
            </a:r>
            <a:endParaRPr kumimoji="0" lang="en-US" sz="100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Having an external second job (either full-time or part-time)</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Having relatives currently employed or contracted within the Prudential Group</a:t>
            </a:r>
          </a:p>
        </p:txBody>
      </p:sp>
      <p:sp>
        <p:nvSpPr>
          <p:cNvPr id="13" name="Rectangle: Rounded Corners 12">
            <a:extLst>
              <a:ext uri="{FF2B5EF4-FFF2-40B4-BE49-F238E27FC236}">
                <a16:creationId xmlns:a16="http://schemas.microsoft.com/office/drawing/2014/main" id="{23ED1A49-C1C9-43B6-A5E1-71BC7C87D94B}"/>
              </a:ext>
            </a:extLst>
          </p:cNvPr>
          <p:cNvSpPr/>
          <p:nvPr/>
        </p:nvSpPr>
        <p:spPr>
          <a:xfrm>
            <a:off x="2553264" y="961654"/>
            <a:ext cx="3983505" cy="200996"/>
          </a:xfrm>
          <a:prstGeom prst="roundRect">
            <a:avLst/>
          </a:prstGeom>
          <a:solidFill>
            <a:srgbClr val="FF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mn-cs"/>
              </a:rPr>
              <a:t>Personal  Examples</a:t>
            </a:r>
          </a:p>
        </p:txBody>
      </p:sp>
      <p:sp>
        <p:nvSpPr>
          <p:cNvPr id="16" name="Rectangle 15">
            <a:extLst>
              <a:ext uri="{FF2B5EF4-FFF2-40B4-BE49-F238E27FC236}">
                <a16:creationId xmlns:a16="http://schemas.microsoft.com/office/drawing/2014/main" id="{C1EEAA9D-098D-451C-8697-97CF138B554D}"/>
              </a:ext>
            </a:extLst>
          </p:cNvPr>
          <p:cNvSpPr/>
          <p:nvPr/>
        </p:nvSpPr>
        <p:spPr>
          <a:xfrm>
            <a:off x="287524" y="2149475"/>
            <a:ext cx="8568951" cy="2641436"/>
          </a:xfrm>
          <a:prstGeom prst="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Relating to individuals:</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Getting involved in evaluating or approving a supplier, including an outsourced service provider / a business partner / an investment target </a:t>
            </a:r>
            <a:r>
              <a:rPr lang="en-US" sz="1000" kern="0" dirty="0">
                <a:solidFill>
                  <a:prstClr val="black"/>
                </a:solidFill>
                <a:latin typeface="Calibri"/>
              </a:rPr>
              <a:t>with</a:t>
            </a:r>
            <a:r>
              <a:rPr kumimoji="0" lang="en-US" sz="1000" b="0" i="0" u="none" strike="noStrike" kern="0" cap="none" spc="0" normalizeH="0" baseline="0" noProof="0" dirty="0">
                <a:ln>
                  <a:noFill/>
                </a:ln>
                <a:solidFill>
                  <a:prstClr val="black"/>
                </a:solidFill>
                <a:effectLst/>
                <a:uLnTx/>
                <a:uFillTx/>
                <a:latin typeface="Calibri"/>
                <a:ea typeface="+mn-ea"/>
                <a:cs typeface="+mn-cs"/>
              </a:rPr>
              <a:t> which the employee, or his/her relative or close friend(s), have a personal interest.</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Being asked to interview a family member or close friend for a position (including contractor or intern) in Prudential.</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Investigating or determining the disciplinary action of an employee or sales agent who is a family member or close friend.</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Being assigned to audit / review / asses the performance of an area, where the employee’s relative or close friend </a:t>
            </a:r>
            <a:r>
              <a:rPr lang="en-US" sz="1000" kern="0" dirty="0">
                <a:solidFill>
                  <a:prstClr val="black"/>
                </a:solidFill>
                <a:latin typeface="Calibri"/>
              </a:rPr>
              <a:t>is </a:t>
            </a:r>
            <a:r>
              <a:rPr kumimoji="0" lang="en-US" sz="1000" b="0" i="0" u="none" strike="noStrike" kern="0" cap="none" spc="0" normalizeH="0" baseline="0" noProof="0" dirty="0">
                <a:ln>
                  <a:noFill/>
                </a:ln>
                <a:solidFill>
                  <a:prstClr val="black"/>
                </a:solidFill>
                <a:effectLst/>
                <a:uLnTx/>
                <a:uFillTx/>
                <a:latin typeface="Calibri"/>
                <a:ea typeface="+mn-ea"/>
                <a:cs typeface="+mn-cs"/>
              </a:rPr>
              <a:t>working.</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Underwriting an insurance proposal or assessing an insurance claim of a family member or close friend.</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lang="en-US" sz="1000" kern="0" dirty="0">
                <a:solidFill>
                  <a:prstClr val="black"/>
                </a:solidFill>
                <a:latin typeface="Calibri"/>
              </a:rPr>
              <a:t>D</a:t>
            </a:r>
            <a:r>
              <a:rPr kumimoji="0" lang="en-US" sz="1000" b="0" i="0" u="none" strike="noStrike" kern="0" cap="none" spc="0" normalizeH="0" baseline="0" noProof="0" dirty="0" err="1">
                <a:ln>
                  <a:noFill/>
                </a:ln>
                <a:solidFill>
                  <a:prstClr val="black"/>
                </a:solidFill>
                <a:effectLst/>
                <a:uLnTx/>
                <a:uFillTx/>
                <a:latin typeface="Calibri"/>
                <a:ea typeface="+mn-ea"/>
                <a:cs typeface="+mn-cs"/>
              </a:rPr>
              <a:t>ealing</a:t>
            </a:r>
            <a:r>
              <a:rPr kumimoji="0" lang="en-US" sz="1000" b="0" i="0" u="none" strike="noStrike" kern="0" cap="none" spc="0" normalizeH="0" baseline="0" noProof="0" dirty="0">
                <a:ln>
                  <a:noFill/>
                </a:ln>
                <a:solidFill>
                  <a:prstClr val="black"/>
                </a:solidFill>
                <a:effectLst/>
                <a:uLnTx/>
                <a:uFillTx/>
                <a:latin typeface="Calibri"/>
                <a:ea typeface="+mn-ea"/>
                <a:cs typeface="+mn-cs"/>
              </a:rPr>
              <a:t> </a:t>
            </a:r>
            <a:r>
              <a:rPr lang="en-US" sz="1000" kern="0" dirty="0">
                <a:solidFill>
                  <a:prstClr val="black"/>
                </a:solidFill>
                <a:latin typeface="Calibri"/>
              </a:rPr>
              <a:t>in </a:t>
            </a:r>
            <a:r>
              <a:rPr kumimoji="0" lang="en-US" sz="1000" b="0" i="0" u="none" strike="noStrike" kern="0" cap="none" spc="0" normalizeH="0" baseline="0" noProof="0" dirty="0">
                <a:ln>
                  <a:noFill/>
                </a:ln>
                <a:solidFill>
                  <a:prstClr val="black"/>
                </a:solidFill>
                <a:effectLst/>
                <a:uLnTx/>
                <a:uFillTx/>
                <a:latin typeface="Calibri"/>
                <a:ea typeface="+mn-ea"/>
                <a:cs typeface="+mn-cs"/>
              </a:rPr>
              <a:t>securities on personal account with knowledge obtained on the job (e.g. knowledge of Prudential’s plan to trade a certain investment or stock).</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endParaRPr kumimoji="0" lang="en-US" sz="100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Relating to a company-level transaction / business model change:</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Arranging outsourcing to an affiliate </a:t>
            </a:r>
            <a:r>
              <a:rPr lang="en-US" sz="1000" kern="0" dirty="0">
                <a:solidFill>
                  <a:prstClr val="black"/>
                </a:solidFill>
                <a:latin typeface="Calibri"/>
              </a:rPr>
              <a:t>which benefits </a:t>
            </a:r>
            <a:r>
              <a:rPr kumimoji="0" lang="en-US" sz="1000" b="0" i="0" u="none" strike="noStrike" kern="0" cap="none" spc="0" normalizeH="0" baseline="0" noProof="0" dirty="0">
                <a:ln>
                  <a:noFill/>
                </a:ln>
                <a:solidFill>
                  <a:prstClr val="black"/>
                </a:solidFill>
                <a:effectLst/>
                <a:uLnTx/>
                <a:uFillTx/>
                <a:latin typeface="Calibri"/>
                <a:ea typeface="+mn-ea"/>
                <a:cs typeface="+mn-cs"/>
              </a:rPr>
              <a:t>Prudential Group </a:t>
            </a:r>
            <a:r>
              <a:rPr lang="en-US" sz="1000" kern="0" dirty="0">
                <a:solidFill>
                  <a:prstClr val="black"/>
                </a:solidFill>
                <a:latin typeface="Calibri"/>
              </a:rPr>
              <a:t>but which might not offer better service than a service provider on the market, leading to negative outcomes / higher costs to our customers.</a:t>
            </a:r>
            <a:endParaRPr kumimoji="0" lang="en-US" sz="1000" b="0" i="0" u="none" strike="noStrike" kern="0" cap="none" spc="0" normalizeH="0" baseline="0" noProof="0" dirty="0">
              <a:ln>
                <a:noFill/>
              </a:ln>
              <a:solidFill>
                <a:prstClr val="black"/>
              </a:solidFill>
              <a:effectLst/>
              <a:uLnTx/>
              <a:uFillTx/>
              <a:latin typeface="Calibri"/>
              <a:ea typeface="+mn-ea"/>
              <a:cs typeface="+mn-cs"/>
            </a:endParaRP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000" b="0" i="0" u="none" strike="noStrike" kern="0" cap="none" spc="0" normalizeH="0" baseline="0" noProof="0" dirty="0">
                <a:ln>
                  <a:noFill/>
                </a:ln>
                <a:solidFill>
                  <a:prstClr val="black"/>
                </a:solidFill>
                <a:effectLst/>
                <a:uLnTx/>
                <a:uFillTx/>
                <a:latin typeface="Calibri"/>
                <a:ea typeface="+mn-ea"/>
                <a:cs typeface="+mn-cs"/>
              </a:rPr>
              <a:t>Investing customers’ money in Prudential shares or in assets in which Prudential has existing investments, which may call into question whether the decision to invest is in the best interest of customers.</a:t>
            </a:r>
          </a:p>
        </p:txBody>
      </p:sp>
      <p:sp>
        <p:nvSpPr>
          <p:cNvPr id="17" name="Rectangle: Rounded Corners 16">
            <a:extLst>
              <a:ext uri="{FF2B5EF4-FFF2-40B4-BE49-F238E27FC236}">
                <a16:creationId xmlns:a16="http://schemas.microsoft.com/office/drawing/2014/main" id="{9328E82C-C9C3-4017-B80B-5F3717B41645}"/>
              </a:ext>
            </a:extLst>
          </p:cNvPr>
          <p:cNvSpPr/>
          <p:nvPr/>
        </p:nvSpPr>
        <p:spPr>
          <a:xfrm>
            <a:off x="2553263" y="2037536"/>
            <a:ext cx="3983505" cy="223878"/>
          </a:xfrm>
          <a:prstGeom prst="roundRect">
            <a:avLst/>
          </a:prstGeom>
          <a:solidFill>
            <a:srgbClr val="FF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mn-cs"/>
              </a:rPr>
              <a:t>Situational  Examples</a:t>
            </a:r>
          </a:p>
        </p:txBody>
      </p:sp>
    </p:spTree>
    <p:extLst>
      <p:ext uri="{BB962C8B-B14F-4D97-AF65-F5344CB8AC3E}">
        <p14:creationId xmlns:p14="http://schemas.microsoft.com/office/powerpoint/2010/main" val="3412782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a:xfrm>
            <a:off x="685800" y="421986"/>
            <a:ext cx="7200026" cy="296662"/>
          </a:xfrm>
        </p:spPr>
        <p:txBody>
          <a:bodyPr/>
          <a:lstStyle/>
          <a:p>
            <a:r>
              <a:rPr lang="en-US" dirty="0"/>
              <a:t>COI Categories - Structural</a:t>
            </a:r>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COI Categories</a:t>
            </a:r>
          </a:p>
        </p:txBody>
      </p:sp>
      <p:sp>
        <p:nvSpPr>
          <p:cNvPr id="6" name="Rectangle 5">
            <a:extLst>
              <a:ext uri="{FF2B5EF4-FFF2-40B4-BE49-F238E27FC236}">
                <a16:creationId xmlns:a16="http://schemas.microsoft.com/office/drawing/2014/main" id="{FBF7929E-383B-4FDF-BFE9-C7ED0CEE70C2}"/>
              </a:ext>
            </a:extLst>
          </p:cNvPr>
          <p:cNvSpPr/>
          <p:nvPr/>
        </p:nvSpPr>
        <p:spPr>
          <a:xfrm>
            <a:off x="179512" y="1150044"/>
            <a:ext cx="8784976" cy="3632972"/>
          </a:xfrm>
          <a:prstGeom prst="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Intra-group COIs: e.g. having affiliates as outsourced service providers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5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Distribution remuneration structures or inducements that may result in products or services not being sold in the best interests of customers.</a:t>
            </a:r>
          </a:p>
          <a:p>
            <a:pPr marR="0" lvl="0" defTabSz="914400" eaLnBrk="1" fontAlgn="auto" latinLnBrk="0" hangingPunct="1">
              <a:lnSpc>
                <a:spcPct val="100000"/>
              </a:lnSpc>
              <a:spcBef>
                <a:spcPts val="0"/>
              </a:spcBef>
              <a:spcAft>
                <a:spcPts val="0"/>
              </a:spcAft>
              <a:buClrTx/>
              <a:buSzTx/>
              <a:tabLst/>
              <a:defRPr/>
            </a:pPr>
            <a:endParaRPr lang="en-US" sz="950" kern="0" dirty="0">
              <a:solidFill>
                <a:prstClr val="black"/>
              </a:solidFill>
              <a:latin typeface="Calibri"/>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An employee or a contractor has dual roles within the same company or across the Group, which may be perceived to impact his / her independence in discharging his / her duties due to the perceived conflict between these two roles.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5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For insurance business:</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lang="en-US" sz="950" kern="0" dirty="0">
                <a:solidFill>
                  <a:prstClr val="black"/>
                </a:solidFill>
                <a:latin typeface="Calibri"/>
              </a:rPr>
              <a:t>Agency Leaders</a:t>
            </a:r>
            <a:r>
              <a:rPr kumimoji="0" lang="en-US" sz="950" b="0" i="0" u="none" strike="noStrike" kern="0" cap="none" spc="0" normalizeH="0" baseline="0" noProof="0" dirty="0">
                <a:ln>
                  <a:noFill/>
                </a:ln>
                <a:solidFill>
                  <a:prstClr val="black"/>
                </a:solidFill>
                <a:effectLst/>
                <a:uLnTx/>
                <a:uFillTx/>
                <a:latin typeface="Calibri"/>
                <a:ea typeface="+mn-ea"/>
                <a:cs typeface="+mn-cs"/>
              </a:rPr>
              <a:t> responsible for scoring agents’ test papers but having passing rate as a key performance indicator for themselves, leading to an incentive to score their own agents’ test</a:t>
            </a:r>
            <a:r>
              <a:rPr lang="en-US" sz="950" kern="0" dirty="0">
                <a:solidFill>
                  <a:prstClr val="black"/>
                </a:solidFill>
                <a:latin typeface="Calibri"/>
              </a:rPr>
              <a:t> papers higher</a:t>
            </a:r>
            <a:r>
              <a:rPr kumimoji="0" lang="en-US" sz="950" b="0" i="0" u="none" strike="noStrike" kern="0" cap="none" spc="0" normalizeH="0" baseline="0" noProof="0" dirty="0">
                <a:ln>
                  <a:noFill/>
                </a:ln>
                <a:solidFill>
                  <a:prstClr val="black"/>
                </a:solidFill>
                <a:effectLst/>
                <a:uLnTx/>
                <a:uFillTx/>
                <a:latin typeface="Calibri"/>
                <a:ea typeface="+mn-ea"/>
                <a:cs typeface="+mn-cs"/>
              </a:rPr>
              <a:t>.</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Conflicts between shareholders and policyholders or different cohorts of policyholders, arising from determining bonus / dividends for participating products or products with bonus features.</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Conflicts that may arise during underwriting caused by allowing:</a:t>
            </a:r>
          </a:p>
          <a:p>
            <a:pPr marL="1257300" marR="0" lvl="2" indent="-342900" defTabSz="914400" eaLnBrk="1" fontAlgn="auto" latinLnBrk="0" hangingPunct="1">
              <a:lnSpc>
                <a:spcPct val="100000"/>
              </a:lnSpc>
              <a:spcBef>
                <a:spcPts val="0"/>
              </a:spcBef>
              <a:spcAft>
                <a:spcPts val="0"/>
              </a:spcAft>
              <a:buClrTx/>
              <a:buSzTx/>
              <a:buFont typeface="+mj-lt"/>
              <a:buAutoNum type="alphaLcPeriod"/>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Underwritten cases to be quality checked by underwriters' subordinates.</a:t>
            </a:r>
          </a:p>
          <a:p>
            <a:pPr marL="1257300" marR="0" lvl="2" indent="-342900" defTabSz="914400" eaLnBrk="1" fontAlgn="auto" latinLnBrk="0" hangingPunct="1">
              <a:lnSpc>
                <a:spcPct val="100000"/>
              </a:lnSpc>
              <a:spcBef>
                <a:spcPts val="0"/>
              </a:spcBef>
              <a:spcAft>
                <a:spcPts val="0"/>
              </a:spcAft>
              <a:buClrTx/>
              <a:buSzTx/>
              <a:buFont typeface="+mj-lt"/>
              <a:buAutoNum type="alphaLcPeriod"/>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Underwriting teams to set jet-underwriting criteria (i.e., to assess and quickly advance clean applications) without appropriate review and governance process.</a:t>
            </a:r>
          </a:p>
          <a:p>
            <a:pPr marL="1257300" marR="0" lvl="2" indent="-342900" defTabSz="914400" eaLnBrk="1" fontAlgn="auto" latinLnBrk="0" hangingPunct="1">
              <a:lnSpc>
                <a:spcPct val="100000"/>
              </a:lnSpc>
              <a:spcBef>
                <a:spcPts val="0"/>
              </a:spcBef>
              <a:spcAft>
                <a:spcPts val="0"/>
              </a:spcAft>
              <a:buClrTx/>
              <a:buSzTx/>
              <a:buFont typeface="+mj-lt"/>
              <a:buAutoNum type="alphaLcPeriod"/>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Underwriters to choose their own cases </a:t>
            </a:r>
            <a:r>
              <a:rPr lang="en-US" sz="950" kern="0" dirty="0">
                <a:solidFill>
                  <a:prstClr val="black"/>
                </a:solidFill>
                <a:latin typeface="Calibri"/>
              </a:rPr>
              <a:t>to handle, leading to them potentially reviewing cases of their relatives, friends or their own insurance application.</a:t>
            </a:r>
          </a:p>
          <a:p>
            <a:pPr marL="1257300" marR="0" lvl="2" indent="-342900" defTabSz="914400" eaLnBrk="1" fontAlgn="auto" latinLnBrk="0" hangingPunct="1">
              <a:lnSpc>
                <a:spcPct val="100000"/>
              </a:lnSpc>
              <a:spcBef>
                <a:spcPts val="0"/>
              </a:spcBef>
              <a:spcAft>
                <a:spcPts val="0"/>
              </a:spcAft>
              <a:buClrTx/>
              <a:buSzTx/>
              <a:buFont typeface="+mj-lt"/>
              <a:buAutoNum type="alphaLcPeriod"/>
              <a:tabLst/>
              <a:defRPr/>
            </a:pPr>
            <a:endParaRPr kumimoji="0" lang="en-US" sz="950" b="0" i="0" u="none" strike="noStrike" kern="0" cap="none" spc="0" normalizeH="0" baseline="0" noProof="0" dirty="0">
              <a:ln>
                <a:noFill/>
              </a:ln>
              <a:solidFill>
                <a:prstClr val="black"/>
              </a:solidFill>
              <a:effectLst/>
              <a:uLnTx/>
              <a:uFillTx/>
              <a:latin typeface="Calibri"/>
              <a:ea typeface="+mn-ea"/>
              <a:cs typeface="+mn-cs"/>
            </a:endParaRP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For Fund management businesses, conflicts may arise from allowing the fund managers to;</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Allocate trades among customers or funds.</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Determine the pricing of unlisted securities, considering that it is in the interest of the fund manager to provide a higher valuation to show better the investment performance.</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b="0" i="0" u="none" strike="noStrike" kern="0" cap="none" spc="0" normalizeH="0" baseline="0" noProof="0" dirty="0">
                <a:ln>
                  <a:noFill/>
                </a:ln>
                <a:solidFill>
                  <a:prstClr val="black"/>
                </a:solidFill>
                <a:effectLst/>
                <a:uLnTx/>
                <a:uFillTx/>
                <a:latin typeface="Calibri"/>
                <a:ea typeface="+mn-ea"/>
                <a:cs typeface="+mn-cs"/>
              </a:rPr>
              <a:t>Assign credit rating without independent review.</a:t>
            </a:r>
          </a:p>
        </p:txBody>
      </p:sp>
      <p:sp>
        <p:nvSpPr>
          <p:cNvPr id="7" name="Rectangle: Rounded Corners 6">
            <a:extLst>
              <a:ext uri="{FF2B5EF4-FFF2-40B4-BE49-F238E27FC236}">
                <a16:creationId xmlns:a16="http://schemas.microsoft.com/office/drawing/2014/main" id="{D62B46AD-FFB3-4AFC-AD1A-01E20889E154}"/>
              </a:ext>
            </a:extLst>
          </p:cNvPr>
          <p:cNvSpPr/>
          <p:nvPr/>
        </p:nvSpPr>
        <p:spPr>
          <a:xfrm>
            <a:off x="2580247" y="786015"/>
            <a:ext cx="3983505" cy="296661"/>
          </a:xfrm>
          <a:prstGeom prst="roundRect">
            <a:avLst/>
          </a:prstGeom>
          <a:solidFill>
            <a:srgbClr val="FF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mn-cs"/>
              </a:rPr>
              <a:t>Structural  Examples</a:t>
            </a:r>
          </a:p>
        </p:txBody>
      </p:sp>
    </p:spTree>
    <p:extLst>
      <p:ext uri="{BB962C8B-B14F-4D97-AF65-F5344CB8AC3E}">
        <p14:creationId xmlns:p14="http://schemas.microsoft.com/office/powerpoint/2010/main" val="4264161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COI Impacting Individual Employees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graphicFrame>
        <p:nvGraphicFramePr>
          <p:cNvPr id="5" name="Diagram 4">
            <a:extLst>
              <a:ext uri="{FF2B5EF4-FFF2-40B4-BE49-F238E27FC236}">
                <a16:creationId xmlns:a16="http://schemas.microsoft.com/office/drawing/2014/main" id="{CDB7AEA4-F9BF-4424-A75B-E563A02E53A3}"/>
              </a:ext>
            </a:extLst>
          </p:cNvPr>
          <p:cNvGraphicFramePr/>
          <p:nvPr>
            <p:extLst>
              <p:ext uri="{D42A27DB-BD31-4B8C-83A1-F6EECF244321}">
                <p14:modId xmlns:p14="http://schemas.microsoft.com/office/powerpoint/2010/main" val="3476128266"/>
              </p:ext>
            </p:extLst>
          </p:nvPr>
        </p:nvGraphicFramePr>
        <p:xfrm>
          <a:off x="770849" y="1052736"/>
          <a:ext cx="7881831" cy="36292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7795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COI Impacting Individual Employees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graphicFrame>
        <p:nvGraphicFramePr>
          <p:cNvPr id="8" name="Diagram 7">
            <a:extLst>
              <a:ext uri="{FF2B5EF4-FFF2-40B4-BE49-F238E27FC236}">
                <a16:creationId xmlns:a16="http://schemas.microsoft.com/office/drawing/2014/main" id="{4CD21B76-8475-4236-BC5A-38F8301046E8}"/>
              </a:ext>
            </a:extLst>
          </p:cNvPr>
          <p:cNvGraphicFramePr/>
          <p:nvPr>
            <p:extLst>
              <p:ext uri="{D42A27DB-BD31-4B8C-83A1-F6EECF244321}">
                <p14:modId xmlns:p14="http://schemas.microsoft.com/office/powerpoint/2010/main" val="35802703"/>
              </p:ext>
            </p:extLst>
          </p:nvPr>
        </p:nvGraphicFramePr>
        <p:xfrm>
          <a:off x="685800" y="908824"/>
          <a:ext cx="7404825" cy="2853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0C8538BF-2652-4F69-B177-A589118259BB}"/>
              </a:ext>
            </a:extLst>
          </p:cNvPr>
          <p:cNvSpPr/>
          <p:nvPr/>
        </p:nvSpPr>
        <p:spPr>
          <a:xfrm>
            <a:off x="813435" y="3768710"/>
            <a:ext cx="6944756" cy="986790"/>
          </a:xfrm>
          <a:prstGeom prst="rect">
            <a:avLst/>
          </a:prstGeom>
          <a:solidFill>
            <a:srgbClr val="EC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HK" sz="1200" b="1" dirty="0">
                <a:solidFill>
                  <a:schemeClr val="bg1"/>
                </a:solidFill>
              </a:rPr>
              <a:t>ALWAYS</a:t>
            </a:r>
          </a:p>
          <a:p>
            <a:pPr algn="ctr"/>
            <a:endParaRPr lang="en-HK" sz="1200" b="1" dirty="0">
              <a:solidFill>
                <a:schemeClr val="bg1"/>
              </a:solidFill>
            </a:endParaRPr>
          </a:p>
          <a:p>
            <a:pPr algn="ctr"/>
            <a:r>
              <a:rPr lang="en-HK" sz="1200" b="1" dirty="0">
                <a:solidFill>
                  <a:schemeClr val="bg1"/>
                </a:solidFill>
              </a:rPr>
              <a:t>Get approval from the company before taking on an external second job or directorship as specified in your employment contract relevant COI or HR manuals, policies and declaration forms.</a:t>
            </a:r>
          </a:p>
        </p:txBody>
      </p:sp>
    </p:spTree>
    <p:extLst>
      <p:ext uri="{BB962C8B-B14F-4D97-AF65-F5344CB8AC3E}">
        <p14:creationId xmlns:p14="http://schemas.microsoft.com/office/powerpoint/2010/main" val="167092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Your Role &amp; Responsibilities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12" name="Rectangle: Rounded Corners 11">
            <a:extLst>
              <a:ext uri="{FF2B5EF4-FFF2-40B4-BE49-F238E27FC236}">
                <a16:creationId xmlns:a16="http://schemas.microsoft.com/office/drawing/2014/main" id="{F45004F7-735C-4ED0-B5EA-4C6925ECFF39}"/>
              </a:ext>
            </a:extLst>
          </p:cNvPr>
          <p:cNvSpPr/>
          <p:nvPr/>
        </p:nvSpPr>
        <p:spPr>
          <a:xfrm>
            <a:off x="685801" y="1478884"/>
            <a:ext cx="7627758" cy="353220"/>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Would I benefit (or be perceived to benefit) from this course of action? This includes anyone associated with me and includes benefits that are obtained passively/unexpectedly</a:t>
            </a:r>
          </a:p>
        </p:txBody>
      </p:sp>
      <p:sp>
        <p:nvSpPr>
          <p:cNvPr id="13" name="Rectangle: Rounded Corners 12">
            <a:extLst>
              <a:ext uri="{FF2B5EF4-FFF2-40B4-BE49-F238E27FC236}">
                <a16:creationId xmlns:a16="http://schemas.microsoft.com/office/drawing/2014/main" id="{2DD8A52F-E040-4C6F-ACA5-D19F9CD6BB64}"/>
              </a:ext>
            </a:extLst>
          </p:cNvPr>
          <p:cNvSpPr/>
          <p:nvPr/>
        </p:nvSpPr>
        <p:spPr>
          <a:xfrm>
            <a:off x="685801" y="1939572"/>
            <a:ext cx="7627757" cy="312548"/>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Do I have an existing (or former) close relationship with any of the parties concerned?</a:t>
            </a:r>
          </a:p>
        </p:txBody>
      </p:sp>
      <p:sp>
        <p:nvSpPr>
          <p:cNvPr id="14" name="Rectangle: Rounded Corners 13">
            <a:extLst>
              <a:ext uri="{FF2B5EF4-FFF2-40B4-BE49-F238E27FC236}">
                <a16:creationId xmlns:a16="http://schemas.microsoft.com/office/drawing/2014/main" id="{21338523-DA20-49CB-A1D4-9AAE81BFBED6}"/>
              </a:ext>
            </a:extLst>
          </p:cNvPr>
          <p:cNvSpPr/>
          <p:nvPr/>
        </p:nvSpPr>
        <p:spPr>
          <a:xfrm>
            <a:off x="685800" y="2359588"/>
            <a:ext cx="7627757" cy="354217"/>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Would my reputation (or that of someone associated with me) be damaged because of this proposed course of action?</a:t>
            </a:r>
          </a:p>
        </p:txBody>
      </p:sp>
      <p:sp>
        <p:nvSpPr>
          <p:cNvPr id="15" name="Rectangle: Rounded Corners 14">
            <a:extLst>
              <a:ext uri="{FF2B5EF4-FFF2-40B4-BE49-F238E27FC236}">
                <a16:creationId xmlns:a16="http://schemas.microsoft.com/office/drawing/2014/main" id="{90A8E77A-BC9B-4160-AC48-BF34E89F7548}"/>
              </a:ext>
            </a:extLst>
          </p:cNvPr>
          <p:cNvSpPr/>
          <p:nvPr/>
        </p:nvSpPr>
        <p:spPr>
          <a:xfrm>
            <a:off x="685801" y="2821273"/>
            <a:ext cx="7627756" cy="384521"/>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Do I hold any personal or professional views or biases that may lead others to conclude that I am not an appropriate person to be involved in this proposed course of action? </a:t>
            </a:r>
          </a:p>
        </p:txBody>
      </p:sp>
      <p:sp>
        <p:nvSpPr>
          <p:cNvPr id="16" name="Rectangle: Rounded Corners 15">
            <a:extLst>
              <a:ext uri="{FF2B5EF4-FFF2-40B4-BE49-F238E27FC236}">
                <a16:creationId xmlns:a16="http://schemas.microsoft.com/office/drawing/2014/main" id="{4F2380AB-E271-41A9-BA38-33431DC3CDEC}"/>
              </a:ext>
            </a:extLst>
          </p:cNvPr>
          <p:cNvSpPr/>
          <p:nvPr/>
        </p:nvSpPr>
        <p:spPr>
          <a:xfrm>
            <a:off x="685801" y="3313262"/>
            <a:ext cx="7627756" cy="395959"/>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Have I received any gifts or hospitality from someone who may gain or be perceived to gain benefits from this proposed course of action?</a:t>
            </a:r>
          </a:p>
        </p:txBody>
      </p:sp>
      <p:sp>
        <p:nvSpPr>
          <p:cNvPr id="17" name="Rectangle: Rounded Corners 16">
            <a:extLst>
              <a:ext uri="{FF2B5EF4-FFF2-40B4-BE49-F238E27FC236}">
                <a16:creationId xmlns:a16="http://schemas.microsoft.com/office/drawing/2014/main" id="{5DC1EE19-F136-4392-8422-FC974E18962B}"/>
              </a:ext>
            </a:extLst>
          </p:cNvPr>
          <p:cNvSpPr/>
          <p:nvPr/>
        </p:nvSpPr>
        <p:spPr>
          <a:xfrm>
            <a:off x="685801" y="1063604"/>
            <a:ext cx="7627758" cy="307812"/>
          </a:xfrm>
          <a:prstGeom prst="roundRect">
            <a:avLst/>
          </a:prstGeom>
          <a:solidFill>
            <a:srgbClr val="FF0000"/>
          </a:soli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Calibri"/>
                <a:ea typeface="+mn-ea"/>
                <a:cs typeface="+mn-cs"/>
              </a:rPr>
              <a:t>In order to be able to adequately identify COI risks, in relation to the proposed course of action, ask yourself:</a:t>
            </a:r>
          </a:p>
        </p:txBody>
      </p:sp>
      <p:sp>
        <p:nvSpPr>
          <p:cNvPr id="18" name="Rectangle: Rounded Corners 17">
            <a:extLst>
              <a:ext uri="{FF2B5EF4-FFF2-40B4-BE49-F238E27FC236}">
                <a16:creationId xmlns:a16="http://schemas.microsoft.com/office/drawing/2014/main" id="{5CF94EE8-D483-4015-90B5-5A85F4C2712A}"/>
              </a:ext>
            </a:extLst>
          </p:cNvPr>
          <p:cNvSpPr/>
          <p:nvPr/>
        </p:nvSpPr>
        <p:spPr>
          <a:xfrm>
            <a:off x="685800" y="3816689"/>
            <a:ext cx="7627755" cy="395959"/>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Am I a member of an association, club or professional </a:t>
            </a:r>
            <a:r>
              <a:rPr kumimoji="0" lang="en-US" sz="1200" b="0" i="0" u="none" strike="noStrike" kern="0" cap="none" spc="0" normalizeH="0" baseline="0" noProof="0" dirty="0" err="1">
                <a:ln>
                  <a:noFill/>
                </a:ln>
                <a:solidFill>
                  <a:prstClr val="black"/>
                </a:solidFill>
                <a:effectLst/>
                <a:uLnTx/>
                <a:uFillTx/>
                <a:latin typeface="Calibri"/>
                <a:ea typeface="+mn-ea"/>
                <a:cs typeface="+mn-cs"/>
              </a:rPr>
              <a:t>organisation</a:t>
            </a:r>
            <a:r>
              <a:rPr kumimoji="0" lang="en-US" sz="1200" b="0" i="0" u="none" strike="noStrike" kern="0" cap="none" spc="0" normalizeH="0" baseline="0" noProof="0" dirty="0">
                <a:ln>
                  <a:noFill/>
                </a:ln>
                <a:solidFill>
                  <a:prstClr val="black"/>
                </a:solidFill>
                <a:effectLst/>
                <a:uLnTx/>
                <a:uFillTx/>
                <a:latin typeface="Calibri"/>
                <a:ea typeface="+mn-ea"/>
                <a:cs typeface="+mn-cs"/>
              </a:rPr>
              <a:t> that may gain or be perceived to gain benefits from this proposed course of action?</a:t>
            </a:r>
          </a:p>
        </p:txBody>
      </p:sp>
      <p:sp>
        <p:nvSpPr>
          <p:cNvPr id="19" name="Rectangle: Rounded Corners 18">
            <a:extLst>
              <a:ext uri="{FF2B5EF4-FFF2-40B4-BE49-F238E27FC236}">
                <a16:creationId xmlns:a16="http://schemas.microsoft.com/office/drawing/2014/main" id="{85A6C12F-6DBB-4CA5-9814-F01D4BA98415}"/>
              </a:ext>
            </a:extLst>
          </p:cNvPr>
          <p:cNvSpPr/>
          <p:nvPr/>
        </p:nvSpPr>
        <p:spPr>
          <a:xfrm>
            <a:off x="685802" y="4320114"/>
            <a:ext cx="7627754" cy="361857"/>
          </a:xfrm>
          <a:prstGeom prst="round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Is there anything that could cast doubt on my objectivity?</a:t>
            </a:r>
          </a:p>
        </p:txBody>
      </p:sp>
    </p:spTree>
    <p:extLst>
      <p:ext uri="{BB962C8B-B14F-4D97-AF65-F5344CB8AC3E}">
        <p14:creationId xmlns:p14="http://schemas.microsoft.com/office/powerpoint/2010/main" val="1780103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COIs that may arise during vendor selection</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grpSp>
        <p:nvGrpSpPr>
          <p:cNvPr id="11" name="Group 10">
            <a:extLst>
              <a:ext uri="{FF2B5EF4-FFF2-40B4-BE49-F238E27FC236}">
                <a16:creationId xmlns:a16="http://schemas.microsoft.com/office/drawing/2014/main" id="{FB024DC3-CEF5-4A3A-B4DD-AC4A1A1B219B}"/>
              </a:ext>
            </a:extLst>
          </p:cNvPr>
          <p:cNvGrpSpPr/>
          <p:nvPr/>
        </p:nvGrpSpPr>
        <p:grpSpPr>
          <a:xfrm>
            <a:off x="876841" y="1815478"/>
            <a:ext cx="6922854" cy="1851568"/>
            <a:chOff x="684818" y="2156631"/>
            <a:chExt cx="6922854" cy="1851568"/>
          </a:xfrm>
        </p:grpSpPr>
        <p:pic>
          <p:nvPicPr>
            <p:cNvPr id="12" name="Picture 11">
              <a:extLst>
                <a:ext uri="{FF2B5EF4-FFF2-40B4-BE49-F238E27FC236}">
                  <a16:creationId xmlns:a16="http://schemas.microsoft.com/office/drawing/2014/main" id="{8243A14B-AE6D-4425-B132-ABB79EE3E9A1}"/>
                </a:ext>
              </a:extLst>
            </p:cNvPr>
            <p:cNvPicPr>
              <a:picLocks noChangeAspect="1"/>
            </p:cNvPicPr>
            <p:nvPr/>
          </p:nvPicPr>
          <p:blipFill>
            <a:blip r:embed="rId2"/>
            <a:stretch>
              <a:fillRect/>
            </a:stretch>
          </p:blipFill>
          <p:spPr>
            <a:xfrm>
              <a:off x="1309021" y="2156631"/>
              <a:ext cx="6298651" cy="1851568"/>
            </a:xfrm>
            <a:prstGeom prst="rect">
              <a:avLst/>
            </a:prstGeom>
          </p:spPr>
        </p:pic>
        <p:sp>
          <p:nvSpPr>
            <p:cNvPr id="13" name="TextBox 12">
              <a:extLst>
                <a:ext uri="{FF2B5EF4-FFF2-40B4-BE49-F238E27FC236}">
                  <a16:creationId xmlns:a16="http://schemas.microsoft.com/office/drawing/2014/main" id="{0DA3C00C-7784-4B87-834A-7F79609182EB}"/>
                </a:ext>
              </a:extLst>
            </p:cNvPr>
            <p:cNvSpPr txBox="1"/>
            <p:nvPr/>
          </p:nvSpPr>
          <p:spPr>
            <a:xfrm>
              <a:off x="684818" y="2478442"/>
              <a:ext cx="5335291" cy="120032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200" b="0" i="0" u="none" strike="noStrike" kern="0" cap="none" spc="0" normalizeH="0" baseline="0" noProof="0" dirty="0">
                  <a:ln>
                    <a:noFill/>
                  </a:ln>
                  <a:solidFill>
                    <a:prstClr val="black"/>
                  </a:solidFill>
                  <a:effectLst/>
                  <a:uLnTx/>
                  <a:uFillTx/>
                  <a:latin typeface="Calibri"/>
                </a:rPr>
                <a:t>If you are involved in procurement or tendering processes, your personal relationship with or outside interest in the (potential) vendor or tendering party must be declared to your line manager and the relevant governance fora, such as the procurement or tendering committee, where applicable and according to your local policy. You are required to wait for instructions before further proceeding in such a situation.</a:t>
              </a:r>
              <a:endParaRPr kumimoji="0" lang="en-US" sz="1200" b="0" i="0" u="none" strike="noStrike" kern="0" cap="none" spc="0" normalizeH="0" baseline="0" noProof="0" dirty="0">
                <a:ln>
                  <a:noFill/>
                </a:ln>
                <a:solidFill>
                  <a:prstClr val="black"/>
                </a:solidFill>
                <a:effectLst/>
                <a:uLnTx/>
                <a:uFillTx/>
                <a:latin typeface="Calibri"/>
              </a:endParaRPr>
            </a:p>
          </p:txBody>
        </p:sp>
      </p:grpSp>
      <p:sp>
        <p:nvSpPr>
          <p:cNvPr id="14" name="TextBox 13">
            <a:extLst>
              <a:ext uri="{FF2B5EF4-FFF2-40B4-BE49-F238E27FC236}">
                <a16:creationId xmlns:a16="http://schemas.microsoft.com/office/drawing/2014/main" id="{269CAFD3-8CEE-4BDD-B126-9C713A678104}"/>
              </a:ext>
            </a:extLst>
          </p:cNvPr>
          <p:cNvSpPr txBox="1"/>
          <p:nvPr/>
        </p:nvSpPr>
        <p:spPr>
          <a:xfrm>
            <a:off x="876841" y="1016704"/>
            <a:ext cx="6922854" cy="646331"/>
          </a:xfrm>
          <a:prstGeom prst="rect">
            <a:avLst/>
          </a:prstGeom>
          <a:solidFill>
            <a:srgbClr val="E0E0E2"/>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200" b="0" i="0" u="none" strike="noStrike" kern="0" cap="none" spc="0" normalizeH="0" baseline="0" noProof="0" dirty="0">
                <a:ln>
                  <a:noFill/>
                </a:ln>
                <a:solidFill>
                  <a:prstClr val="black"/>
                </a:solidFill>
                <a:effectLst/>
                <a:uLnTx/>
                <a:uFillTx/>
                <a:latin typeface="Calibri"/>
              </a:rPr>
              <a:t>Selecting a vendor based on outside interests of an employee, or their own relationship with the vendor, rather than the vendor’s ability to deliver the required service or goods is one of the key employee-related COIs that need proper management.</a:t>
            </a:r>
            <a:endParaRPr kumimoji="0" lang="en-US" sz="1200" b="0" i="0" u="none" strike="noStrike" kern="0" cap="none" spc="0" normalizeH="0" baseline="0" noProof="0" dirty="0">
              <a:ln>
                <a:noFill/>
              </a:ln>
              <a:solidFill>
                <a:prstClr val="black"/>
              </a:solidFill>
              <a:effectLst/>
              <a:uLnTx/>
              <a:uFillTx/>
              <a:latin typeface="Calibri"/>
            </a:endParaRPr>
          </a:p>
        </p:txBody>
      </p:sp>
      <p:sp>
        <p:nvSpPr>
          <p:cNvPr id="15" name="TextBox 14">
            <a:extLst>
              <a:ext uri="{FF2B5EF4-FFF2-40B4-BE49-F238E27FC236}">
                <a16:creationId xmlns:a16="http://schemas.microsoft.com/office/drawing/2014/main" id="{35E92E61-F89D-4201-B0D7-399E558CF17A}"/>
              </a:ext>
            </a:extLst>
          </p:cNvPr>
          <p:cNvSpPr txBox="1"/>
          <p:nvPr/>
        </p:nvSpPr>
        <p:spPr>
          <a:xfrm>
            <a:off x="876841" y="3725801"/>
            <a:ext cx="6922854" cy="830997"/>
          </a:xfrm>
          <a:prstGeom prst="rect">
            <a:avLst/>
          </a:prstGeom>
          <a:solidFill>
            <a:srgbClr val="EC1D30"/>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dirty="0">
                <a:ln>
                  <a:noFill/>
                </a:ln>
                <a:solidFill>
                  <a:schemeClr val="bg1"/>
                </a:solidFill>
                <a:effectLst/>
                <a:uLnTx/>
                <a:uFillTx/>
                <a:latin typeface="Calibri"/>
              </a:rPr>
              <a:t>ALWAYS</a:t>
            </a:r>
          </a:p>
          <a:p>
            <a:pPr marL="0" marR="0" lvl="0" indent="0" defTabSz="914400" eaLnBrk="1" fontAlgn="auto" latinLnBrk="0" hangingPunct="1">
              <a:lnSpc>
                <a:spcPct val="100000"/>
              </a:lnSpc>
              <a:spcBef>
                <a:spcPts val="0"/>
              </a:spcBef>
              <a:spcAft>
                <a:spcPts val="0"/>
              </a:spcAft>
              <a:buClrTx/>
              <a:buSzTx/>
              <a:buFontTx/>
              <a:buNone/>
              <a:tabLst/>
              <a:defRPr/>
            </a:pPr>
            <a:endParaRPr lang="en-AU" sz="1200" b="1" kern="0" dirty="0">
              <a:solidFill>
                <a:schemeClr val="bg1"/>
              </a:solidFill>
              <a:latin typeface="Calibr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AU" sz="1200" b="1" i="0" u="none" strike="noStrike" kern="0" cap="none" spc="0" normalizeH="0" baseline="0" noProof="0" dirty="0">
                <a:ln>
                  <a:noFill/>
                </a:ln>
                <a:solidFill>
                  <a:schemeClr val="bg1"/>
                </a:solidFill>
                <a:effectLst/>
                <a:uLnTx/>
                <a:uFillTx/>
                <a:latin typeface="Calibri"/>
              </a:rPr>
              <a:t>You must always follow required due diligence procedures, vendor selection criteria and disclose any personal relationships or interests in the potential vendors.</a:t>
            </a:r>
            <a:endParaRPr kumimoji="0" lang="en-US" sz="1200" b="1" i="0" u="none" strike="noStrike" kern="0" cap="none" spc="0" normalizeH="0" baseline="0" noProof="0" dirty="0">
              <a:ln>
                <a:noFill/>
              </a:ln>
              <a:solidFill>
                <a:schemeClr val="bg1"/>
              </a:solidFill>
              <a:effectLst/>
              <a:uLnTx/>
              <a:uFillTx/>
              <a:latin typeface="Calibri"/>
            </a:endParaRPr>
          </a:p>
        </p:txBody>
      </p:sp>
    </p:spTree>
    <p:extLst>
      <p:ext uri="{BB962C8B-B14F-4D97-AF65-F5344CB8AC3E}">
        <p14:creationId xmlns:p14="http://schemas.microsoft.com/office/powerpoint/2010/main" val="3271069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Summary of Key Declaration Requirements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18" name="TextBox 17">
            <a:extLst>
              <a:ext uri="{FF2B5EF4-FFF2-40B4-BE49-F238E27FC236}">
                <a16:creationId xmlns:a16="http://schemas.microsoft.com/office/drawing/2014/main" id="{C361EC46-1310-4C99-83DB-05319B125BA5}"/>
              </a:ext>
            </a:extLst>
          </p:cNvPr>
          <p:cNvSpPr txBox="1"/>
          <p:nvPr/>
        </p:nvSpPr>
        <p:spPr>
          <a:xfrm>
            <a:off x="187420" y="810263"/>
            <a:ext cx="8778685" cy="664012"/>
          </a:xfrm>
          <a:prstGeom prst="roundRect">
            <a:avLst/>
          </a:prstGeom>
          <a:solidFill>
            <a:sysClr val="window" lastClr="FFFFFF">
              <a:lumMod val="95000"/>
            </a:sysClr>
          </a:solidFill>
          <a:ln>
            <a:no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rPr>
              <a:t>You are required to use the COI Declaration Form in </a:t>
            </a:r>
            <a:r>
              <a:rPr kumimoji="0" lang="en-US" sz="1100" b="0" i="0" u="none" strike="noStrike" kern="0" cap="none" spc="0" normalizeH="0" baseline="0" noProof="0" dirty="0">
                <a:ln>
                  <a:noFill/>
                </a:ln>
                <a:solidFill>
                  <a:prstClr val="black"/>
                </a:solidFill>
                <a:effectLst/>
                <a:uLnTx/>
                <a:uFillTx/>
                <a:latin typeface="Calibri"/>
                <a:hlinkClick r:id="rId2"/>
              </a:rPr>
              <a:t>StarCompliance</a:t>
            </a:r>
            <a:r>
              <a:rPr kumimoji="0" lang="en-US" sz="1100" b="0" i="0" u="none" strike="noStrike" kern="0" cap="none" spc="0" normalizeH="0" baseline="0" noProof="0" dirty="0">
                <a:ln>
                  <a:noFill/>
                </a:ln>
                <a:solidFill>
                  <a:prstClr val="black"/>
                </a:solidFill>
                <a:effectLst/>
                <a:uLnTx/>
                <a:uFillTx/>
                <a:latin typeface="Calibri"/>
              </a:rPr>
              <a:t> to </a:t>
            </a:r>
            <a:r>
              <a:rPr kumimoji="0" lang="en-US" sz="1100" b="1" i="0" u="none" strike="noStrike" kern="0" cap="none" spc="0" normalizeH="0" baseline="0" noProof="0" dirty="0">
                <a:ln>
                  <a:noFill/>
                </a:ln>
                <a:solidFill>
                  <a:prstClr val="black"/>
                </a:solidFill>
                <a:effectLst/>
                <a:uLnTx/>
                <a:uFillTx/>
                <a:latin typeface="Calibri"/>
              </a:rPr>
              <a:t>self-declare outside interests and personal relationships </a:t>
            </a:r>
            <a:r>
              <a:rPr kumimoji="0" lang="en-US" sz="1100" b="0" i="0" u="none" strike="noStrike" kern="0" cap="none" spc="0" normalizeH="0" baseline="0" noProof="0" dirty="0">
                <a:ln>
                  <a:noFill/>
                </a:ln>
                <a:solidFill>
                  <a:prstClr val="black"/>
                </a:solidFill>
                <a:effectLst/>
                <a:uLnTx/>
                <a:uFillTx/>
                <a:latin typeface="Calibri"/>
              </a:rPr>
              <a:t>that may expose yourself or Prudential to COI risks upon joining the company; and to make timely declarations of subsequent changes including new outside interests and personal relationships that are required to be declared.</a:t>
            </a:r>
          </a:p>
        </p:txBody>
      </p:sp>
      <p:graphicFrame>
        <p:nvGraphicFramePr>
          <p:cNvPr id="20" name="Diagram 19">
            <a:extLst>
              <a:ext uri="{FF2B5EF4-FFF2-40B4-BE49-F238E27FC236}">
                <a16:creationId xmlns:a16="http://schemas.microsoft.com/office/drawing/2014/main" id="{F96181BC-D906-4CD4-89B9-1A89C8ABB2B9}"/>
              </a:ext>
            </a:extLst>
          </p:cNvPr>
          <p:cNvGraphicFramePr/>
          <p:nvPr>
            <p:extLst>
              <p:ext uri="{D42A27DB-BD31-4B8C-83A1-F6EECF244321}">
                <p14:modId xmlns:p14="http://schemas.microsoft.com/office/powerpoint/2010/main" val="447850106"/>
              </p:ext>
            </p:extLst>
          </p:nvPr>
        </p:nvGraphicFramePr>
        <p:xfrm>
          <a:off x="-53068" y="1824019"/>
          <a:ext cx="9396009" cy="8465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Rectangle: Rounded Corners 20">
            <a:extLst>
              <a:ext uri="{FF2B5EF4-FFF2-40B4-BE49-F238E27FC236}">
                <a16:creationId xmlns:a16="http://schemas.microsoft.com/office/drawing/2014/main" id="{DCE96F49-5C5B-4734-ACDF-C2B24C0E68E3}"/>
              </a:ext>
            </a:extLst>
          </p:cNvPr>
          <p:cNvSpPr/>
          <p:nvPr/>
        </p:nvSpPr>
        <p:spPr>
          <a:xfrm>
            <a:off x="2469640" y="1526347"/>
            <a:ext cx="3983505" cy="256046"/>
          </a:xfrm>
          <a:prstGeom prst="roundRect">
            <a:avLst/>
          </a:prstGeom>
          <a:solidFill>
            <a:srgbClr val="FF000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alibri"/>
                <a:ea typeface="+mn-ea"/>
                <a:cs typeface="+mn-cs"/>
              </a:rPr>
              <a:t>This includes, but is not limited to:</a:t>
            </a:r>
          </a:p>
        </p:txBody>
      </p:sp>
      <p:sp>
        <p:nvSpPr>
          <p:cNvPr id="24" name="TextBox 23">
            <a:extLst>
              <a:ext uri="{FF2B5EF4-FFF2-40B4-BE49-F238E27FC236}">
                <a16:creationId xmlns:a16="http://schemas.microsoft.com/office/drawing/2014/main" id="{18A19509-1C62-40F1-9978-77B332F99B84}"/>
              </a:ext>
            </a:extLst>
          </p:cNvPr>
          <p:cNvSpPr txBox="1"/>
          <p:nvPr/>
        </p:nvSpPr>
        <p:spPr>
          <a:xfrm>
            <a:off x="223628" y="2752287"/>
            <a:ext cx="8696743" cy="783193"/>
          </a:xfrm>
          <a:prstGeom prst="roundRect">
            <a:avLst/>
          </a:prstGeom>
          <a:solidFill>
            <a:sysClr val="window" lastClr="FFFFFF">
              <a:lumMod val="95000"/>
            </a:sysClr>
          </a:solidFill>
          <a:ln>
            <a:no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black"/>
                </a:solidFill>
                <a:effectLst/>
                <a:uLnTx/>
                <a:uFillTx/>
                <a:latin typeface="Calibri"/>
              </a:rPr>
              <a:t>You are also </a:t>
            </a:r>
            <a:r>
              <a:rPr kumimoji="0" lang="en-US" sz="1000" b="1" i="0" u="none" strike="noStrike" kern="0" cap="none" spc="0" normalizeH="0" baseline="0" noProof="0" dirty="0">
                <a:ln>
                  <a:noFill/>
                </a:ln>
                <a:solidFill>
                  <a:prstClr val="black"/>
                </a:solidFill>
                <a:effectLst/>
                <a:uLnTx/>
                <a:uFillTx/>
                <a:latin typeface="Calibri"/>
              </a:rPr>
              <a:t>required to declare any actual, perceived or potential COI </a:t>
            </a:r>
            <a:r>
              <a:rPr lang="en-US" sz="1000" kern="0" dirty="0">
                <a:solidFill>
                  <a:prstClr val="black"/>
                </a:solidFill>
                <a:latin typeface="Calibri"/>
              </a:rPr>
              <a:t>that may arise</a:t>
            </a:r>
            <a:r>
              <a:rPr kumimoji="0" lang="en-US" sz="1000" b="1" i="0" u="none" strike="noStrike" kern="0" cap="none" spc="0" normalizeH="0" baseline="0" noProof="0" dirty="0">
                <a:ln>
                  <a:noFill/>
                </a:ln>
                <a:solidFill>
                  <a:prstClr val="black"/>
                </a:solidFill>
                <a:effectLst/>
                <a:uLnTx/>
                <a:uFillTx/>
                <a:latin typeface="Calibri"/>
              </a:rPr>
              <a:t> </a:t>
            </a:r>
            <a:r>
              <a:rPr kumimoji="0" lang="en-US" sz="1000" b="0" i="0" u="none" strike="noStrike" kern="0" cap="none" spc="0" normalizeH="0" baseline="0" noProof="0" dirty="0">
                <a:ln>
                  <a:noFill/>
                </a:ln>
                <a:solidFill>
                  <a:prstClr val="black"/>
                </a:solidFill>
                <a:effectLst/>
                <a:uLnTx/>
                <a:uFillTx/>
                <a:latin typeface="Calibri"/>
              </a:rPr>
              <a:t>while carrying out your duties and refrain from taking any further action prior to obtaining approval to continue with the external interest. Such declarations should be made to line managers and other relevant parties, e.g. Human Resources, Compliance or other relevant functions, as well as to the relevant governance forums such as the procurement, tendering, investment or disciplinary committee, as applicable. Examples of COIs are:</a:t>
            </a:r>
          </a:p>
        </p:txBody>
      </p:sp>
      <p:grpSp>
        <p:nvGrpSpPr>
          <p:cNvPr id="34" name="Group 33">
            <a:extLst>
              <a:ext uri="{FF2B5EF4-FFF2-40B4-BE49-F238E27FC236}">
                <a16:creationId xmlns:a16="http://schemas.microsoft.com/office/drawing/2014/main" id="{D61A2483-7C88-4352-BADF-43A4FE3176BE}"/>
              </a:ext>
            </a:extLst>
          </p:cNvPr>
          <p:cNvGrpSpPr/>
          <p:nvPr/>
        </p:nvGrpSpPr>
        <p:grpSpPr>
          <a:xfrm>
            <a:off x="279429" y="3617227"/>
            <a:ext cx="4728076" cy="387230"/>
            <a:chOff x="676136" y="107992"/>
            <a:chExt cx="3588786" cy="997844"/>
          </a:xfrm>
        </p:grpSpPr>
        <p:sp>
          <p:nvSpPr>
            <p:cNvPr id="35" name="Rectangle 34">
              <a:extLst>
                <a:ext uri="{FF2B5EF4-FFF2-40B4-BE49-F238E27FC236}">
                  <a16:creationId xmlns:a16="http://schemas.microsoft.com/office/drawing/2014/main" id="{50865BC0-8A58-4E3C-A165-A1FCF4C9BB13}"/>
                </a:ext>
              </a:extLst>
            </p:cNvPr>
            <p:cNvSpPr/>
            <p:nvPr/>
          </p:nvSpPr>
          <p:spPr>
            <a:xfrm>
              <a:off x="676136" y="107992"/>
              <a:ext cx="3588786" cy="997844"/>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p:spPr>
        </p:sp>
        <p:sp>
          <p:nvSpPr>
            <p:cNvPr id="36" name="TextBox 35">
              <a:extLst>
                <a:ext uri="{FF2B5EF4-FFF2-40B4-BE49-F238E27FC236}">
                  <a16:creationId xmlns:a16="http://schemas.microsoft.com/office/drawing/2014/main" id="{F1FC32DF-9F4D-4818-96DB-A7328516824A}"/>
                </a:ext>
              </a:extLst>
            </p:cNvPr>
            <p:cNvSpPr txBox="1"/>
            <p:nvPr/>
          </p:nvSpPr>
          <p:spPr>
            <a:xfrm>
              <a:off x="676136" y="107992"/>
              <a:ext cx="3588786" cy="997844"/>
            </a:xfrm>
            <a:prstGeom prst="rect">
              <a:avLst/>
            </a:prstGeom>
            <a:noFill/>
            <a:ln w="19050">
              <a:solidFill>
                <a:srgbClr val="FBD1D5"/>
              </a:solidFill>
            </a:ln>
            <a:effectLst/>
          </p:spPr>
          <p:txBody>
            <a:bodyPr spcFirstLastPara="0" vert="horz" wrap="square" lIns="53340" tIns="53340" rIns="53340" bIns="53340" numCol="1" spcCol="1270" anchor="ctr" anchorCtr="0">
              <a:noAutofit/>
            </a:bodyPr>
            <a:lstStyle/>
            <a:p>
              <a:pPr marL="0" marR="0" lvl="0" indent="0" algn="ctr" defTabSz="622300" eaLnBrk="1" fontAlgn="auto" latinLnBrk="0" hangingPunct="1">
                <a:lnSpc>
                  <a:spcPct val="90000"/>
                </a:lnSpc>
                <a:spcBef>
                  <a:spcPct val="0"/>
                </a:spcBef>
                <a:spcAft>
                  <a:spcPct val="35000"/>
                </a:spcAft>
                <a:buClrTx/>
                <a:buSzTx/>
                <a:buFontTx/>
                <a:buNone/>
                <a:tabLst/>
                <a:defRPr/>
              </a:pPr>
              <a:r>
                <a:rPr kumimoji="0" lang="en-US" sz="1000" b="0" i="0" u="none" strike="noStrike" kern="0" cap="none" spc="0" normalizeH="0" baseline="0" noProof="0" dirty="0">
                  <a:ln>
                    <a:noFill/>
                  </a:ln>
                  <a:solidFill>
                    <a:prstClr val="black">
                      <a:hueOff val="0"/>
                      <a:satOff val="0"/>
                      <a:lumOff val="0"/>
                      <a:alphaOff val="0"/>
                    </a:prstClr>
                  </a:solidFill>
                  <a:effectLst/>
                  <a:uLnTx/>
                  <a:uFillTx/>
                  <a:latin typeface="Calibri"/>
                  <a:ea typeface="+mn-ea"/>
                  <a:cs typeface="+mn-cs"/>
                </a:rPr>
                <a:t>Taking a loan from a subordinate, as such personal financial relationship may (be seen to) inappropriately influence the way the line manager manages this subordinate</a:t>
              </a:r>
            </a:p>
          </p:txBody>
        </p:sp>
      </p:grpSp>
      <p:grpSp>
        <p:nvGrpSpPr>
          <p:cNvPr id="37" name="Group 36">
            <a:extLst>
              <a:ext uri="{FF2B5EF4-FFF2-40B4-BE49-F238E27FC236}">
                <a16:creationId xmlns:a16="http://schemas.microsoft.com/office/drawing/2014/main" id="{5A1B31BB-1165-44CB-9F1C-B4574262D997}"/>
              </a:ext>
            </a:extLst>
          </p:cNvPr>
          <p:cNvGrpSpPr/>
          <p:nvPr/>
        </p:nvGrpSpPr>
        <p:grpSpPr>
          <a:xfrm>
            <a:off x="5104466" y="3620540"/>
            <a:ext cx="3774932" cy="397848"/>
            <a:chOff x="4132520" y="638641"/>
            <a:chExt cx="2770881" cy="620191"/>
          </a:xfrm>
        </p:grpSpPr>
        <p:sp>
          <p:nvSpPr>
            <p:cNvPr id="38" name="Rectangle 37">
              <a:extLst>
                <a:ext uri="{FF2B5EF4-FFF2-40B4-BE49-F238E27FC236}">
                  <a16:creationId xmlns:a16="http://schemas.microsoft.com/office/drawing/2014/main" id="{891873FC-D644-4186-9BE8-6C69B4A9AEA6}"/>
                </a:ext>
              </a:extLst>
            </p:cNvPr>
            <p:cNvSpPr/>
            <p:nvPr/>
          </p:nvSpPr>
          <p:spPr>
            <a:xfrm>
              <a:off x="4132520" y="638641"/>
              <a:ext cx="2770881" cy="620191"/>
            </a:xfrm>
            <a:prstGeom prst="rect">
              <a:avLst/>
            </a:prstGeom>
            <a:solidFill>
              <a:sysClr val="window" lastClr="FFFFFF">
                <a:hueOff val="0"/>
                <a:satOff val="0"/>
                <a:lumOff val="0"/>
                <a:alphaOff val="0"/>
              </a:sysClr>
            </a:solidFill>
            <a:ln w="19050" cap="flat" cmpd="sng" algn="ctr">
              <a:solidFill>
                <a:srgbClr val="FBD1D5"/>
              </a:solidFill>
              <a:prstDash val="solid"/>
            </a:ln>
            <a:effectLst>
              <a:outerShdw blurRad="40000" dist="20000" dir="5400000" rotWithShape="0">
                <a:srgbClr val="000000">
                  <a:alpha val="38000"/>
                </a:srgbClr>
              </a:outerShdw>
            </a:effectLst>
          </p:spPr>
        </p:sp>
        <p:sp>
          <p:nvSpPr>
            <p:cNvPr id="39" name="TextBox 38">
              <a:extLst>
                <a:ext uri="{FF2B5EF4-FFF2-40B4-BE49-F238E27FC236}">
                  <a16:creationId xmlns:a16="http://schemas.microsoft.com/office/drawing/2014/main" id="{A9897190-4F4B-421E-8D9A-4387B3E060D7}"/>
                </a:ext>
              </a:extLst>
            </p:cNvPr>
            <p:cNvSpPr txBox="1"/>
            <p:nvPr/>
          </p:nvSpPr>
          <p:spPr>
            <a:xfrm>
              <a:off x="4132520" y="638641"/>
              <a:ext cx="2770881" cy="620191"/>
            </a:xfrm>
            <a:prstGeom prst="rect">
              <a:avLst/>
            </a:prstGeom>
            <a:noFill/>
            <a:ln w="19050">
              <a:solidFill>
                <a:srgbClr val="FBD1D5"/>
              </a:solidFill>
            </a:ln>
            <a:effectLst/>
          </p:spPr>
          <p:txBody>
            <a:bodyPr spcFirstLastPara="0" vert="horz" wrap="square" lIns="53340" tIns="53340" rIns="53340" bIns="53340" numCol="1" spcCol="1270" anchor="ctr" anchorCtr="0">
              <a:noAutofit/>
            </a:bodyPr>
            <a:lstStyle/>
            <a:p>
              <a:pPr marL="0" marR="0" lvl="0" indent="0" algn="ctr" defTabSz="622300" eaLnBrk="1" fontAlgn="auto" latinLnBrk="0" hangingPunct="1">
                <a:lnSpc>
                  <a:spcPct val="90000"/>
                </a:lnSpc>
                <a:spcBef>
                  <a:spcPct val="0"/>
                </a:spcBef>
                <a:spcAft>
                  <a:spcPct val="35000"/>
                </a:spcAft>
                <a:buClrTx/>
                <a:buSzTx/>
                <a:buFontTx/>
                <a:buNone/>
                <a:tabLst/>
                <a:defRPr/>
              </a:pPr>
              <a:r>
                <a:rPr kumimoji="0" lang="en-US" sz="1000" b="0" i="0" u="none" strike="noStrike" kern="0" cap="none" spc="0" normalizeH="0" baseline="0" noProof="0" dirty="0">
                  <a:ln>
                    <a:noFill/>
                  </a:ln>
                  <a:solidFill>
                    <a:prstClr val="black">
                      <a:hueOff val="0"/>
                      <a:satOff val="0"/>
                      <a:lumOff val="0"/>
                      <a:alphaOff val="0"/>
                    </a:prstClr>
                  </a:solidFill>
                  <a:effectLst/>
                  <a:uLnTx/>
                  <a:uFillTx/>
                  <a:latin typeface="Calibri"/>
                  <a:ea typeface="+mn-ea"/>
                  <a:cs typeface="+mn-cs"/>
                </a:rPr>
                <a:t>Interviewing or hiring a relative or close friends for a position (including contractor or intern) in Prudential</a:t>
              </a:r>
            </a:p>
          </p:txBody>
        </p:sp>
      </p:grpSp>
      <p:sp>
        <p:nvSpPr>
          <p:cNvPr id="42" name="TextBox 41">
            <a:extLst>
              <a:ext uri="{FF2B5EF4-FFF2-40B4-BE49-F238E27FC236}">
                <a16:creationId xmlns:a16="http://schemas.microsoft.com/office/drawing/2014/main" id="{966E54CB-5264-44AB-9CD3-304BBBCD2F55}"/>
              </a:ext>
            </a:extLst>
          </p:cNvPr>
          <p:cNvSpPr txBox="1"/>
          <p:nvPr/>
        </p:nvSpPr>
        <p:spPr>
          <a:xfrm>
            <a:off x="264602" y="4093424"/>
            <a:ext cx="8614795" cy="565724"/>
          </a:xfrm>
          <a:prstGeom prst="rect">
            <a:avLst/>
          </a:prstGeom>
          <a:noFill/>
          <a:ln w="19050">
            <a:solidFill>
              <a:srgbClr val="FBD1D5"/>
            </a:solidFill>
          </a:ln>
          <a:effectLst/>
        </p:spPr>
        <p:txBody>
          <a:bodyPr spcFirstLastPara="0" vert="horz" wrap="square" lIns="53340" tIns="53340" rIns="53340" bIns="53340" numCol="1" spcCol="1270" anchor="t" anchorCtr="0">
            <a:noAutofit/>
          </a:bodyPr>
          <a:lstStyle/>
          <a:p>
            <a:pPr marL="0" marR="0" lvl="0" indent="0" defTabSz="622300" eaLnBrk="1" fontAlgn="auto" latinLnBrk="0" hangingPunct="1">
              <a:lnSpc>
                <a:spcPct val="90000"/>
              </a:lnSpc>
              <a:spcBef>
                <a:spcPct val="0"/>
              </a:spcBef>
              <a:spcAft>
                <a:spcPct val="35000"/>
              </a:spcAft>
              <a:buClrTx/>
              <a:buSzTx/>
              <a:buFontTx/>
              <a:buNone/>
              <a:tabLst/>
              <a:defRPr/>
            </a:pPr>
            <a:r>
              <a:rPr kumimoji="0" lang="en-US" sz="1000" b="0" i="0" u="none" strike="noStrike" kern="0" cap="none" spc="0" normalizeH="0" baseline="0" noProof="0" dirty="0">
                <a:ln>
                  <a:noFill/>
                </a:ln>
                <a:solidFill>
                  <a:prstClr val="black">
                    <a:hueOff val="0"/>
                    <a:satOff val="0"/>
                    <a:lumOff val="0"/>
                    <a:alphaOff val="0"/>
                  </a:prstClr>
                </a:solidFill>
                <a:effectLst/>
                <a:uLnTx/>
                <a:uFillTx/>
                <a:latin typeface="Calibri"/>
                <a:ea typeface="+mn-ea"/>
                <a:cs typeface="+mn-cs"/>
              </a:rPr>
              <a:t>Evaluating or approving Prudential’s engagement with or investment in:</a:t>
            </a:r>
          </a:p>
          <a:p>
            <a:pPr marL="285750" marR="0" lvl="1" indent="-285750" defTabSz="622300" eaLnBrk="1" fontAlgn="auto" latinLnBrk="0" hangingPunct="1">
              <a:lnSpc>
                <a:spcPct val="90000"/>
              </a:lnSpc>
              <a:spcBef>
                <a:spcPct val="0"/>
              </a:spcBef>
              <a:spcAft>
                <a:spcPct val="150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hueOff val="0"/>
                    <a:satOff val="0"/>
                    <a:lumOff val="0"/>
                    <a:alphaOff val="0"/>
                  </a:prstClr>
                </a:solidFill>
                <a:effectLst/>
                <a:uLnTx/>
                <a:uFillTx/>
                <a:latin typeface="Calibri"/>
                <a:ea typeface="+mn-ea"/>
                <a:cs typeface="+mn-cs"/>
              </a:rPr>
              <a:t>A third party such as vendor or business partner or an investment target in which, you or your relatives or close friends have financial interests; or</a:t>
            </a:r>
          </a:p>
          <a:p>
            <a:pPr marL="285750" marR="0" lvl="1" indent="-285750" defTabSz="622300" eaLnBrk="1" fontAlgn="auto" latinLnBrk="0" hangingPunct="1">
              <a:lnSpc>
                <a:spcPct val="90000"/>
              </a:lnSpc>
              <a:spcBef>
                <a:spcPct val="0"/>
              </a:spcBef>
              <a:spcAft>
                <a:spcPct val="15000"/>
              </a:spcAft>
              <a:buClrTx/>
              <a:buSzTx/>
              <a:buFont typeface="Arial" panose="020B0604020202020204" pitchFamily="34" charset="0"/>
              <a:buChar char="•"/>
              <a:tabLst/>
              <a:defRPr/>
            </a:pPr>
            <a:r>
              <a:rPr kumimoji="0" lang="en-US" sz="1000" b="0" i="0" u="none" strike="noStrike" kern="0" cap="none" spc="0" normalizeH="0" baseline="0" noProof="0" dirty="0">
                <a:ln>
                  <a:noFill/>
                </a:ln>
                <a:solidFill>
                  <a:prstClr val="black">
                    <a:hueOff val="0"/>
                    <a:satOff val="0"/>
                    <a:lumOff val="0"/>
                    <a:alphaOff val="0"/>
                  </a:prstClr>
                </a:solidFill>
                <a:effectLst/>
                <a:uLnTx/>
                <a:uFillTx/>
                <a:latin typeface="Calibri"/>
                <a:ea typeface="+mn-ea"/>
                <a:cs typeface="+mn-cs"/>
              </a:rPr>
              <a:t>A non-government organization or charity, for which you have been nominated to be a member of the executive / management/ advisory committee.</a:t>
            </a:r>
          </a:p>
        </p:txBody>
      </p:sp>
    </p:spTree>
    <p:extLst>
      <p:ext uri="{BB962C8B-B14F-4D97-AF65-F5344CB8AC3E}">
        <p14:creationId xmlns:p14="http://schemas.microsoft.com/office/powerpoint/2010/main" val="4016914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Summary of Key Declaration Requirements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19" name="TextBox 18">
            <a:extLst>
              <a:ext uri="{FF2B5EF4-FFF2-40B4-BE49-F238E27FC236}">
                <a16:creationId xmlns:a16="http://schemas.microsoft.com/office/drawing/2014/main" id="{B27DEFE2-AFFF-4BEE-9073-76CC26D851F9}"/>
              </a:ext>
            </a:extLst>
          </p:cNvPr>
          <p:cNvSpPr txBox="1"/>
          <p:nvPr/>
        </p:nvSpPr>
        <p:spPr>
          <a:xfrm>
            <a:off x="0" y="3420351"/>
            <a:ext cx="9144000" cy="461665"/>
          </a:xfrm>
          <a:prstGeom prst="rect">
            <a:avLst/>
          </a:prstGeom>
          <a:solidFill>
            <a:sysClr val="window" lastClr="FFFFFF">
              <a:lumMod val="95000"/>
            </a:sysClr>
          </a:solidFill>
          <a:ln w="9525" cap="flat" cmpd="sng" algn="ctr">
            <a:solidFill>
              <a:sysClr val="windowText" lastClr="000000"/>
            </a:solidFill>
            <a:prstDash val="solid"/>
          </a:ln>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a:ea typeface="+mn-ea"/>
                <a:cs typeface="+mn-cs"/>
              </a:rPr>
              <a:t>Please complete your initial COI Certification on </a:t>
            </a:r>
            <a:r>
              <a:rPr lang="en-US" sz="1200" b="1" kern="0" dirty="0" err="1">
                <a:solidFill>
                  <a:prstClr val="black"/>
                </a:solidFill>
                <a:latin typeface="Calibri"/>
              </a:rPr>
              <a:t>StarCompliance</a:t>
            </a:r>
            <a:r>
              <a:rPr lang="en-US" sz="1200" b="1" kern="0" dirty="0">
                <a:solidFill>
                  <a:prstClr val="black"/>
                </a:solidFill>
                <a:latin typeface="Calibri"/>
              </a:rPr>
              <a:t>. You can access </a:t>
            </a:r>
            <a:r>
              <a:rPr lang="en-US" sz="1200" b="1" kern="0" dirty="0" err="1">
                <a:solidFill>
                  <a:prstClr val="black"/>
                </a:solidFill>
                <a:latin typeface="Calibri"/>
              </a:rPr>
              <a:t>StarCompliance</a:t>
            </a:r>
            <a:r>
              <a:rPr kumimoji="0" lang="en-US" sz="1200" b="1" i="0" u="none" strike="noStrike" kern="0" cap="none" spc="0" normalizeH="0" baseline="0" noProof="0" dirty="0">
                <a:ln>
                  <a:noFill/>
                </a:ln>
                <a:solidFill>
                  <a:prstClr val="black"/>
                </a:solidFill>
                <a:effectLst/>
                <a:uLnTx/>
                <a:uFillTx/>
                <a:latin typeface="Calibri"/>
                <a:ea typeface="+mn-ea"/>
                <a:cs typeface="+mn-cs"/>
              </a:rPr>
              <a:t> via this </a:t>
            </a:r>
            <a:r>
              <a:rPr kumimoji="0" lang="en-US" sz="1200" b="1" i="0" u="none" strike="noStrike" kern="0" cap="none" spc="0" normalizeH="0" baseline="0" noProof="0" dirty="0">
                <a:ln>
                  <a:noFill/>
                </a:ln>
                <a:solidFill>
                  <a:prstClr val="black"/>
                </a:solidFill>
                <a:effectLst/>
                <a:uLnTx/>
                <a:uFillTx/>
                <a:latin typeface="Calibri"/>
                <a:ea typeface="+mn-ea"/>
                <a:cs typeface="+mn-cs"/>
                <a:hlinkClick r:id="rId2"/>
              </a:rPr>
              <a:t>link, </a:t>
            </a:r>
            <a:r>
              <a:rPr kumimoji="0" lang="en-US" sz="1200" b="1" i="0" u="none" strike="noStrike" kern="0" cap="none" spc="0" normalizeH="0" baseline="0" noProof="0" dirty="0">
                <a:ln>
                  <a:noFill/>
                </a:ln>
                <a:solidFill>
                  <a:prstClr val="black"/>
                </a:solidFill>
                <a:effectLst/>
                <a:uLnTx/>
                <a:uFillTx/>
                <a:latin typeface="Calibri"/>
                <a:ea typeface="+mn-ea"/>
                <a:cs typeface="+mn-cs"/>
              </a:rPr>
              <a:t>via the link in your </a:t>
            </a:r>
            <a:r>
              <a:rPr kumimoji="0" lang="en-US" sz="1200" b="1" i="0" u="none" strike="noStrike" kern="0" cap="none" spc="0" normalizeH="0" baseline="0" noProof="0" dirty="0" err="1">
                <a:ln>
                  <a:noFill/>
                </a:ln>
                <a:solidFill>
                  <a:prstClr val="black"/>
                </a:solidFill>
                <a:effectLst/>
                <a:uLnTx/>
                <a:uFillTx/>
                <a:latin typeface="Calibri"/>
                <a:ea typeface="+mn-ea"/>
                <a:cs typeface="+mn-cs"/>
              </a:rPr>
              <a:t>StarCompliance</a:t>
            </a:r>
            <a:r>
              <a:rPr kumimoji="0" lang="en-US" sz="1200" b="1" i="0" u="none" strike="noStrike" kern="0" cap="none" spc="0" normalizeH="0" baseline="0" noProof="0" dirty="0">
                <a:ln>
                  <a:noFill/>
                </a:ln>
                <a:solidFill>
                  <a:prstClr val="black"/>
                </a:solidFill>
                <a:effectLst/>
                <a:uLnTx/>
                <a:uFillTx/>
                <a:latin typeface="Calibri"/>
                <a:ea typeface="+mn-ea"/>
                <a:cs typeface="+mn-cs"/>
              </a:rPr>
              <a:t> welcome e-mail,</a:t>
            </a:r>
            <a:r>
              <a:rPr lang="en-US" sz="1200" b="1" kern="0" dirty="0">
                <a:solidFill>
                  <a:prstClr val="black"/>
                </a:solidFill>
                <a:latin typeface="Calibri"/>
              </a:rPr>
              <a:t> or via the </a:t>
            </a:r>
            <a:r>
              <a:rPr lang="en-US" sz="1200" b="1" kern="0" dirty="0">
                <a:solidFill>
                  <a:prstClr val="black"/>
                </a:solidFill>
                <a:latin typeface="Calibri"/>
                <a:hlinkClick r:id="rId3"/>
              </a:rPr>
              <a:t>1-PRU COI website</a:t>
            </a:r>
            <a:r>
              <a:rPr lang="en-US" sz="1200" b="1" kern="0" dirty="0">
                <a:solidFill>
                  <a:prstClr val="black"/>
                </a:solidFill>
                <a:latin typeface="Calibri"/>
              </a:rPr>
              <a:t>.*</a:t>
            </a:r>
          </a:p>
        </p:txBody>
      </p:sp>
      <p:sp>
        <p:nvSpPr>
          <p:cNvPr id="31" name="TextBox 30">
            <a:extLst>
              <a:ext uri="{FF2B5EF4-FFF2-40B4-BE49-F238E27FC236}">
                <a16:creationId xmlns:a16="http://schemas.microsoft.com/office/drawing/2014/main" id="{3761CDD0-14F8-4536-91E5-0D13A91580BE}"/>
              </a:ext>
            </a:extLst>
          </p:cNvPr>
          <p:cNvSpPr txBox="1"/>
          <p:nvPr/>
        </p:nvSpPr>
        <p:spPr>
          <a:xfrm>
            <a:off x="159298" y="1044453"/>
            <a:ext cx="8718569" cy="1940957"/>
          </a:xfrm>
          <a:prstGeom prst="roundRect">
            <a:avLst/>
          </a:prstGeom>
          <a:solidFill>
            <a:sysClr val="window" lastClr="FFFFFF">
              <a:lumMod val="95000"/>
            </a:sysClr>
          </a:solidFill>
          <a:ln>
            <a:noFill/>
          </a:ln>
        </p:spPr>
        <p:txBody>
          <a:bodyPr wrap="square" rtlCol="0">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rPr>
              <a:t>You are </a:t>
            </a:r>
            <a:r>
              <a:rPr kumimoji="0" lang="en-US" sz="1200" b="1" i="0" u="none" strike="noStrike" kern="0" cap="none" spc="0" normalizeH="0" baseline="0" noProof="0" dirty="0">
                <a:ln>
                  <a:noFill/>
                </a:ln>
                <a:solidFill>
                  <a:prstClr val="black"/>
                </a:solidFill>
                <a:effectLst/>
                <a:uLnTx/>
                <a:uFillTx/>
                <a:latin typeface="Calibri"/>
              </a:rPr>
              <a:t>also required to declare any actual, perceived or potential COI that may arise </a:t>
            </a:r>
            <a:r>
              <a:rPr kumimoji="0" lang="en-US" sz="1200" b="0" i="0" u="none" strike="noStrike" kern="0" cap="none" spc="0" normalizeH="0" baseline="0" noProof="0" dirty="0">
                <a:ln>
                  <a:noFill/>
                </a:ln>
                <a:solidFill>
                  <a:prstClr val="black"/>
                </a:solidFill>
                <a:effectLst/>
                <a:uLnTx/>
                <a:uFillTx/>
                <a:latin typeface="Calibri"/>
              </a:rPr>
              <a:t>while carrying out your duties, and refrain from taking any further action prior to obtaining approval to proceed with the external interest. Such declarations should be made to line managers and other relevant parties, e.g. Human Resources, Compliance or other relevant functions, including governance for a such as the procurement, tendering, investment of disciplinary committee, as applicable. </a:t>
            </a:r>
          </a:p>
          <a:p>
            <a:pPr marL="0" marR="0" lvl="0" indent="0" algn="just" defTabSz="914400" eaLnBrk="1" fontAlgn="auto" latinLnBrk="0" hangingPunct="1">
              <a:lnSpc>
                <a:spcPct val="100000"/>
              </a:lnSpc>
              <a:spcBef>
                <a:spcPts val="0"/>
              </a:spcBef>
              <a:spcAft>
                <a:spcPts val="0"/>
              </a:spcAft>
              <a:buClrTx/>
              <a:buSzTx/>
              <a:buFontTx/>
              <a:buNone/>
              <a:tabLst/>
              <a:defRPr/>
            </a:pPr>
            <a:endParaRPr lang="en-US" sz="1200" kern="0" dirty="0">
              <a:solidFill>
                <a:prstClr val="black"/>
              </a:solidFill>
              <a:latin typeface="Calibri"/>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a:rPr>
              <a:t>Having consensual relationships with other employees or contractors as defined in the Consensual Relationships Policy must be declared to HR. Only where such a relationship is assessed to also create a COI does it need to be managed under the COI policy and relevant procedures.</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Calibri"/>
            </a:endParaRPr>
          </a:p>
        </p:txBody>
      </p:sp>
      <p:sp>
        <p:nvSpPr>
          <p:cNvPr id="4" name="TextBox 3">
            <a:extLst>
              <a:ext uri="{FF2B5EF4-FFF2-40B4-BE49-F238E27FC236}">
                <a16:creationId xmlns:a16="http://schemas.microsoft.com/office/drawing/2014/main" id="{DA1361F6-6AE2-4ED5-A340-ADB11BB7DC6B}"/>
              </a:ext>
            </a:extLst>
          </p:cNvPr>
          <p:cNvSpPr txBox="1"/>
          <p:nvPr/>
        </p:nvSpPr>
        <p:spPr>
          <a:xfrm>
            <a:off x="26670" y="3900553"/>
            <a:ext cx="9117330" cy="138499"/>
          </a:xfrm>
          <a:prstGeom prst="rect">
            <a:avLst/>
          </a:prstGeom>
          <a:noFill/>
        </p:spPr>
        <p:txBody>
          <a:bodyPr wrap="square" lIns="0" tIns="0" rIns="0" bIns="0" rtlCol="0">
            <a:spAutoFit/>
          </a:bodyPr>
          <a:lstStyle/>
          <a:p>
            <a:pPr algn="l"/>
            <a:r>
              <a:rPr lang="en-HK" sz="900" dirty="0"/>
              <a:t>*</a:t>
            </a:r>
            <a:r>
              <a:rPr lang="en-HK" sz="900" i="1" dirty="0"/>
              <a:t>Please note that you will be able to access </a:t>
            </a:r>
            <a:r>
              <a:rPr lang="en-HK" sz="900" i="1" dirty="0" err="1"/>
              <a:t>StarCompliance</a:t>
            </a:r>
            <a:r>
              <a:rPr lang="en-HK" sz="900" i="1" dirty="0"/>
              <a:t> and any of the links on this slide only from a office device and/or within an office environment.</a:t>
            </a:r>
            <a:endParaRPr lang="en-HK" sz="900" dirty="0"/>
          </a:p>
        </p:txBody>
      </p:sp>
    </p:spTree>
    <p:extLst>
      <p:ext uri="{BB962C8B-B14F-4D97-AF65-F5344CB8AC3E}">
        <p14:creationId xmlns:p14="http://schemas.microsoft.com/office/powerpoint/2010/main" val="2287327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Key COI Controls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17" name="Content Placeholder 2">
            <a:extLst>
              <a:ext uri="{FF2B5EF4-FFF2-40B4-BE49-F238E27FC236}">
                <a16:creationId xmlns:a16="http://schemas.microsoft.com/office/drawing/2014/main" id="{33637EFE-DC1E-4652-8439-2BC0785AEF81}"/>
              </a:ext>
            </a:extLst>
          </p:cNvPr>
          <p:cNvSpPr txBox="1">
            <a:spLocks/>
          </p:cNvSpPr>
          <p:nvPr/>
        </p:nvSpPr>
        <p:spPr>
          <a:xfrm>
            <a:off x="435050" y="935695"/>
            <a:ext cx="8968257" cy="194560"/>
          </a:xfrm>
          <a:prstGeom prst="rect">
            <a:avLst/>
          </a:prstGeom>
        </p:spPr>
        <p:txBody>
          <a:bodyPr vert="horz" lIns="0" tIns="0" rIns="0" bIns="0" rtlCol="0">
            <a:noAutofit/>
          </a:bodyPr>
          <a:lstStyle>
            <a:lvl1pPr marL="342900" indent="-342900" algn="l" defTabSz="457200" rtl="0" eaLnBrk="1" latinLnBrk="0" hangingPunct="1">
              <a:spcBef>
                <a:spcPts val="0"/>
              </a:spcBef>
              <a:spcAft>
                <a:spcPts val="2400"/>
              </a:spcAft>
              <a:buFont typeface="Arial"/>
              <a:buChar char="•"/>
              <a:defRPr sz="2600" b="0" i="0" kern="1200">
                <a:solidFill>
                  <a:schemeClr val="tx1"/>
                </a:solidFill>
                <a:latin typeface="Calibri"/>
                <a:ea typeface="+mn-ea"/>
                <a:cs typeface="Calibri"/>
              </a:defRPr>
            </a:lvl1pPr>
            <a:lvl2pPr marL="742950" indent="-285750" algn="l" defTabSz="457200" rtl="0" eaLnBrk="1" latinLnBrk="0" hangingPunct="1">
              <a:spcBef>
                <a:spcPts val="0"/>
              </a:spcBef>
              <a:spcAft>
                <a:spcPts val="2400"/>
              </a:spcAft>
              <a:buFont typeface="Arial"/>
              <a:buChar char="–"/>
              <a:defRPr sz="2000" b="0" i="0" kern="1200">
                <a:solidFill>
                  <a:schemeClr val="tx1"/>
                </a:solidFill>
                <a:latin typeface="Calibri"/>
                <a:ea typeface="+mn-ea"/>
                <a:cs typeface="Calibri"/>
              </a:defRPr>
            </a:lvl2pPr>
            <a:lvl3pPr marL="1143000" indent="-228600" algn="l" defTabSz="457200" rtl="0" eaLnBrk="1" latinLnBrk="0" hangingPunct="1">
              <a:spcBef>
                <a:spcPts val="0"/>
              </a:spcBef>
              <a:spcAft>
                <a:spcPts val="2400"/>
              </a:spcAft>
              <a:buFont typeface="Arial"/>
              <a:buChar char="•"/>
              <a:defRPr sz="2000" b="0" i="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000" b="0" i="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b="0" i="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600"/>
              </a:spcAft>
              <a:buClrTx/>
              <a:buSzTx/>
              <a:buFont typeface="Arial"/>
              <a:buNone/>
              <a:tabLst/>
              <a:defRPr/>
            </a:pPr>
            <a:r>
              <a:rPr kumimoji="0" lang="en-GB" sz="1200" b="0" i="0" u="none" strike="noStrike" kern="1200" cap="none" spc="0" normalizeH="0" baseline="0" noProof="0" dirty="0">
                <a:ln>
                  <a:noFill/>
                </a:ln>
                <a:solidFill>
                  <a:sysClr val="windowText" lastClr="000000"/>
                </a:solidFill>
                <a:effectLst/>
                <a:uLnTx/>
                <a:uFillTx/>
                <a:latin typeface="Calibri"/>
                <a:ea typeface="+mn-ea"/>
                <a:cs typeface="Calibri"/>
              </a:rPr>
              <a:t>Examples of key controls to identify and manage individual COIs are outlined below:</a:t>
            </a: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342900" marR="0" lvl="0" indent="-342900" algn="l" defTabSz="457200" rtl="0" eaLnBrk="1" fontAlgn="auto" latinLnBrk="0" hangingPunct="1">
              <a:lnSpc>
                <a:spcPct val="100000"/>
              </a:lnSpc>
              <a:spcBef>
                <a:spcPts val="0"/>
              </a:spcBef>
              <a:spcAft>
                <a:spcPts val="600"/>
              </a:spcAft>
              <a:buClrTx/>
              <a:buSzTx/>
              <a:buFont typeface="Arial"/>
              <a:buChar char="•"/>
              <a:tabLst/>
              <a:defRPr/>
            </a:pPr>
            <a:endParaRPr kumimoji="0" lang="en-GB"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342900" marR="0" lvl="0" indent="-342900" algn="l" defTabSz="457200" rtl="0" eaLnBrk="1" fontAlgn="auto" latinLnBrk="0" hangingPunct="1">
              <a:lnSpc>
                <a:spcPct val="100000"/>
              </a:lnSpc>
              <a:spcBef>
                <a:spcPts val="0"/>
              </a:spcBef>
              <a:spcAft>
                <a:spcPts val="1200"/>
              </a:spcAft>
              <a:buClrTx/>
              <a:buSzTx/>
              <a:buFont typeface="Arial"/>
              <a:buChar char="•"/>
              <a:tabLst/>
              <a:defRPr/>
            </a:pP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0" marR="0" lvl="0" indent="0" algn="l" defTabSz="457200" rtl="0" eaLnBrk="1" fontAlgn="auto" latinLnBrk="0" hangingPunct="1">
              <a:lnSpc>
                <a:spcPct val="100000"/>
              </a:lnSpc>
              <a:spcBef>
                <a:spcPts val="0"/>
              </a:spcBef>
              <a:spcAft>
                <a:spcPts val="1200"/>
              </a:spcAft>
              <a:buClrTx/>
              <a:buSzTx/>
              <a:buFont typeface="Arial"/>
              <a:buNone/>
              <a:tabLst/>
              <a:defRPr/>
            </a:pP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p:txBody>
      </p:sp>
      <p:graphicFrame>
        <p:nvGraphicFramePr>
          <p:cNvPr id="18" name="Diagram 17">
            <a:extLst>
              <a:ext uri="{FF2B5EF4-FFF2-40B4-BE49-F238E27FC236}">
                <a16:creationId xmlns:a16="http://schemas.microsoft.com/office/drawing/2014/main" id="{21F58826-C026-4BAA-8DA9-AA37A2984745}"/>
              </a:ext>
            </a:extLst>
          </p:cNvPr>
          <p:cNvGraphicFramePr/>
          <p:nvPr>
            <p:extLst>
              <p:ext uri="{D42A27DB-BD31-4B8C-83A1-F6EECF244321}">
                <p14:modId xmlns:p14="http://schemas.microsoft.com/office/powerpoint/2010/main" val="2949003369"/>
              </p:ext>
            </p:extLst>
          </p:nvPr>
        </p:nvGraphicFramePr>
        <p:xfrm>
          <a:off x="438461" y="1275096"/>
          <a:ext cx="8330225" cy="3522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1881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2400" dirty="0"/>
              <a:t>Key COI Controls</a:t>
            </a:r>
            <a:endParaRPr lang="en-US" dirty="0"/>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17" name="Content Placeholder 2">
            <a:extLst>
              <a:ext uri="{FF2B5EF4-FFF2-40B4-BE49-F238E27FC236}">
                <a16:creationId xmlns:a16="http://schemas.microsoft.com/office/drawing/2014/main" id="{33637EFE-DC1E-4652-8439-2BC0785AEF81}"/>
              </a:ext>
            </a:extLst>
          </p:cNvPr>
          <p:cNvSpPr txBox="1">
            <a:spLocks/>
          </p:cNvSpPr>
          <p:nvPr/>
        </p:nvSpPr>
        <p:spPr>
          <a:xfrm>
            <a:off x="435050" y="935695"/>
            <a:ext cx="8968257" cy="194560"/>
          </a:xfrm>
          <a:prstGeom prst="rect">
            <a:avLst/>
          </a:prstGeom>
        </p:spPr>
        <p:txBody>
          <a:bodyPr vert="horz" lIns="0" tIns="0" rIns="0" bIns="0" rtlCol="0">
            <a:noAutofit/>
          </a:bodyPr>
          <a:lstStyle>
            <a:lvl1pPr marL="342900" indent="-342900" algn="l" defTabSz="457200" rtl="0" eaLnBrk="1" latinLnBrk="0" hangingPunct="1">
              <a:spcBef>
                <a:spcPts val="0"/>
              </a:spcBef>
              <a:spcAft>
                <a:spcPts val="2400"/>
              </a:spcAft>
              <a:buFont typeface="Arial"/>
              <a:buChar char="•"/>
              <a:defRPr sz="2600" b="0" i="0" kern="1200">
                <a:solidFill>
                  <a:schemeClr val="tx1"/>
                </a:solidFill>
                <a:latin typeface="Calibri"/>
                <a:ea typeface="+mn-ea"/>
                <a:cs typeface="Calibri"/>
              </a:defRPr>
            </a:lvl1pPr>
            <a:lvl2pPr marL="742950" indent="-285750" algn="l" defTabSz="457200" rtl="0" eaLnBrk="1" latinLnBrk="0" hangingPunct="1">
              <a:spcBef>
                <a:spcPts val="0"/>
              </a:spcBef>
              <a:spcAft>
                <a:spcPts val="2400"/>
              </a:spcAft>
              <a:buFont typeface="Arial"/>
              <a:buChar char="–"/>
              <a:defRPr sz="2000" b="0" i="0" kern="1200">
                <a:solidFill>
                  <a:schemeClr val="tx1"/>
                </a:solidFill>
                <a:latin typeface="Calibri"/>
                <a:ea typeface="+mn-ea"/>
                <a:cs typeface="Calibri"/>
              </a:defRPr>
            </a:lvl2pPr>
            <a:lvl3pPr marL="1143000" indent="-228600" algn="l" defTabSz="457200" rtl="0" eaLnBrk="1" latinLnBrk="0" hangingPunct="1">
              <a:spcBef>
                <a:spcPts val="0"/>
              </a:spcBef>
              <a:spcAft>
                <a:spcPts val="2400"/>
              </a:spcAft>
              <a:buFont typeface="Arial"/>
              <a:buChar char="•"/>
              <a:defRPr sz="2000" b="0" i="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000" b="0" i="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b="0" i="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600"/>
              </a:spcAft>
              <a:buClrTx/>
              <a:buSzTx/>
              <a:buFont typeface="Arial"/>
              <a:buNone/>
              <a:tabLst/>
              <a:defRPr/>
            </a:pPr>
            <a:r>
              <a:rPr kumimoji="0" lang="en-GB" sz="1200" b="0" i="0" u="none" strike="noStrike" kern="1200" cap="none" spc="0" normalizeH="0" baseline="0" noProof="0" dirty="0">
                <a:ln>
                  <a:noFill/>
                </a:ln>
                <a:solidFill>
                  <a:sysClr val="windowText" lastClr="000000"/>
                </a:solidFill>
                <a:effectLst/>
                <a:uLnTx/>
                <a:uFillTx/>
                <a:latin typeface="Calibri"/>
                <a:ea typeface="+mn-ea"/>
                <a:cs typeface="Calibri"/>
              </a:rPr>
              <a:t>Examples of key controls to identify and manage individual COIs are outlined below:</a:t>
            </a: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342900" marR="0" lvl="0" indent="-342900" algn="l" defTabSz="457200" rtl="0" eaLnBrk="1" fontAlgn="auto" latinLnBrk="0" hangingPunct="1">
              <a:lnSpc>
                <a:spcPct val="100000"/>
              </a:lnSpc>
              <a:spcBef>
                <a:spcPts val="0"/>
              </a:spcBef>
              <a:spcAft>
                <a:spcPts val="600"/>
              </a:spcAft>
              <a:buClrTx/>
              <a:buSzTx/>
              <a:buFont typeface="Arial"/>
              <a:buChar char="•"/>
              <a:tabLst/>
              <a:defRPr/>
            </a:pPr>
            <a:endParaRPr kumimoji="0" lang="en-GB"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342900" marR="0" lvl="0" indent="-342900" algn="l" defTabSz="457200" rtl="0" eaLnBrk="1" fontAlgn="auto" latinLnBrk="0" hangingPunct="1">
              <a:lnSpc>
                <a:spcPct val="100000"/>
              </a:lnSpc>
              <a:spcBef>
                <a:spcPts val="0"/>
              </a:spcBef>
              <a:spcAft>
                <a:spcPts val="1200"/>
              </a:spcAft>
              <a:buClrTx/>
              <a:buSzTx/>
              <a:buFont typeface="Arial"/>
              <a:buChar char="•"/>
              <a:tabLst/>
              <a:defRPr/>
            </a:pP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a:p>
            <a:pPr marL="0" marR="0" lvl="0" indent="0" algn="l" defTabSz="457200" rtl="0" eaLnBrk="1" fontAlgn="auto" latinLnBrk="0" hangingPunct="1">
              <a:lnSpc>
                <a:spcPct val="100000"/>
              </a:lnSpc>
              <a:spcBef>
                <a:spcPts val="0"/>
              </a:spcBef>
              <a:spcAft>
                <a:spcPts val="1200"/>
              </a:spcAft>
              <a:buClrTx/>
              <a:buSzTx/>
              <a:buFont typeface="Arial"/>
              <a:buNone/>
              <a:tabLst/>
              <a:defRPr/>
            </a:pPr>
            <a:endParaRPr kumimoji="0" lang="en-US" sz="1200" b="0" i="0" u="none" strike="noStrike" kern="1200" cap="none" spc="0" normalizeH="0" baseline="0" noProof="0" dirty="0">
              <a:ln>
                <a:noFill/>
              </a:ln>
              <a:solidFill>
                <a:sysClr val="windowText" lastClr="000000"/>
              </a:solidFill>
              <a:effectLst/>
              <a:uLnTx/>
              <a:uFillTx/>
              <a:latin typeface="Calibri"/>
              <a:ea typeface="+mn-ea"/>
              <a:cs typeface="Calibri"/>
            </a:endParaRPr>
          </a:p>
        </p:txBody>
      </p:sp>
      <p:graphicFrame>
        <p:nvGraphicFramePr>
          <p:cNvPr id="18" name="Diagram 17">
            <a:extLst>
              <a:ext uri="{FF2B5EF4-FFF2-40B4-BE49-F238E27FC236}">
                <a16:creationId xmlns:a16="http://schemas.microsoft.com/office/drawing/2014/main" id="{21F58826-C026-4BAA-8DA9-AA37A2984745}"/>
              </a:ext>
            </a:extLst>
          </p:cNvPr>
          <p:cNvGraphicFramePr/>
          <p:nvPr>
            <p:extLst>
              <p:ext uri="{D42A27DB-BD31-4B8C-83A1-F6EECF244321}">
                <p14:modId xmlns:p14="http://schemas.microsoft.com/office/powerpoint/2010/main" val="753543885"/>
              </p:ext>
            </p:extLst>
          </p:nvPr>
        </p:nvGraphicFramePr>
        <p:xfrm>
          <a:off x="435050" y="1284429"/>
          <a:ext cx="8127098" cy="3522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792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109-EC72-4E92-9FEB-2DCE5C2D3E18}"/>
              </a:ext>
            </a:extLst>
          </p:cNvPr>
          <p:cNvSpPr>
            <a:spLocks noGrp="1"/>
          </p:cNvSpPr>
          <p:nvPr>
            <p:ph type="title"/>
          </p:nvPr>
        </p:nvSpPr>
        <p:spPr/>
        <p:txBody>
          <a:bodyPr/>
          <a:lstStyle/>
          <a:p>
            <a:r>
              <a:rPr lang="en-US" sz="1400" dirty="0"/>
              <a:t>Summary of Key COI Requirements relating to Employees / Contractors</a:t>
            </a:r>
          </a:p>
        </p:txBody>
      </p:sp>
      <p:sp>
        <p:nvSpPr>
          <p:cNvPr id="3" name="Text Placeholder 2">
            <a:extLst>
              <a:ext uri="{FF2B5EF4-FFF2-40B4-BE49-F238E27FC236}">
                <a16:creationId xmlns:a16="http://schemas.microsoft.com/office/drawing/2014/main" id="{05283F12-5096-4B6C-8683-CF2F067E9ED1}"/>
              </a:ext>
            </a:extLst>
          </p:cNvPr>
          <p:cNvSpPr>
            <a:spLocks noGrp="1"/>
          </p:cNvSpPr>
          <p:nvPr>
            <p:ph type="body" sz="quarter" idx="3"/>
          </p:nvPr>
        </p:nvSpPr>
        <p:spPr/>
        <p:txBody>
          <a:bodyPr/>
          <a:lstStyle/>
          <a:p>
            <a:r>
              <a:rPr lang="en-HK" dirty="0"/>
              <a:t>Conflicts of Interest Induction Training</a:t>
            </a:r>
          </a:p>
        </p:txBody>
      </p:sp>
      <p:sp>
        <p:nvSpPr>
          <p:cNvPr id="6" name="Rectangle 5">
            <a:extLst>
              <a:ext uri="{FF2B5EF4-FFF2-40B4-BE49-F238E27FC236}">
                <a16:creationId xmlns:a16="http://schemas.microsoft.com/office/drawing/2014/main" id="{48752118-B056-4691-917F-24F60851D67C}"/>
              </a:ext>
            </a:extLst>
          </p:cNvPr>
          <p:cNvSpPr/>
          <p:nvPr/>
        </p:nvSpPr>
        <p:spPr>
          <a:xfrm>
            <a:off x="179512" y="1171929"/>
            <a:ext cx="8784976" cy="3304537"/>
          </a:xfrm>
          <a:prstGeom prst="rect">
            <a:avLst/>
          </a:prstGeom>
          <a:solidFill>
            <a:sysClr val="window" lastClr="FFFFFF">
              <a:lumMod val="95000"/>
            </a:sysClr>
          </a:solidFill>
          <a:ln w="9525" cap="flat" cmpd="sng" algn="ctr">
            <a:noFill/>
            <a:prstDash val="solid"/>
          </a:ln>
          <a:effectLst>
            <a:outerShdw blurRad="40000" dist="23000" dir="5400000" rotWithShape="0">
              <a:srgbClr val="000000">
                <a:alpha val="35000"/>
              </a:srgbClr>
            </a:outerShdw>
          </a:effectLst>
        </p:spPr>
        <p:txBody>
          <a:bodyPr rtlCol="0" anchor="ct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The Board and executive management of the Group and all BUs / LBUs are subject to the Group COI Policy and:</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Are responsible for implementing an appropriate COI </a:t>
            </a:r>
            <a:r>
              <a:rPr kumimoji="0" lang="en-US" sz="1200" b="0" i="0" u="none" strike="noStrike" kern="0" cap="none" spc="0" normalizeH="0" baseline="0" noProof="0" dirty="0" err="1">
                <a:ln>
                  <a:noFill/>
                </a:ln>
                <a:solidFill>
                  <a:prstClr val="black"/>
                </a:solidFill>
                <a:effectLst/>
                <a:uLnTx/>
                <a:uFillTx/>
                <a:latin typeface="Calibri"/>
                <a:ea typeface="+mn-ea"/>
                <a:cs typeface="+mn-cs"/>
              </a:rPr>
              <a:t>programme</a:t>
            </a:r>
            <a:r>
              <a:rPr kumimoji="0" lang="en-US" sz="1200" b="0" i="0" u="none" strike="noStrike" kern="0" cap="none" spc="0" normalizeH="0" baseline="0" noProof="0" dirty="0">
                <a:ln>
                  <a:noFill/>
                </a:ln>
                <a:solidFill>
                  <a:prstClr val="black"/>
                </a:solidFill>
                <a:effectLst/>
                <a:uLnTx/>
                <a:uFillTx/>
                <a:latin typeface="Calibri"/>
                <a:ea typeface="+mn-ea"/>
                <a:cs typeface="+mn-cs"/>
              </a:rPr>
              <a:t> in line with the requirements of the Policy and in compliance with applicable laws and regulations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All employees are:</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responsible for identifying and managing COI. The existence of a COI should not adversely influence </a:t>
            </a:r>
            <a:r>
              <a:rPr lang="en-US" sz="1200" kern="0" dirty="0">
                <a:solidFill>
                  <a:prstClr val="black"/>
                </a:solidFill>
                <a:latin typeface="Calibri"/>
              </a:rPr>
              <a:t>an employee’s</a:t>
            </a:r>
            <a:r>
              <a:rPr kumimoji="0" lang="en-US" sz="1200" b="0" i="0" u="none" strike="noStrike" kern="0" cap="none" spc="0" normalizeH="0" baseline="0" noProof="0" dirty="0">
                <a:ln>
                  <a:noFill/>
                </a:ln>
                <a:solidFill>
                  <a:prstClr val="black"/>
                </a:solidFill>
                <a:effectLst/>
                <a:uLnTx/>
                <a:uFillTx/>
                <a:latin typeface="Calibri"/>
                <a:ea typeface="+mn-ea"/>
                <a:cs typeface="+mn-cs"/>
              </a:rPr>
              <a:t> judgement and objectivity in the performance of their roles and responsibilities. Even the perception that personal interests influence business judgement could be detrimental to Prudential or to its key stakeholders such as customers, shareholders, investors and employees.</a:t>
            </a:r>
          </a:p>
          <a:p>
            <a:pPr marL="0" marR="0" lvl="1"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Calibri"/>
              <a:ea typeface="+mn-ea"/>
              <a:cs typeface="+mn-cs"/>
            </a:endParaRP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Employees and contractors:</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Need to identify and where possible avoid situations that could result in COI, unless the conflict is disclosed and managed under the BU’s / LBU’s COI framework. </a:t>
            </a:r>
          </a:p>
          <a:p>
            <a:pPr marL="857250" marR="0" lvl="1" indent="-400050" defTabSz="914400" eaLnBrk="1" fontAlgn="auto" latinLnBrk="0" hangingPunct="1">
              <a:lnSpc>
                <a:spcPct val="100000"/>
              </a:lnSpc>
              <a:spcBef>
                <a:spcPts val="0"/>
              </a:spcBef>
              <a:spcAft>
                <a:spcPts val="0"/>
              </a:spcAft>
              <a:buClrTx/>
              <a:buSzTx/>
              <a:buFont typeface="+mj-lt"/>
              <a:buAutoNum type="romanLcPeriod"/>
              <a:tabLst/>
              <a:defRPr/>
            </a:pPr>
            <a:r>
              <a:rPr kumimoji="0" lang="en-US" sz="1200" b="0" i="0" u="none" strike="noStrike" kern="0" cap="none" spc="0" normalizeH="0" baseline="0" noProof="0" dirty="0">
                <a:ln>
                  <a:noFill/>
                </a:ln>
                <a:solidFill>
                  <a:prstClr val="black"/>
                </a:solidFill>
                <a:effectLst/>
                <a:uLnTx/>
                <a:uFillTx/>
                <a:latin typeface="Calibri"/>
                <a:ea typeface="+mn-ea"/>
                <a:cs typeface="+mn-cs"/>
              </a:rPr>
              <a:t>Need to notify their line manager or HR or any other designated person as specified in BU / LBU procedures, whenever they identify a conflict so that steps can be taken to manage the situation. </a:t>
            </a:r>
          </a:p>
          <a:p>
            <a:pPr marL="0" marR="0" lvl="1"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95100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9332A1-4B29-470B-9F7A-7680135D3F83}"/>
              </a:ext>
            </a:extLst>
          </p:cNvPr>
          <p:cNvSpPr>
            <a:spLocks noGrp="1"/>
          </p:cNvSpPr>
          <p:nvPr>
            <p:ph type="body" idx="1"/>
          </p:nvPr>
        </p:nvSpPr>
        <p:spPr/>
        <p:txBody>
          <a:bodyPr/>
          <a:lstStyle/>
          <a:p>
            <a:r>
              <a:rPr lang="en-HK" dirty="0"/>
              <a:t>Appendix 1</a:t>
            </a:r>
          </a:p>
        </p:txBody>
      </p:sp>
      <p:sp>
        <p:nvSpPr>
          <p:cNvPr id="3" name="Title 2">
            <a:extLst>
              <a:ext uri="{FF2B5EF4-FFF2-40B4-BE49-F238E27FC236}">
                <a16:creationId xmlns:a16="http://schemas.microsoft.com/office/drawing/2014/main" id="{02A70944-31E4-45FB-B48C-E5B9158F16E1}"/>
              </a:ext>
            </a:extLst>
          </p:cNvPr>
          <p:cNvSpPr>
            <a:spLocks noGrp="1"/>
          </p:cNvSpPr>
          <p:nvPr>
            <p:ph type="title"/>
          </p:nvPr>
        </p:nvSpPr>
        <p:spPr/>
        <p:txBody>
          <a:bodyPr/>
          <a:lstStyle/>
          <a:p>
            <a:r>
              <a:rPr lang="en-HK" dirty="0"/>
              <a:t>Group Conflicts of Interest Policy and Group Compliance Standards (GCS)-30</a:t>
            </a:r>
          </a:p>
        </p:txBody>
      </p:sp>
    </p:spTree>
    <p:extLst>
      <p:ext uri="{BB962C8B-B14F-4D97-AF65-F5344CB8AC3E}">
        <p14:creationId xmlns:p14="http://schemas.microsoft.com/office/powerpoint/2010/main" val="2046541319"/>
      </p:ext>
    </p:extLst>
  </p:cSld>
  <p:clrMapOvr>
    <a:masterClrMapping/>
  </p:clrMapOvr>
</p:sld>
</file>

<file path=ppt/theme/theme1.xml><?xml version="1.0" encoding="utf-8"?>
<a:theme xmlns:a="http://schemas.openxmlformats.org/drawingml/2006/main" name="Prudential_20181212">
  <a:themeElements>
    <a:clrScheme name="Prudential_Colour_v8">
      <a:dk1>
        <a:srgbClr val="687379"/>
      </a:dk1>
      <a:lt1>
        <a:srgbClr val="FFFFFF"/>
      </a:lt1>
      <a:dk2>
        <a:srgbClr val="ED1B2E"/>
      </a:dk2>
      <a:lt2>
        <a:srgbClr val="D0D0CE"/>
      </a:lt2>
      <a:accent1>
        <a:srgbClr val="ED1B2E"/>
      </a:accent1>
      <a:accent2>
        <a:srgbClr val="F1AD79"/>
      </a:accent2>
      <a:accent3>
        <a:srgbClr val="F37682"/>
      </a:accent3>
      <a:accent4>
        <a:srgbClr val="F2C737"/>
      </a:accent4>
      <a:accent5>
        <a:srgbClr val="5CB8B2"/>
      </a:accent5>
      <a:accent6>
        <a:srgbClr val="1B365D"/>
      </a:accent6>
      <a:hlink>
        <a:srgbClr val="ED1B2E"/>
      </a:hlink>
      <a:folHlink>
        <a:srgbClr val="000000"/>
      </a:folHlink>
    </a:clrScheme>
    <a:fontScheme name="Office">
      <a:majorFont>
        <a:latin typeface="Verdana"/>
        <a:ea typeface=""/>
        <a:cs typeface=""/>
        <a:font script="Jpan" typeface="ＭＳ Ｐゴシック"/>
        <a:font script="Hang" typeface="맑은 고딕"/>
        <a:font script="Hans" typeface="微软雅黑体"/>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Verdana"/>
        <a:ea typeface=""/>
        <a:cs typeface=""/>
        <a:font script="Jpan" typeface="ＭＳ Ｐゴシック"/>
        <a:font script="Hang" typeface="맑은 고딕"/>
        <a:font script="Hans" typeface="微软雅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a:noFill/>
        </a:ln>
        <a:effectLst/>
      </a:spPr>
      <a:bodyPr rtlCol="0" anchor="ctr"/>
      <a:lstStyle>
        <a:defPPr algn="ctr">
          <a:defRPr sz="12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w="12700" cap="flat" cmpd="sng" algn="ctr">
          <a:solidFill>
            <a:schemeClr val="tx1"/>
          </a:solidFill>
          <a:prstDash val="solid"/>
          <a:round/>
          <a:headEnd type="none" w="lg" len="med"/>
          <a:tailEnd type="none" w="lg" len="med"/>
        </a:ln>
        <a:effectLst/>
      </a:spPr>
      <a:bodyPr/>
      <a:lstStyle/>
    </a:lnDef>
    <a:txDef>
      <a:spPr>
        <a:noFill/>
      </a:spPr>
      <a:bodyPr wrap="none" lIns="0" tIns="0" rIns="0" bIns="0" rtlCol="0">
        <a:spAutoFit/>
      </a:bodyPr>
      <a:lstStyle>
        <a:defPPr algn="l">
          <a:defRPr sz="1200" dirty="0" err="1" smtClean="0"/>
        </a:defPPr>
      </a:lstStyle>
    </a:txDef>
  </a:objectDefaults>
  <a:extraClrSchemeLst/>
  <a:custClrLst>
    <a:custClr name="Grey 1">
      <a:srgbClr val="4E565C"/>
    </a:custClr>
    <a:custClr name="Grey 2">
      <a:srgbClr val="68737A"/>
    </a:custClr>
    <a:custClr name="Grey 3">
      <a:srgbClr val="A3ABB1"/>
    </a:custClr>
    <a:custClr name="Grey 4">
      <a:srgbClr val="C2C7CB"/>
    </a:custClr>
    <a:custClr name="Orange">
      <a:srgbClr val="EDA50A"/>
    </a:custClr>
    <a:custClr name="Light Orange">
      <a:srgbClr val="F2C737"/>
    </a:custClr>
    <a:custClr name="Deep Orange">
      <a:srgbClr val="E87722"/>
    </a:custClr>
    <a:custClr name="Peach">
      <a:srgbClr val="F1AD7A"/>
    </a:custClr>
    <a:custClr name="Pink">
      <a:srgbClr val="F47682"/>
    </a:custClr>
    <a:custClr name="Prudential Red">
      <a:srgbClr val="ED1B2E"/>
    </a:custClr>
  </a:custClrLst>
  <a:extLst>
    <a:ext uri="{05A4C25C-085E-4340-85A3-A5531E510DB2}">
      <thm15:themeFamily xmlns:thm15="http://schemas.microsoft.com/office/thememl/2012/main" name="Prudential_PowerPoint_16-9_StyleGuideline_v8" id="{7221E06A-AC7B-164E-A006-FA8B515A9F37}" vid="{EA71B9E1-DF4E-914A-9E39-F222B51D9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d121db1-3721-4230-84e8-3331eb029bec}" enabled="1" method="Privileged" siteId="{7007305e-2664-4e6b-b9a4-c4d5ccfd1524}" removed="0"/>
</clbl:labelList>
</file>

<file path=docProps/app.xml><?xml version="1.0" encoding="utf-8"?>
<Properties xmlns="http://schemas.openxmlformats.org/officeDocument/2006/extended-properties" xmlns:vt="http://schemas.openxmlformats.org/officeDocument/2006/docPropsVTypes">
  <Template>Prudential_PowerPoint_16-9_Template_v8</Template>
  <TotalTime>2960</TotalTime>
  <Words>3189</Words>
  <Application>Microsoft Office PowerPoint</Application>
  <PresentationFormat>On-screen Show (16:9)</PresentationFormat>
  <Paragraphs>164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System Font Regular</vt:lpstr>
      <vt:lpstr>Arial</vt:lpstr>
      <vt:lpstr>Calibri</vt:lpstr>
      <vt:lpstr>Courier New</vt:lpstr>
      <vt:lpstr>Verdana</vt:lpstr>
      <vt:lpstr>Wingdings</vt:lpstr>
      <vt:lpstr>Prudential_20181212</vt:lpstr>
      <vt:lpstr>Conflicts of Interest Induction Training</vt:lpstr>
      <vt:lpstr>PowerPoint Presentation</vt:lpstr>
      <vt:lpstr>Why managing COIs is important</vt:lpstr>
      <vt:lpstr>COI Categories</vt:lpstr>
      <vt:lpstr>COI Categories – Personal and Situational</vt:lpstr>
      <vt:lpstr>COI Categories - Structural</vt:lpstr>
      <vt:lpstr>COI Impacting Individual Employees</vt:lpstr>
      <vt:lpstr>COI Impacting Individual Employees</vt:lpstr>
      <vt:lpstr>Your Role &amp; Responsibilities</vt:lpstr>
      <vt:lpstr>COIs that may arise during vendor selection</vt:lpstr>
      <vt:lpstr>Summary of Key Declaration Requirements</vt:lpstr>
      <vt:lpstr>Summary of Key Declaration Requirements</vt:lpstr>
      <vt:lpstr>Key COI Controls</vt:lpstr>
      <vt:lpstr>Key COI Controls</vt:lpstr>
      <vt:lpstr>Summary of Key COI Requirements relating to Employees / Contractors</vt:lpstr>
      <vt:lpstr>Group Conflicts of Interest Policy and Group Compliance Standards (GCS)-30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Mabel</dc:creator>
  <cp:lastModifiedBy>Calvin To</cp:lastModifiedBy>
  <cp:revision>77</cp:revision>
  <cp:lastPrinted>2022-11-11T09:03:53Z</cp:lastPrinted>
  <dcterms:created xsi:type="dcterms:W3CDTF">2022-04-06T10:18:20Z</dcterms:created>
  <dcterms:modified xsi:type="dcterms:W3CDTF">2024-04-03T06:50:44Z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MSOLanguageID">
    <vt:lpwstr>msoLanguageIDEnglishUK</vt:lpwstr>
  </property>
  <property fmtid="{D5CDD505-2E9C-101B-9397-08002B2CF9AE}" pid="3" name="MSIP_Label_ed121db1-3721-4230-84e8-3331eb029bec_Enabled">
    <vt:lpwstr>True</vt:lpwstr>
  </property>
  <property fmtid="{D5CDD505-2E9C-101B-9397-08002B2CF9AE}" pid="4" name="MSIP_Label_ed121db1-3721-4230-84e8-3331eb029bec_SiteId">
    <vt:lpwstr>7007305e-2664-4e6b-b9a4-c4d5ccfd1524</vt:lpwstr>
  </property>
  <property fmtid="{D5CDD505-2E9C-101B-9397-08002B2CF9AE}" pid="5" name="MSIP_Label_ed121db1-3721-4230-84e8-3331eb029bec_Owner">
    <vt:lpwstr>mabel.mp.leung@prudential.com.hk</vt:lpwstr>
  </property>
  <property fmtid="{D5CDD505-2E9C-101B-9397-08002B2CF9AE}" pid="6" name="MSIP_Label_ed121db1-3721-4230-84e8-3331eb029bec_SetDate">
    <vt:lpwstr>2022-04-06T10:18:33.5689038Z</vt:lpwstr>
  </property>
  <property fmtid="{D5CDD505-2E9C-101B-9397-08002B2CF9AE}" pid="7" name="MSIP_Label_ed121db1-3721-4230-84e8-3331eb029bec_Name">
    <vt:lpwstr>Restricted</vt:lpwstr>
  </property>
  <property fmtid="{D5CDD505-2E9C-101B-9397-08002B2CF9AE}" pid="8" name="MSIP_Label_ed121db1-3721-4230-84e8-3331eb029bec_Application">
    <vt:lpwstr>Microsoft Azure Information Protection</vt:lpwstr>
  </property>
  <property fmtid="{D5CDD505-2E9C-101B-9397-08002B2CF9AE}" pid="9" name="MSIP_Label_ed121db1-3721-4230-84e8-3331eb029bec_ActionId">
    <vt:lpwstr>5a41c691-e14d-4f70-b677-1e0b894cdc77</vt:lpwstr>
  </property>
  <property fmtid="{D5CDD505-2E9C-101B-9397-08002B2CF9AE}" pid="10" name="MSIP_Label_ed121db1-3721-4230-84e8-3331eb029bec_Extended_MSFT_Method">
    <vt:lpwstr>Automatic</vt:lpwstr>
  </property>
  <property fmtid="{D5CDD505-2E9C-101B-9397-08002B2CF9AE}" pid="11" name="Sensitivity">
    <vt:lpwstr>Restricted</vt:lpwstr>
  </property>
</Properties>
</file>